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3" r:id="rId3"/>
    <p:sldId id="266" r:id="rId4"/>
    <p:sldId id="257" r:id="rId5"/>
    <p:sldId id="267" r:id="rId6"/>
    <p:sldId id="264" r:id="rId7"/>
    <p:sldId id="269" r:id="rId8"/>
    <p:sldId id="270" r:id="rId9"/>
    <p:sldId id="271" r:id="rId10"/>
    <p:sldId id="272" r:id="rId11"/>
    <p:sldId id="273" r:id="rId12"/>
    <p:sldId id="274" r:id="rId13"/>
    <p:sldId id="268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98C9F8-8C6F-4312-A465-BF1241229372}">
          <p14:sldIdLst>
            <p14:sldId id="256"/>
            <p14:sldId id="263"/>
            <p14:sldId id="266"/>
            <p14:sldId id="257"/>
            <p14:sldId id="267"/>
            <p14:sldId id="264"/>
            <p14:sldId id="269"/>
            <p14:sldId id="270"/>
            <p14:sldId id="271"/>
            <p14:sldId id="272"/>
            <p14:sldId id="273"/>
            <p14:sldId id="274"/>
            <p14:sldId id="268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523" autoAdjust="0"/>
  </p:normalViewPr>
  <p:slideViewPr>
    <p:cSldViewPr snapToGrid="0">
      <p:cViewPr varScale="1">
        <p:scale>
          <a:sx n="76" d="100"/>
          <a:sy n="76" d="100"/>
        </p:scale>
        <p:origin x="19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4C9DB-9802-4472-815F-3853F3F848A4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FF47D-6730-4F81-B57D-96D424E0B88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750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noProof="0" dirty="0"/>
              <a:t>¡Hola y bienvenidos a Programación Segura! Soy la Ing. Roxana Quiroga Sollinger. En esta introducción repasaremos los objetivos principales de la asignatura, sus contenidos y el cronograma del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726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comenzar, revisaremos la materia en tres bloques: [pausa]Primero, una introducción al curso y a sus objetivos principales. [pausa]Segundo, el temario con el detalle de cada contenido. [pausa]Y por último, el calendario del cuatrimestre —de agosto a diciembre—, donde verán el avance semana a semana y los períodos previstos para las evaluaciones. [pausa]Aclaración importante: señalar la semana de un parcial o final no significa que el examen vaya a estar abierto los siete días, sino que se rendirá en un día específico dentro de esa fecha.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32471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Introducción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27442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Hoy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adentraremos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GB" dirty="0" err="1"/>
              <a:t>objetivos</a:t>
            </a:r>
            <a:r>
              <a:rPr lang="en-GB" dirty="0"/>
              <a:t> de la </a:t>
            </a:r>
            <a:r>
              <a:rPr lang="en-GB" dirty="0" err="1"/>
              <a:t>cátedra</a:t>
            </a:r>
            <a:r>
              <a:rPr lang="en-FI" dirty="0"/>
              <a:t> de la </a:t>
            </a:r>
            <a:r>
              <a:rPr lang="en-FI" b="1" dirty="0" err="1"/>
              <a:t>Programación</a:t>
            </a:r>
            <a:r>
              <a:rPr lang="en-FI" b="1" dirty="0"/>
              <a:t> Segura</a:t>
            </a:r>
            <a:r>
              <a:rPr lang="en-FI" dirty="0"/>
              <a:t>, un pilar </a:t>
            </a:r>
            <a:r>
              <a:rPr lang="en-FI" dirty="0" err="1"/>
              <a:t>crítico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desarrollo</a:t>
            </a:r>
            <a:r>
              <a:rPr lang="en-FI" dirty="0"/>
              <a:t> de software </a:t>
            </a:r>
            <a:r>
              <a:rPr lang="en-FI" dirty="0" err="1"/>
              <a:t>moderno</a:t>
            </a:r>
            <a:r>
              <a:rPr lang="en-FI" dirty="0"/>
              <a:t>.</a:t>
            </a:r>
          </a:p>
          <a:p>
            <a:r>
              <a:rPr lang="en-FI" dirty="0"/>
              <a:t>A lo largo de </a:t>
            </a:r>
            <a:r>
              <a:rPr lang="en-FI" dirty="0" err="1"/>
              <a:t>esta</a:t>
            </a:r>
            <a:r>
              <a:rPr lang="en-FI" dirty="0"/>
              <a:t> session</a:t>
            </a:r>
            <a:r>
              <a:rPr lang="en-GB" dirty="0"/>
              <a:t> </a:t>
            </a:r>
            <a:r>
              <a:rPr lang="en-GB" dirty="0" err="1"/>
              <a:t>introductoria</a:t>
            </a:r>
            <a:r>
              <a:rPr lang="en-FI" dirty="0"/>
              <a:t> </a:t>
            </a:r>
            <a:r>
              <a:rPr lang="en-FI" dirty="0" err="1"/>
              <a:t>abordaremos</a:t>
            </a:r>
            <a:r>
              <a:rPr lang="en-FI" dirty="0"/>
              <a:t>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ejes</a:t>
            </a:r>
            <a:r>
              <a:rPr lang="en-FI" dirty="0"/>
              <a:t> </a:t>
            </a:r>
            <a:r>
              <a:rPr lang="en-FI" dirty="0" err="1"/>
              <a:t>principales</a:t>
            </a:r>
            <a:r>
              <a:rPr lang="en-FI" dirty="0"/>
              <a:t>: </a:t>
            </a:r>
            <a:r>
              <a:rPr lang="en-FI" dirty="0" err="1"/>
              <a:t>en</a:t>
            </a:r>
            <a:r>
              <a:rPr lang="en-FI" dirty="0"/>
              <a:t> primer </a:t>
            </a:r>
            <a:r>
              <a:rPr lang="en-FI" dirty="0" err="1"/>
              <a:t>lugar</a:t>
            </a:r>
            <a:r>
              <a:rPr lang="en-FI" dirty="0"/>
              <a:t>,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integrar</a:t>
            </a:r>
            <a:r>
              <a:rPr lang="en-FI" dirty="0"/>
              <a:t> la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b="1" dirty="0"/>
              <a:t>Ciclo de Vida del Software</a:t>
            </a:r>
            <a:r>
              <a:rPr lang="en-FI" dirty="0"/>
              <a:t>;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segundo</a:t>
            </a:r>
            <a:r>
              <a:rPr lang="en-FI" dirty="0"/>
              <a:t> </a:t>
            </a:r>
            <a:r>
              <a:rPr lang="en-FI" dirty="0" err="1"/>
              <a:t>lugar</a:t>
            </a:r>
            <a:r>
              <a:rPr lang="en-FI" dirty="0"/>
              <a:t>, las </a:t>
            </a:r>
            <a:r>
              <a:rPr lang="en-FI" b="1" dirty="0" err="1"/>
              <a:t>metodologías</a:t>
            </a:r>
            <a:r>
              <a:rPr lang="en-FI" b="1" dirty="0"/>
              <a:t> </a:t>
            </a:r>
            <a:r>
              <a:rPr lang="en-FI" b="1" dirty="0" err="1"/>
              <a:t>existentes</a:t>
            </a:r>
            <a:r>
              <a:rPr lang="en-FI" dirty="0"/>
              <a:t> para </a:t>
            </a:r>
            <a:r>
              <a:rPr lang="en-FI" dirty="0" err="1"/>
              <a:t>analizar</a:t>
            </a:r>
            <a:r>
              <a:rPr lang="en-FI" dirty="0"/>
              <a:t> </a:t>
            </a:r>
            <a:r>
              <a:rPr lang="en-FI" dirty="0" err="1"/>
              <a:t>riesgos</a:t>
            </a:r>
            <a:r>
              <a:rPr lang="en-FI" dirty="0"/>
              <a:t> y </a:t>
            </a:r>
            <a:r>
              <a:rPr lang="en-FI" dirty="0" err="1"/>
              <a:t>modelar</a:t>
            </a:r>
            <a:r>
              <a:rPr lang="en-FI" dirty="0"/>
              <a:t> </a:t>
            </a:r>
            <a:r>
              <a:rPr lang="en-FI" dirty="0" err="1"/>
              <a:t>amenazas</a:t>
            </a:r>
            <a:r>
              <a:rPr lang="en-FI" dirty="0"/>
              <a:t>; y </a:t>
            </a:r>
            <a:r>
              <a:rPr lang="en-FI" dirty="0" err="1"/>
              <a:t>finalmente</a:t>
            </a:r>
            <a:r>
              <a:rPr lang="en-FI" dirty="0"/>
              <a:t>, las </a:t>
            </a:r>
            <a:r>
              <a:rPr lang="en-FI" b="1" dirty="0" err="1"/>
              <a:t>técnicas</a:t>
            </a:r>
            <a:r>
              <a:rPr lang="en-FI" b="1" dirty="0"/>
              <a:t> de </a:t>
            </a:r>
            <a:r>
              <a:rPr lang="en-FI" b="1" dirty="0" err="1"/>
              <a:t>mitigación</a:t>
            </a:r>
            <a:r>
              <a:rPr lang="en-FI" dirty="0"/>
              <a:t> </a:t>
            </a:r>
            <a:r>
              <a:rPr lang="en-FI" dirty="0" err="1"/>
              <a:t>esenciales</a:t>
            </a:r>
            <a:r>
              <a:rPr lang="en-FI" dirty="0"/>
              <a:t> para </a:t>
            </a:r>
            <a:r>
              <a:rPr lang="en-FI" dirty="0" err="1"/>
              <a:t>prevenir</a:t>
            </a:r>
            <a:r>
              <a:rPr lang="en-FI" dirty="0"/>
              <a:t> y </a:t>
            </a:r>
            <a:r>
              <a:rPr lang="en-FI" dirty="0" err="1"/>
              <a:t>corregir</a:t>
            </a:r>
            <a:r>
              <a:rPr lang="en-FI" dirty="0"/>
              <a:t> </a:t>
            </a:r>
            <a:r>
              <a:rPr lang="en-FI" dirty="0" err="1"/>
              <a:t>vulnerabilidades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 err="1"/>
              <a:t>Comencemos</a:t>
            </a:r>
            <a:r>
              <a:rPr lang="en-FI" dirty="0"/>
              <a:t> con el primer punto: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b="1" dirty="0" err="1"/>
              <a:t>Lineamientos</a:t>
            </a:r>
            <a:r>
              <a:rPr lang="en-FI" b="1" dirty="0"/>
              <a:t> para el Ciclo de Vida de Desarrollo del Software</a:t>
            </a:r>
            <a:r>
              <a:rPr lang="en-FI" dirty="0"/>
              <a:t> (o SSDLC </a:t>
            </a:r>
            <a:r>
              <a:rPr lang="en-FI" dirty="0" err="1"/>
              <a:t>por</a:t>
            </a:r>
            <a:r>
              <a:rPr lang="en-FI" dirty="0"/>
              <a:t> sus </a:t>
            </a:r>
            <a:r>
              <a:rPr lang="en-FI" dirty="0" err="1"/>
              <a:t>siglas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inglés</a:t>
            </a:r>
            <a:r>
              <a:rPr lang="en-FI" dirty="0"/>
              <a:t>).</a:t>
            </a:r>
          </a:p>
          <a:p>
            <a:r>
              <a:rPr lang="en-FI" dirty="0" err="1"/>
              <a:t>Históricamente</a:t>
            </a:r>
            <a:r>
              <a:rPr lang="en-FI" dirty="0"/>
              <a:t>, la </a:t>
            </a:r>
            <a:r>
              <a:rPr lang="en-FI" dirty="0" err="1"/>
              <a:t>seguridad</a:t>
            </a:r>
            <a:r>
              <a:rPr lang="en-FI" dirty="0"/>
              <a:t> se </a:t>
            </a:r>
            <a:r>
              <a:rPr lang="en-FI" dirty="0" err="1"/>
              <a:t>trataba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auditoría</a:t>
            </a:r>
            <a:r>
              <a:rPr lang="en-FI" dirty="0"/>
              <a:t> final, </a:t>
            </a:r>
            <a:r>
              <a:rPr lang="en-FI" dirty="0" err="1"/>
              <a:t>justo</a:t>
            </a:r>
            <a:r>
              <a:rPr lang="en-FI" dirty="0"/>
              <a:t> antes de </a:t>
            </a:r>
            <a:r>
              <a:rPr lang="en-FI" dirty="0" err="1"/>
              <a:t>lanzar</a:t>
            </a:r>
            <a:r>
              <a:rPr lang="en-FI" dirty="0"/>
              <a:t> un </a:t>
            </a:r>
            <a:r>
              <a:rPr lang="en-FI" dirty="0" err="1"/>
              <a:t>producto</a:t>
            </a:r>
            <a:r>
              <a:rPr lang="en-FI" dirty="0"/>
              <a:t> a </a:t>
            </a:r>
            <a:r>
              <a:rPr lang="en-FI" dirty="0" err="1"/>
              <a:t>producción</a:t>
            </a:r>
            <a:r>
              <a:rPr lang="en-FI" dirty="0"/>
              <a:t>. Hoy </a:t>
            </a:r>
            <a:r>
              <a:rPr lang="en-FI" dirty="0" err="1"/>
              <a:t>sabemos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ese </a:t>
            </a:r>
            <a:r>
              <a:rPr lang="en-FI" dirty="0" err="1"/>
              <a:t>enfoque</a:t>
            </a:r>
            <a:r>
              <a:rPr lang="en-FI" dirty="0"/>
              <a:t> es </a:t>
            </a:r>
            <a:r>
              <a:rPr lang="en-FI" dirty="0" err="1"/>
              <a:t>ineficiente</a:t>
            </a:r>
            <a:r>
              <a:rPr lang="en-FI" dirty="0"/>
              <a:t> y </a:t>
            </a:r>
            <a:r>
              <a:rPr lang="en-FI" dirty="0" err="1"/>
              <a:t>costoso</a:t>
            </a:r>
            <a:r>
              <a:rPr lang="en-FI" dirty="0"/>
              <a:t>. Nuestro </a:t>
            </a:r>
            <a:r>
              <a:rPr lang="en-FI" dirty="0" err="1"/>
              <a:t>objetivo</a:t>
            </a:r>
            <a:r>
              <a:rPr lang="en-FI" dirty="0"/>
              <a:t> central </a:t>
            </a:r>
            <a:r>
              <a:rPr lang="en-FI" dirty="0" err="1"/>
              <a:t>aquí</a:t>
            </a:r>
            <a:r>
              <a:rPr lang="en-FI" dirty="0"/>
              <a:t> es </a:t>
            </a:r>
            <a:r>
              <a:rPr lang="en-FI" dirty="0" err="1"/>
              <a:t>aplicar</a:t>
            </a:r>
            <a:r>
              <a:rPr lang="en-FI" dirty="0"/>
              <a:t> el principio de </a:t>
            </a:r>
            <a:r>
              <a:rPr lang="en-FI" b="1" dirty="0"/>
              <a:t>'Shift Left'</a:t>
            </a:r>
            <a:r>
              <a:rPr lang="en-FI" dirty="0"/>
              <a:t> o '</a:t>
            </a:r>
            <a:r>
              <a:rPr lang="en-FI" dirty="0" err="1"/>
              <a:t>Desplazar</a:t>
            </a:r>
            <a:r>
              <a:rPr lang="en-FI" dirty="0"/>
              <a:t> a la </a:t>
            </a:r>
            <a:r>
              <a:rPr lang="en-FI" dirty="0" err="1"/>
              <a:t>izquierda</a:t>
            </a:r>
            <a:r>
              <a:rPr lang="en-FI" dirty="0"/>
              <a:t>': mover las </a:t>
            </a:r>
            <a:r>
              <a:rPr lang="en-FI" dirty="0" err="1"/>
              <a:t>prácticas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hacia</a:t>
            </a:r>
            <a:r>
              <a:rPr lang="en-FI" dirty="0"/>
              <a:t> las </a:t>
            </a:r>
            <a:r>
              <a:rPr lang="en-FI" dirty="0" err="1"/>
              <a:t>etapas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tempranas</a:t>
            </a:r>
            <a:r>
              <a:rPr lang="en-FI" dirty="0"/>
              <a:t> del </a:t>
            </a:r>
            <a:r>
              <a:rPr lang="en-FI" dirty="0" err="1"/>
              <a:t>desarrollo</a:t>
            </a:r>
            <a:r>
              <a:rPr lang="en-FI" dirty="0"/>
              <a:t>, </a:t>
            </a:r>
            <a:r>
              <a:rPr lang="en-FI" dirty="0" err="1"/>
              <a:t>como</a:t>
            </a:r>
            <a:r>
              <a:rPr lang="en-FI" dirty="0"/>
              <a:t> la </a:t>
            </a:r>
            <a:r>
              <a:rPr lang="en-FI" dirty="0" err="1"/>
              <a:t>planificación</a:t>
            </a:r>
            <a:r>
              <a:rPr lang="en-FI" dirty="0"/>
              <a:t> y el </a:t>
            </a:r>
            <a:r>
              <a:rPr lang="en-FI" dirty="0" err="1"/>
              <a:t>diseño</a:t>
            </a:r>
            <a:r>
              <a:rPr lang="en-FI" dirty="0"/>
              <a:t>.</a:t>
            </a:r>
          </a:p>
          <a:p>
            <a:r>
              <a:rPr lang="en-FI" dirty="0" err="1"/>
              <a:t>Además</a:t>
            </a:r>
            <a:r>
              <a:rPr lang="en-FI" dirty="0"/>
              <a:t>, para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esto</a:t>
            </a:r>
            <a:r>
              <a:rPr lang="en-FI" dirty="0"/>
              <a:t> sea </a:t>
            </a:r>
            <a:r>
              <a:rPr lang="en-FI" dirty="0" err="1"/>
              <a:t>sostenible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entornos</a:t>
            </a:r>
            <a:r>
              <a:rPr lang="en-FI" dirty="0"/>
              <a:t> </a:t>
            </a:r>
            <a:r>
              <a:rPr lang="en-FI" dirty="0" err="1"/>
              <a:t>ágiles</a:t>
            </a:r>
            <a:r>
              <a:rPr lang="en-FI" dirty="0"/>
              <a:t> o </a:t>
            </a:r>
            <a:r>
              <a:rPr lang="en-FI" dirty="0" err="1"/>
              <a:t>DevSecOps</a:t>
            </a:r>
            <a:r>
              <a:rPr lang="en-FI" dirty="0"/>
              <a:t>, la </a:t>
            </a:r>
            <a:r>
              <a:rPr lang="en-FI" dirty="0" err="1"/>
              <a:t>seguridad</a:t>
            </a:r>
            <a:r>
              <a:rPr lang="en-FI" dirty="0"/>
              <a:t> no </a:t>
            </a:r>
            <a:r>
              <a:rPr lang="en-FI" dirty="0" err="1"/>
              <a:t>puede</a:t>
            </a:r>
            <a:r>
              <a:rPr lang="en-FI" dirty="0"/>
              <a:t> ser un </a:t>
            </a:r>
            <a:r>
              <a:rPr lang="en-FI" dirty="0" err="1"/>
              <a:t>freno</a:t>
            </a:r>
            <a:r>
              <a:rPr lang="en-FI" dirty="0"/>
              <a:t>; </a:t>
            </a:r>
            <a:r>
              <a:rPr lang="en-FI" dirty="0" err="1"/>
              <a:t>debe</a:t>
            </a:r>
            <a:r>
              <a:rPr lang="en-FI" dirty="0"/>
              <a:t> </a:t>
            </a:r>
            <a:r>
              <a:rPr lang="en-FI" dirty="0" err="1"/>
              <a:t>integrarse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un </a:t>
            </a:r>
            <a:r>
              <a:rPr lang="en-FI" b="1" dirty="0" err="1"/>
              <a:t>proceso</a:t>
            </a:r>
            <a:r>
              <a:rPr lang="en-FI" b="1" dirty="0"/>
              <a:t> continuo y </a:t>
            </a:r>
            <a:r>
              <a:rPr lang="en-FI" b="1" dirty="0" err="1"/>
              <a:t>automatizado</a:t>
            </a:r>
            <a:r>
              <a:rPr lang="en-FI" dirty="0"/>
              <a:t> </a:t>
            </a:r>
            <a:r>
              <a:rPr lang="en-FI" dirty="0" err="1"/>
              <a:t>mediante</a:t>
            </a:r>
            <a:r>
              <a:rPr lang="en-FI" dirty="0"/>
              <a:t> </a:t>
            </a:r>
            <a:r>
              <a:rPr lang="en-FI" dirty="0" err="1"/>
              <a:t>pruebas</a:t>
            </a:r>
            <a:r>
              <a:rPr lang="en-FI" dirty="0"/>
              <a:t> </a:t>
            </a:r>
            <a:r>
              <a:rPr lang="en-FI" dirty="0" err="1"/>
              <a:t>estáticas</a:t>
            </a:r>
            <a:r>
              <a:rPr lang="en-FI" dirty="0"/>
              <a:t> y </a:t>
            </a:r>
            <a:r>
              <a:rPr lang="en-FI" dirty="0" err="1"/>
              <a:t>dinámicas</a:t>
            </a:r>
            <a:r>
              <a:rPr lang="en-FI" dirty="0"/>
              <a:t> </a:t>
            </a:r>
            <a:r>
              <a:rPr lang="en-FI" dirty="0" err="1"/>
              <a:t>dentro</a:t>
            </a:r>
            <a:r>
              <a:rPr lang="en-FI" dirty="0"/>
              <a:t> del </a:t>
            </a:r>
            <a:r>
              <a:rPr lang="en-FI" dirty="0" err="1"/>
              <a:t>flujo</a:t>
            </a:r>
            <a:r>
              <a:rPr lang="en-FI" dirty="0"/>
              <a:t> de </a:t>
            </a:r>
            <a:r>
              <a:rPr lang="en-FI" dirty="0" err="1"/>
              <a:t>integración</a:t>
            </a:r>
            <a:r>
              <a:rPr lang="en-FI" dirty="0"/>
              <a:t> continua.</a:t>
            </a:r>
          </a:p>
          <a:p>
            <a:endParaRPr lang="en-GB" dirty="0"/>
          </a:p>
          <a:p>
            <a:r>
              <a:rPr lang="en-FI" dirty="0" err="1"/>
              <a:t>Pasando</a:t>
            </a:r>
            <a:r>
              <a:rPr lang="en-FI" dirty="0"/>
              <a:t> al </a:t>
            </a:r>
            <a:r>
              <a:rPr lang="en-FI" dirty="0" err="1"/>
              <a:t>segundo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,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encontramos</a:t>
            </a:r>
            <a:r>
              <a:rPr lang="en-FI" dirty="0"/>
              <a:t> con las </a:t>
            </a:r>
            <a:r>
              <a:rPr lang="en-FI" b="1" dirty="0" err="1"/>
              <a:t>Metodologías</a:t>
            </a:r>
            <a:r>
              <a:rPr lang="en-FI" b="1" dirty="0"/>
              <a:t> de </a:t>
            </a:r>
            <a:r>
              <a:rPr lang="en-FI" b="1" dirty="0" err="1"/>
              <a:t>Análisis</a:t>
            </a:r>
            <a:r>
              <a:rPr lang="en-FI" b="1" dirty="0"/>
              <a:t>, </a:t>
            </a:r>
            <a:r>
              <a:rPr lang="en-FI" b="1" dirty="0" err="1"/>
              <a:t>Modelado</a:t>
            </a:r>
            <a:r>
              <a:rPr lang="en-FI" b="1" dirty="0"/>
              <a:t> de </a:t>
            </a:r>
            <a:r>
              <a:rPr lang="en-FI" b="1" dirty="0" err="1"/>
              <a:t>Amenazas</a:t>
            </a:r>
            <a:r>
              <a:rPr lang="en-FI" b="1" dirty="0"/>
              <a:t> y Riesgo</a:t>
            </a:r>
            <a:r>
              <a:rPr lang="en-FI" dirty="0"/>
              <a:t>.</a:t>
            </a:r>
          </a:p>
          <a:p>
            <a:r>
              <a:rPr lang="en-FI" dirty="0"/>
              <a:t>No </a:t>
            </a:r>
            <a:r>
              <a:rPr lang="en-FI" dirty="0" err="1"/>
              <a:t>podemos</a:t>
            </a:r>
            <a:r>
              <a:rPr lang="en-FI" dirty="0"/>
              <a:t> </a:t>
            </a:r>
            <a:r>
              <a:rPr lang="en-FI" dirty="0" err="1"/>
              <a:t>proteger</a:t>
            </a:r>
            <a:r>
              <a:rPr lang="en-FI" dirty="0"/>
              <a:t> lo </a:t>
            </a:r>
            <a:r>
              <a:rPr lang="en-FI" dirty="0" err="1"/>
              <a:t>que</a:t>
            </a:r>
            <a:r>
              <a:rPr lang="en-FI" dirty="0"/>
              <a:t> no </a:t>
            </a:r>
            <a:r>
              <a:rPr lang="en-FI" dirty="0" err="1"/>
              <a:t>entendemos</a:t>
            </a:r>
            <a:r>
              <a:rPr lang="en-FI" dirty="0"/>
              <a:t>. Para </a:t>
            </a:r>
            <a:r>
              <a:rPr lang="en-FI" dirty="0" err="1"/>
              <a:t>identificar</a:t>
            </a:r>
            <a:r>
              <a:rPr lang="en-FI" dirty="0"/>
              <a:t> </a:t>
            </a:r>
            <a:r>
              <a:rPr lang="en-FI" dirty="0" err="1"/>
              <a:t>vulnerabilidades</a:t>
            </a:r>
            <a:r>
              <a:rPr lang="en-FI" dirty="0"/>
              <a:t> antes de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afecten</a:t>
            </a:r>
            <a:r>
              <a:rPr lang="en-FI" dirty="0"/>
              <a:t> a </a:t>
            </a:r>
            <a:r>
              <a:rPr lang="en-FI" dirty="0" err="1"/>
              <a:t>nuestros</a:t>
            </a:r>
            <a:r>
              <a:rPr lang="en-FI" dirty="0"/>
              <a:t> </a:t>
            </a:r>
            <a:r>
              <a:rPr lang="en-FI" dirty="0" err="1"/>
              <a:t>usuarios</a:t>
            </a:r>
            <a:r>
              <a:rPr lang="en-FI" dirty="0"/>
              <a:t>, </a:t>
            </a:r>
            <a:r>
              <a:rPr lang="en-FI" dirty="0" err="1"/>
              <a:t>debemos</a:t>
            </a:r>
            <a:r>
              <a:rPr lang="en-FI" dirty="0"/>
              <a:t> </a:t>
            </a:r>
            <a:r>
              <a:rPr lang="en-FI" dirty="0" err="1"/>
              <a:t>estructurar</a:t>
            </a:r>
            <a:r>
              <a:rPr lang="en-FI" dirty="0"/>
              <a:t>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específicas</a:t>
            </a:r>
            <a:r>
              <a:rPr lang="en-FI" dirty="0"/>
              <a:t> </a:t>
            </a:r>
            <a:r>
              <a:rPr lang="en-FI" dirty="0" err="1"/>
              <a:t>según</a:t>
            </a:r>
            <a:r>
              <a:rPr lang="en-FI" dirty="0"/>
              <a:t> el </a:t>
            </a:r>
            <a:r>
              <a:rPr lang="en-FI" dirty="0" err="1"/>
              <a:t>nivel</a:t>
            </a:r>
            <a:r>
              <a:rPr lang="en-FI" dirty="0"/>
              <a:t> de </a:t>
            </a:r>
            <a:r>
              <a:rPr lang="en-FI" dirty="0" err="1"/>
              <a:t>abstracción</a:t>
            </a:r>
            <a:r>
              <a:rPr lang="en-FI" dirty="0"/>
              <a:t> del </a:t>
            </a:r>
            <a:r>
              <a:rPr lang="en-FI" dirty="0" err="1"/>
              <a:t>sistema</a:t>
            </a:r>
            <a:r>
              <a:rPr lang="en-FI" dirty="0"/>
              <a:t>.</a:t>
            </a:r>
          </a:p>
          <a:p>
            <a:r>
              <a:rPr lang="en-FI" dirty="0"/>
              <a:t>Esto </a:t>
            </a:r>
            <a:r>
              <a:rPr lang="en-FI" dirty="0" err="1"/>
              <a:t>significa</a:t>
            </a:r>
            <a:r>
              <a:rPr lang="en-FI" dirty="0"/>
              <a:t> </a:t>
            </a:r>
            <a:r>
              <a:rPr lang="en-FI" dirty="0" err="1"/>
              <a:t>analizar</a:t>
            </a:r>
            <a:r>
              <a:rPr lang="en-FI" dirty="0"/>
              <a:t> </a:t>
            </a:r>
            <a:r>
              <a:rPr lang="en-FI" dirty="0" err="1"/>
              <a:t>desde</a:t>
            </a:r>
            <a:r>
              <a:rPr lang="en-FI" dirty="0"/>
              <a:t> la </a:t>
            </a:r>
            <a:r>
              <a:rPr lang="en-FI" dirty="0" err="1"/>
              <a:t>arquitectura</a:t>
            </a:r>
            <a:r>
              <a:rPr lang="en-FI" dirty="0"/>
              <a:t> general —</a:t>
            </a:r>
            <a:r>
              <a:rPr lang="en-FI" dirty="0" err="1"/>
              <a:t>identificando</a:t>
            </a:r>
            <a:r>
              <a:rPr lang="en-FI" dirty="0"/>
              <a:t> </a:t>
            </a:r>
            <a:r>
              <a:rPr lang="en-FI" dirty="0" err="1"/>
              <a:t>qué</a:t>
            </a:r>
            <a:r>
              <a:rPr lang="en-FI" dirty="0"/>
              <a:t> </a:t>
            </a:r>
            <a:r>
              <a:rPr lang="en-FI" dirty="0" err="1"/>
              <a:t>actores</a:t>
            </a:r>
            <a:r>
              <a:rPr lang="en-FI" dirty="0"/>
              <a:t> </a:t>
            </a:r>
            <a:r>
              <a:rPr lang="en-FI" dirty="0" err="1"/>
              <a:t>interactúan</a:t>
            </a:r>
            <a:r>
              <a:rPr lang="en-FI" dirty="0"/>
              <a:t> con el </a:t>
            </a:r>
            <a:r>
              <a:rPr lang="en-FI" dirty="0" err="1"/>
              <a:t>sistema</a:t>
            </a:r>
            <a:r>
              <a:rPr lang="en-FI" dirty="0"/>
              <a:t> y 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dónde</a:t>
            </a:r>
            <a:r>
              <a:rPr lang="en-FI" dirty="0"/>
              <a:t> </a:t>
            </a:r>
            <a:r>
              <a:rPr lang="en-FI" dirty="0" err="1"/>
              <a:t>viajan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sensibles</a:t>
            </a:r>
            <a:r>
              <a:rPr lang="en-FI" dirty="0"/>
              <a:t>— hasta el </a:t>
            </a:r>
            <a:r>
              <a:rPr lang="en-FI" dirty="0" err="1"/>
              <a:t>nivel</a:t>
            </a:r>
            <a:r>
              <a:rPr lang="en-FI" dirty="0"/>
              <a:t> de </a:t>
            </a:r>
            <a:r>
              <a:rPr lang="en-FI" dirty="0" err="1"/>
              <a:t>código</a:t>
            </a:r>
            <a:r>
              <a:rPr lang="en-FI" dirty="0"/>
              <a:t>. El </a:t>
            </a:r>
            <a:r>
              <a:rPr lang="en-FI" b="1" dirty="0" err="1"/>
              <a:t>modelado</a:t>
            </a:r>
            <a:r>
              <a:rPr lang="en-FI" b="1" dirty="0"/>
              <a:t> de </a:t>
            </a:r>
            <a:r>
              <a:rPr lang="en-FI" b="1" dirty="0" err="1"/>
              <a:t>amenazas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permite</a:t>
            </a:r>
            <a:r>
              <a:rPr lang="en-FI" dirty="0"/>
              <a:t> </a:t>
            </a:r>
            <a:r>
              <a:rPr lang="en-FI" dirty="0" err="1"/>
              <a:t>preguntarnos</a:t>
            </a:r>
            <a:r>
              <a:rPr lang="en-FI" dirty="0"/>
              <a:t> de forma </a:t>
            </a:r>
            <a:r>
              <a:rPr lang="en-FI" dirty="0" err="1"/>
              <a:t>sistemática</a:t>
            </a:r>
            <a:r>
              <a:rPr lang="en-FI" dirty="0"/>
              <a:t>: </a:t>
            </a:r>
            <a:r>
              <a:rPr lang="en-FI" i="1" dirty="0"/>
              <a:t>¿</a:t>
            </a:r>
            <a:r>
              <a:rPr lang="en-GB" i="1" dirty="0" err="1"/>
              <a:t>Cuáles</a:t>
            </a:r>
            <a:r>
              <a:rPr lang="en-GB" i="1" dirty="0"/>
              <a:t> son </a:t>
            </a:r>
            <a:r>
              <a:rPr lang="en-GB" i="1" dirty="0" err="1"/>
              <a:t>los</a:t>
            </a:r>
            <a:r>
              <a:rPr lang="en-GB" i="1" dirty="0"/>
              <a:t> </a:t>
            </a:r>
            <a:r>
              <a:rPr lang="en-GB" i="1" dirty="0" err="1"/>
              <a:t>riesgos</a:t>
            </a:r>
            <a:r>
              <a:rPr lang="en-FI" i="1" dirty="0"/>
              <a:t>?</a:t>
            </a:r>
            <a:r>
              <a:rPr lang="en-FI" dirty="0"/>
              <a:t>, </a:t>
            </a:r>
            <a:r>
              <a:rPr lang="en-FI" i="1" dirty="0"/>
              <a:t>¿</a:t>
            </a:r>
            <a:r>
              <a:rPr lang="en-FI" i="1" dirty="0" err="1"/>
              <a:t>Cómo</a:t>
            </a:r>
            <a:r>
              <a:rPr lang="en-FI" i="1" dirty="0"/>
              <a:t> </a:t>
            </a:r>
            <a:r>
              <a:rPr lang="en-FI" i="1" dirty="0" err="1"/>
              <a:t>pueden</a:t>
            </a:r>
            <a:r>
              <a:rPr lang="en-FI" i="1" dirty="0"/>
              <a:t> </a:t>
            </a:r>
            <a:r>
              <a:rPr lang="en-FI" i="1" dirty="0" err="1"/>
              <a:t>atacar</a:t>
            </a:r>
            <a:r>
              <a:rPr lang="en-FI" i="1" dirty="0"/>
              <a:t> </a:t>
            </a:r>
            <a:r>
              <a:rPr lang="en-FI" i="1" dirty="0" err="1"/>
              <a:t>este</a:t>
            </a:r>
            <a:r>
              <a:rPr lang="en-FI" i="1" dirty="0"/>
              <a:t> </a:t>
            </a:r>
            <a:r>
              <a:rPr lang="en-FI" i="1" dirty="0" err="1"/>
              <a:t>componente</a:t>
            </a:r>
            <a:r>
              <a:rPr lang="en-FI" i="1" dirty="0"/>
              <a:t>?</a:t>
            </a:r>
            <a:r>
              <a:rPr lang="en-FI" dirty="0"/>
              <a:t> y </a:t>
            </a:r>
            <a:r>
              <a:rPr lang="en-FI" i="1" dirty="0"/>
              <a:t>¿</a:t>
            </a:r>
            <a:r>
              <a:rPr lang="en-FI" i="1" dirty="0" err="1"/>
              <a:t>Qué</a:t>
            </a:r>
            <a:r>
              <a:rPr lang="en-FI" i="1" dirty="0"/>
              <a:t> </a:t>
            </a:r>
            <a:r>
              <a:rPr lang="en-FI" i="1" dirty="0" err="1"/>
              <a:t>haremos</a:t>
            </a:r>
            <a:r>
              <a:rPr lang="en-FI" i="1" dirty="0"/>
              <a:t> para </a:t>
            </a:r>
            <a:r>
              <a:rPr lang="en-FI" i="1" dirty="0" err="1"/>
              <a:t>evitarlo</a:t>
            </a:r>
            <a:r>
              <a:rPr lang="en-FI" i="1" dirty="0"/>
              <a:t>?</a:t>
            </a:r>
            <a:r>
              <a:rPr lang="en-FI" dirty="0"/>
              <a:t>, </a:t>
            </a:r>
            <a:r>
              <a:rPr lang="en-FI" dirty="0" err="1"/>
              <a:t>permitiéndonos</a:t>
            </a:r>
            <a:r>
              <a:rPr lang="en-FI" dirty="0"/>
              <a:t> </a:t>
            </a:r>
            <a:r>
              <a:rPr lang="en-FI" dirty="0" err="1"/>
              <a:t>priorizar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riesgos</a:t>
            </a:r>
            <a:r>
              <a:rPr lang="en-FI" dirty="0"/>
              <a:t> reales </a:t>
            </a:r>
            <a:r>
              <a:rPr lang="en-FI" dirty="0" err="1"/>
              <a:t>sobre</a:t>
            </a:r>
            <a:r>
              <a:rPr lang="en-FI" dirty="0"/>
              <a:t> las </a:t>
            </a:r>
            <a:r>
              <a:rPr lang="en-FI" dirty="0" err="1"/>
              <a:t>suposiciones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dirty="0"/>
              <a:t>Por </a:t>
            </a:r>
            <a:r>
              <a:rPr lang="en-FI" dirty="0" err="1"/>
              <a:t>último</a:t>
            </a:r>
            <a:r>
              <a:rPr lang="en-FI" dirty="0"/>
              <a:t>, </a:t>
            </a:r>
            <a:r>
              <a:rPr lang="en-FI" dirty="0" err="1"/>
              <a:t>llegamos</a:t>
            </a:r>
            <a:r>
              <a:rPr lang="en-FI" dirty="0"/>
              <a:t> al tercer </a:t>
            </a:r>
            <a:r>
              <a:rPr lang="en-GB" dirty="0" err="1"/>
              <a:t>bloque</a:t>
            </a:r>
            <a:r>
              <a:rPr lang="en-FI" dirty="0"/>
              <a:t>: las </a:t>
            </a:r>
            <a:r>
              <a:rPr lang="en-FI" b="1" dirty="0" err="1"/>
              <a:t>Técnicas</a:t>
            </a:r>
            <a:r>
              <a:rPr lang="en-FI" b="1" dirty="0"/>
              <a:t> y </a:t>
            </a:r>
            <a:r>
              <a:rPr lang="en-FI" b="1" dirty="0" err="1"/>
              <a:t>Controles</a:t>
            </a:r>
            <a:r>
              <a:rPr lang="en-FI" b="1" dirty="0"/>
              <a:t> de </a:t>
            </a:r>
            <a:r>
              <a:rPr lang="en-FI" b="1" dirty="0" err="1"/>
              <a:t>Mitigación</a:t>
            </a:r>
            <a:r>
              <a:rPr lang="en-FI" dirty="0"/>
              <a:t>. Una </a:t>
            </a:r>
            <a:r>
              <a:rPr lang="en-FI" dirty="0" err="1"/>
              <a:t>vez</a:t>
            </a:r>
            <a:r>
              <a:rPr lang="en-FI" dirty="0"/>
              <a:t> </a:t>
            </a:r>
            <a:r>
              <a:rPr lang="en-FI" dirty="0" err="1"/>
              <a:t>identificados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riesgos</a:t>
            </a:r>
            <a:r>
              <a:rPr lang="en-FI" dirty="0"/>
              <a:t>, </a:t>
            </a:r>
            <a:r>
              <a:rPr lang="en-FI" dirty="0" err="1"/>
              <a:t>debemos</a:t>
            </a:r>
            <a:r>
              <a:rPr lang="en-FI" dirty="0"/>
              <a:t> </a:t>
            </a:r>
            <a:r>
              <a:rPr lang="en-FI" dirty="0" err="1"/>
              <a:t>construir</a:t>
            </a:r>
            <a:r>
              <a:rPr lang="en-FI" dirty="0"/>
              <a:t> las </a:t>
            </a:r>
            <a:r>
              <a:rPr lang="en-FI" dirty="0" err="1"/>
              <a:t>defensas</a:t>
            </a:r>
            <a:r>
              <a:rPr lang="en-FI" dirty="0"/>
              <a:t>.</a:t>
            </a:r>
          </a:p>
          <a:p>
            <a:r>
              <a:rPr lang="en-FI" dirty="0" err="1"/>
              <a:t>Aquí</a:t>
            </a:r>
            <a:r>
              <a:rPr lang="en-FI" dirty="0"/>
              <a:t> el principio rector es la </a:t>
            </a:r>
            <a:r>
              <a:rPr lang="en-FI" b="1" dirty="0"/>
              <a:t>Defensa </a:t>
            </a:r>
            <a:r>
              <a:rPr lang="en-FI" b="1" dirty="0" err="1"/>
              <a:t>en</a:t>
            </a:r>
            <a:r>
              <a:rPr lang="en-FI" b="1" dirty="0"/>
              <a:t> </a:t>
            </a:r>
            <a:r>
              <a:rPr lang="en-FI" b="1" dirty="0" err="1"/>
              <a:t>Profundidad</a:t>
            </a:r>
            <a:r>
              <a:rPr lang="en-FI" dirty="0"/>
              <a:t>. Este </a:t>
            </a:r>
            <a:r>
              <a:rPr lang="en-FI" dirty="0" err="1"/>
              <a:t>concepto</a:t>
            </a:r>
            <a:r>
              <a:rPr lang="en-FI" dirty="0"/>
              <a:t> </a:t>
            </a:r>
            <a:r>
              <a:rPr lang="en-FI" dirty="0" err="1"/>
              <a:t>establece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nunca</a:t>
            </a:r>
            <a:r>
              <a:rPr lang="en-FI" dirty="0"/>
              <a:t> </a:t>
            </a:r>
            <a:r>
              <a:rPr lang="en-FI" dirty="0" err="1"/>
              <a:t>debemos</a:t>
            </a:r>
            <a:r>
              <a:rPr lang="en-FI" dirty="0"/>
              <a:t> </a:t>
            </a:r>
            <a:r>
              <a:rPr lang="en-FI" dirty="0" err="1"/>
              <a:t>confiar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sola </a:t>
            </a:r>
            <a:r>
              <a:rPr lang="en-FI" dirty="0" err="1"/>
              <a:t>medida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. Si un </a:t>
            </a:r>
            <a:r>
              <a:rPr lang="en-FI" dirty="0" err="1"/>
              <a:t>atacante</a:t>
            </a:r>
            <a:r>
              <a:rPr lang="en-FI" dirty="0"/>
              <a:t> </a:t>
            </a:r>
            <a:r>
              <a:rPr lang="en-FI" dirty="0" err="1"/>
              <a:t>logra</a:t>
            </a:r>
            <a:r>
              <a:rPr lang="en-FI" dirty="0"/>
              <a:t> </a:t>
            </a:r>
            <a:r>
              <a:rPr lang="en-FI" dirty="0" err="1"/>
              <a:t>superar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barrera, </a:t>
            </a:r>
            <a:r>
              <a:rPr lang="en-FI" dirty="0" err="1"/>
              <a:t>debe</a:t>
            </a:r>
            <a:r>
              <a:rPr lang="en-FI" dirty="0"/>
              <a:t> </a:t>
            </a:r>
            <a:r>
              <a:rPr lang="en-FI" dirty="0" err="1"/>
              <a:t>encontrarse</a:t>
            </a:r>
            <a:r>
              <a:rPr lang="en-FI" dirty="0"/>
              <a:t> </a:t>
            </a:r>
            <a:r>
              <a:rPr lang="en-FI" dirty="0" err="1"/>
              <a:t>inmediatamente</a:t>
            </a:r>
            <a:r>
              <a:rPr lang="en-FI" dirty="0"/>
              <a:t> con </a:t>
            </a:r>
            <a:r>
              <a:rPr lang="en-FI" dirty="0" err="1"/>
              <a:t>otra</a:t>
            </a:r>
            <a:r>
              <a:rPr lang="en-FI" dirty="0"/>
              <a:t>.</a:t>
            </a:r>
          </a:p>
          <a:p>
            <a:r>
              <a:rPr lang="en-FI" dirty="0" err="1"/>
              <a:t>Aplicar</a:t>
            </a:r>
            <a:r>
              <a:rPr lang="en-FI" dirty="0"/>
              <a:t> </a:t>
            </a:r>
            <a:r>
              <a:rPr lang="en-FI" dirty="0" err="1"/>
              <a:t>múltiples</a:t>
            </a:r>
            <a:r>
              <a:rPr lang="en-FI" dirty="0"/>
              <a:t> </a:t>
            </a:r>
            <a:r>
              <a:rPr lang="en-FI" dirty="0" err="1"/>
              <a:t>capas</a:t>
            </a:r>
            <a:r>
              <a:rPr lang="en-FI" dirty="0"/>
              <a:t> </a:t>
            </a:r>
            <a:r>
              <a:rPr lang="en-FI" dirty="0" err="1"/>
              <a:t>implica</a:t>
            </a:r>
            <a:r>
              <a:rPr lang="en-FI" dirty="0"/>
              <a:t> </a:t>
            </a:r>
            <a:r>
              <a:rPr lang="en-FI" dirty="0" err="1"/>
              <a:t>combinar</a:t>
            </a:r>
            <a:r>
              <a:rPr lang="en-FI" dirty="0"/>
              <a:t> </a:t>
            </a:r>
            <a:r>
              <a:rPr lang="en-FI" dirty="0" err="1"/>
              <a:t>validación</a:t>
            </a:r>
            <a:r>
              <a:rPr lang="en-FI" dirty="0"/>
              <a:t> de entradas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código</a:t>
            </a:r>
            <a:r>
              <a:rPr lang="en-FI" dirty="0"/>
              <a:t>, </a:t>
            </a:r>
            <a:r>
              <a:rPr lang="en-FI" dirty="0" err="1"/>
              <a:t>autenticación</a:t>
            </a:r>
            <a:r>
              <a:rPr lang="en-FI" dirty="0"/>
              <a:t> robusta, </a:t>
            </a:r>
            <a:r>
              <a:rPr lang="en-FI" dirty="0" err="1"/>
              <a:t>cifrado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 tanto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tránsito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reposo</a:t>
            </a:r>
            <a:r>
              <a:rPr lang="en-FI" dirty="0"/>
              <a:t>, y </a:t>
            </a:r>
            <a:r>
              <a:rPr lang="en-FI" dirty="0" err="1"/>
              <a:t>configuraciones</a:t>
            </a:r>
            <a:r>
              <a:rPr lang="en-FI" dirty="0"/>
              <a:t> </a:t>
            </a:r>
            <a:r>
              <a:rPr lang="en-FI" dirty="0" err="1"/>
              <a:t>seguras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infraestructura</a:t>
            </a:r>
            <a:r>
              <a:rPr lang="en-FI" dirty="0"/>
              <a:t>. Si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capa</a:t>
            </a:r>
            <a:r>
              <a:rPr lang="en-FI" dirty="0"/>
              <a:t> </a:t>
            </a:r>
            <a:r>
              <a:rPr lang="en-FI" dirty="0" err="1"/>
              <a:t>falla</a:t>
            </a:r>
            <a:r>
              <a:rPr lang="en-FI" dirty="0"/>
              <a:t>, las </a:t>
            </a:r>
            <a:r>
              <a:rPr lang="en-FI" dirty="0" err="1"/>
              <a:t>demás</a:t>
            </a:r>
            <a:r>
              <a:rPr lang="en-FI" dirty="0"/>
              <a:t> </a:t>
            </a:r>
            <a:r>
              <a:rPr lang="en-FI" dirty="0" err="1"/>
              <a:t>protegen</a:t>
            </a:r>
            <a:r>
              <a:rPr lang="en-FI" dirty="0"/>
              <a:t> el </a:t>
            </a:r>
            <a:r>
              <a:rPr lang="en-FI" dirty="0" err="1"/>
              <a:t>activo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dirty="0"/>
              <a:t>En </a:t>
            </a:r>
            <a:r>
              <a:rPr lang="en-FI" dirty="0" err="1"/>
              <a:t>resumen</a:t>
            </a:r>
            <a:r>
              <a:rPr lang="en-FI" dirty="0"/>
              <a:t>, la </a:t>
            </a:r>
            <a:r>
              <a:rPr lang="en-FI" dirty="0" err="1"/>
              <a:t>programación</a:t>
            </a:r>
            <a:r>
              <a:rPr lang="en-FI" dirty="0"/>
              <a:t> </a:t>
            </a:r>
            <a:r>
              <a:rPr lang="en-FI" dirty="0" err="1"/>
              <a:t>segura</a:t>
            </a:r>
            <a:r>
              <a:rPr lang="en-FI" dirty="0"/>
              <a:t> no es un </a:t>
            </a:r>
            <a:r>
              <a:rPr lang="en-FI" dirty="0" err="1"/>
              <a:t>parche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se </a:t>
            </a:r>
            <a:r>
              <a:rPr lang="en-FI" dirty="0" err="1"/>
              <a:t>añade</a:t>
            </a:r>
            <a:r>
              <a:rPr lang="en-FI" dirty="0"/>
              <a:t> al final, </a:t>
            </a:r>
            <a:r>
              <a:rPr lang="en-FI" dirty="0" err="1"/>
              <a:t>sino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disciplina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se </a:t>
            </a:r>
            <a:r>
              <a:rPr lang="en-FI" dirty="0" err="1"/>
              <a:t>cultiva</a:t>
            </a:r>
            <a:r>
              <a:rPr lang="en-FI" dirty="0"/>
              <a:t> </a:t>
            </a:r>
            <a:r>
              <a:rPr lang="en-FI" dirty="0" err="1"/>
              <a:t>desde</a:t>
            </a:r>
            <a:r>
              <a:rPr lang="en-FI" dirty="0"/>
              <a:t> el primer </a:t>
            </a:r>
            <a:r>
              <a:rPr lang="en-FI" dirty="0" err="1"/>
              <a:t>requerimiento</a:t>
            </a:r>
            <a:r>
              <a:rPr lang="en-FI" dirty="0"/>
              <a:t> hasta el </a:t>
            </a:r>
            <a:r>
              <a:rPr lang="en-FI" dirty="0" err="1"/>
              <a:t>despliegue</a:t>
            </a:r>
            <a:r>
              <a:rPr lang="en-FI" dirty="0"/>
              <a:t> final. </a:t>
            </a:r>
            <a:r>
              <a:rPr lang="en-FI" dirty="0" err="1"/>
              <a:t>Adoptar</a:t>
            </a:r>
            <a:r>
              <a:rPr lang="en-FI" dirty="0"/>
              <a:t> </a:t>
            </a:r>
            <a:r>
              <a:rPr lang="en-FI" dirty="0" err="1"/>
              <a:t>estos</a:t>
            </a:r>
            <a:r>
              <a:rPr lang="en-FI" dirty="0"/>
              <a:t>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pilares</a:t>
            </a:r>
            <a:r>
              <a:rPr lang="en-FI" dirty="0"/>
              <a:t> es la clave para </a:t>
            </a:r>
            <a:r>
              <a:rPr lang="en-FI" dirty="0" err="1"/>
              <a:t>construir</a:t>
            </a:r>
            <a:r>
              <a:rPr lang="en-FI" dirty="0"/>
              <a:t> software </a:t>
            </a:r>
            <a:r>
              <a:rPr lang="en-FI" dirty="0" err="1"/>
              <a:t>resiliente</a:t>
            </a:r>
            <a:r>
              <a:rPr lang="en-FI" dirty="0"/>
              <a:t>, </a:t>
            </a:r>
            <a:r>
              <a:rPr lang="en-FI" dirty="0" err="1"/>
              <a:t>confiable</a:t>
            </a:r>
            <a:r>
              <a:rPr lang="en-FI" dirty="0"/>
              <a:t> y </a:t>
            </a:r>
            <a:r>
              <a:rPr lang="en-FI" dirty="0" err="1"/>
              <a:t>preparado</a:t>
            </a:r>
            <a:r>
              <a:rPr lang="en-FI" dirty="0"/>
              <a:t> para las </a:t>
            </a:r>
            <a:r>
              <a:rPr lang="en-FI" dirty="0" err="1"/>
              <a:t>amenazas</a:t>
            </a:r>
            <a:r>
              <a:rPr lang="en-FI" dirty="0"/>
              <a:t> del </a:t>
            </a:r>
            <a:r>
              <a:rPr lang="en-FI" dirty="0" err="1"/>
              <a:t>mundo</a:t>
            </a:r>
            <a:r>
              <a:rPr lang="en-FI" dirty="0"/>
              <a:t> real.</a:t>
            </a:r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8705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Diapositiva de transición: cerramos la introducción y pasamos al temario de la materia.</a:t>
            </a:r>
          </a:p>
          <a:p>
            <a:r>
              <a:rPr lang="es-ES" dirty="0"/>
              <a:t>Anticipar que el temario está organizado en seis bloques progresivos, que van desde los fundamentos y la gobernanza hasta las tácticas de ataque y la automatización en el pipeline.</a:t>
            </a:r>
          </a:p>
          <a:p>
            <a:r>
              <a:rPr lang="es-ES" dirty="0"/>
              <a:t>Aclarar que cada bloque se dicta en semanas consecutivas y que el calendario posterior muestra las fechas exactas.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A lo largo del </a:t>
            </a:r>
            <a:r>
              <a:rPr lang="en-FI" dirty="0" err="1"/>
              <a:t>curso</a:t>
            </a:r>
            <a:r>
              <a:rPr lang="en-FI" dirty="0"/>
              <a:t>, </a:t>
            </a:r>
            <a:r>
              <a:rPr lang="en-FI" dirty="0" err="1"/>
              <a:t>recorreremos</a:t>
            </a:r>
            <a:r>
              <a:rPr lang="en-FI" dirty="0"/>
              <a:t> un camino </a:t>
            </a:r>
            <a:r>
              <a:rPr lang="en-FI" dirty="0" err="1"/>
              <a:t>estructurado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6 </a:t>
            </a:r>
            <a:r>
              <a:rPr lang="en-FI" dirty="0" err="1"/>
              <a:t>bloques</a:t>
            </a:r>
            <a:r>
              <a:rPr lang="en-FI" dirty="0"/>
              <a:t> clave para </a:t>
            </a:r>
            <a:r>
              <a:rPr lang="en-FI" dirty="0" err="1"/>
              <a:t>transformar</a:t>
            </a:r>
            <a:r>
              <a:rPr lang="en-FI" dirty="0"/>
              <a:t> la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pieza</a:t>
            </a:r>
            <a:r>
              <a:rPr lang="en-FI" dirty="0"/>
              <a:t> fundamental del </a:t>
            </a:r>
            <a:r>
              <a:rPr lang="en-FI" dirty="0" err="1"/>
              <a:t>desarrollo</a:t>
            </a:r>
            <a:r>
              <a:rPr lang="en-FI" dirty="0"/>
              <a:t>:</a:t>
            </a:r>
            <a:endParaRPr lang="en-GB" dirty="0"/>
          </a:p>
          <a:p>
            <a:endParaRPr lang="en-GB" dirty="0"/>
          </a:p>
          <a:p>
            <a:r>
              <a:rPr lang="en-FI" b="1" dirty="0"/>
              <a:t>Bloque 1: </a:t>
            </a:r>
            <a:r>
              <a:rPr lang="en-FI" b="1" dirty="0" err="1"/>
              <a:t>Introducción</a:t>
            </a:r>
            <a:r>
              <a:rPr lang="en-FI" b="1" dirty="0"/>
              <a:t>, </a:t>
            </a:r>
            <a:r>
              <a:rPr lang="en-FI" b="1" dirty="0" err="1"/>
              <a:t>Gobernanza</a:t>
            </a:r>
            <a:r>
              <a:rPr lang="en-FI" b="1" dirty="0"/>
              <a:t> y el Ciclo de Desarrollo Seguro</a:t>
            </a:r>
            <a:endParaRPr lang="en-FI" dirty="0"/>
          </a:p>
          <a:p>
            <a:r>
              <a:rPr lang="en-FI" dirty="0" err="1"/>
              <a:t>Arrancamos</a:t>
            </a:r>
            <a:r>
              <a:rPr lang="en-FI" dirty="0"/>
              <a:t> </a:t>
            </a:r>
            <a:r>
              <a:rPr lang="en-FI" dirty="0" err="1"/>
              <a:t>entendiendo</a:t>
            </a:r>
            <a:r>
              <a:rPr lang="en-FI" dirty="0"/>
              <a:t> el </a:t>
            </a:r>
            <a:r>
              <a:rPr lang="en-FI" dirty="0" err="1"/>
              <a:t>impacto</a:t>
            </a:r>
            <a:r>
              <a:rPr lang="en-FI" dirty="0"/>
              <a:t> </a:t>
            </a:r>
            <a:r>
              <a:rPr lang="en-FI" dirty="0" err="1"/>
              <a:t>económico</a:t>
            </a:r>
            <a:r>
              <a:rPr lang="en-FI" dirty="0"/>
              <a:t> de la </a:t>
            </a:r>
            <a:r>
              <a:rPr lang="en-FI" dirty="0" err="1"/>
              <a:t>inseguridad</a:t>
            </a:r>
            <a:r>
              <a:rPr lang="en-FI" dirty="0"/>
              <a:t> y la </a:t>
            </a:r>
            <a:r>
              <a:rPr lang="en-FI" dirty="0" err="1"/>
              <a:t>cultura</a:t>
            </a:r>
            <a:r>
              <a:rPr lang="en-FI" dirty="0"/>
              <a:t> </a:t>
            </a:r>
            <a:r>
              <a:rPr lang="en-FI" dirty="0" err="1"/>
              <a:t>DevSecOps</a:t>
            </a:r>
            <a:r>
              <a:rPr lang="en-FI" dirty="0"/>
              <a:t> bajo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pilares</a:t>
            </a:r>
            <a:r>
              <a:rPr lang="en-FI" dirty="0"/>
              <a:t> CAMS. </a:t>
            </a:r>
            <a:r>
              <a:rPr lang="en-FI" dirty="0" err="1"/>
              <a:t>Adoptaremos</a:t>
            </a:r>
            <a:r>
              <a:rPr lang="en-FI" dirty="0"/>
              <a:t> la </a:t>
            </a:r>
            <a:r>
              <a:rPr lang="en-FI" dirty="0" err="1"/>
              <a:t>arquitectura</a:t>
            </a:r>
            <a:r>
              <a:rPr lang="en-FI" dirty="0"/>
              <a:t> </a:t>
            </a:r>
            <a:r>
              <a:rPr lang="en-FI" i="1" dirty="0"/>
              <a:t>Zero Trust</a:t>
            </a:r>
            <a:r>
              <a:rPr lang="en-FI" dirty="0"/>
              <a:t> </a:t>
            </a:r>
            <a:r>
              <a:rPr lang="en-GB" dirty="0"/>
              <a:t> </a:t>
            </a:r>
            <a:r>
              <a:rPr lang="en-FI" dirty="0"/>
              <a:t>y APIs, y </a:t>
            </a:r>
            <a:r>
              <a:rPr lang="en-FI" dirty="0" err="1"/>
              <a:t>analizaremos</a:t>
            </a:r>
            <a:r>
              <a:rPr lang="en-FI" dirty="0"/>
              <a:t> las </a:t>
            </a:r>
            <a:r>
              <a:rPr lang="en-FI" dirty="0" err="1"/>
              <a:t>fases</a:t>
            </a:r>
            <a:r>
              <a:rPr lang="en-FI" dirty="0"/>
              <a:t> </a:t>
            </a:r>
            <a:r>
              <a:rPr lang="en-FI" dirty="0" err="1"/>
              <a:t>obligatorias</a:t>
            </a:r>
            <a:r>
              <a:rPr lang="en-FI" dirty="0"/>
              <a:t> del </a:t>
            </a:r>
            <a:r>
              <a:rPr lang="en-FI" dirty="0" err="1"/>
              <a:t>modelo</a:t>
            </a:r>
            <a:r>
              <a:rPr lang="en-FI" dirty="0"/>
              <a:t> MSSDL de Microsoft, </a:t>
            </a:r>
            <a:r>
              <a:rPr lang="en-FI" dirty="0" err="1"/>
              <a:t>desde</a:t>
            </a:r>
            <a:r>
              <a:rPr lang="en-FI" dirty="0"/>
              <a:t> la </a:t>
            </a:r>
            <a:r>
              <a:rPr lang="en-FI" dirty="0" err="1"/>
              <a:t>definición</a:t>
            </a:r>
            <a:r>
              <a:rPr lang="en-FI" dirty="0"/>
              <a:t> de </a:t>
            </a:r>
            <a:r>
              <a:rPr lang="en-FI" dirty="0" err="1"/>
              <a:t>requerimientos</a:t>
            </a:r>
            <a:r>
              <a:rPr lang="en-FI" dirty="0"/>
              <a:t> hasta la </a:t>
            </a:r>
            <a:r>
              <a:rPr lang="en-FI" dirty="0" err="1"/>
              <a:t>respuesta</a:t>
            </a:r>
            <a:r>
              <a:rPr lang="en-FI" dirty="0"/>
              <a:t> ante </a:t>
            </a:r>
            <a:r>
              <a:rPr lang="en-FI" dirty="0" err="1"/>
              <a:t>incidentes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b="1" dirty="0"/>
              <a:t>Bloque 2: </a:t>
            </a:r>
            <a:r>
              <a:rPr lang="en-FI" b="1" dirty="0" err="1"/>
              <a:t>Ecosistema</a:t>
            </a:r>
            <a:r>
              <a:rPr lang="en-FI" b="1" dirty="0"/>
              <a:t> OWASP y </a:t>
            </a:r>
            <a:r>
              <a:rPr lang="en-FI" b="1" dirty="0" err="1"/>
              <a:t>Protección</a:t>
            </a:r>
            <a:r>
              <a:rPr lang="en-FI" b="1" dirty="0"/>
              <a:t> </a:t>
            </a:r>
            <a:r>
              <a:rPr lang="en-FI" b="1" dirty="0" err="1"/>
              <a:t>Proactiva</a:t>
            </a:r>
            <a:endParaRPr lang="en-FI" dirty="0"/>
          </a:p>
          <a:p>
            <a:r>
              <a:rPr lang="en-FI" dirty="0"/>
              <a:t>Nos </a:t>
            </a:r>
            <a:r>
              <a:rPr lang="en-FI" dirty="0" err="1"/>
              <a:t>sumergimos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comunidad OWASP para </a:t>
            </a:r>
            <a:r>
              <a:rPr lang="en-FI" dirty="0" err="1"/>
              <a:t>implementar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estrategia</a:t>
            </a:r>
            <a:r>
              <a:rPr lang="en-FI" dirty="0"/>
              <a:t> de defensa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profundidad</a:t>
            </a:r>
            <a:r>
              <a:rPr lang="en-FI" dirty="0"/>
              <a:t>. </a:t>
            </a:r>
            <a:r>
              <a:rPr lang="en-FI" dirty="0" err="1"/>
              <a:t>Aprenderás</a:t>
            </a:r>
            <a:r>
              <a:rPr lang="en-FI" dirty="0"/>
              <a:t> a </a:t>
            </a:r>
            <a:r>
              <a:rPr lang="en-FI" dirty="0" err="1"/>
              <a:t>validar</a:t>
            </a:r>
            <a:r>
              <a:rPr lang="en-FI" dirty="0"/>
              <a:t> entradas, </a:t>
            </a:r>
            <a:r>
              <a:rPr lang="en-FI" dirty="0" err="1"/>
              <a:t>codificar</a:t>
            </a:r>
            <a:r>
              <a:rPr lang="en-FI" dirty="0"/>
              <a:t> </a:t>
            </a:r>
            <a:r>
              <a:rPr lang="en-FI" dirty="0" err="1"/>
              <a:t>salidas</a:t>
            </a:r>
            <a:r>
              <a:rPr lang="en-FI" dirty="0"/>
              <a:t> y </a:t>
            </a:r>
            <a:r>
              <a:rPr lang="en-FI" dirty="0" err="1"/>
              <a:t>gestionar</a:t>
            </a:r>
            <a:r>
              <a:rPr lang="en-FI" dirty="0"/>
              <a:t>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sensibles</a:t>
            </a:r>
            <a:r>
              <a:rPr lang="en-FI" dirty="0"/>
              <a:t>, </a:t>
            </a:r>
            <a:r>
              <a:rPr lang="en-FI" dirty="0" err="1"/>
              <a:t>además</a:t>
            </a:r>
            <a:r>
              <a:rPr lang="en-FI" dirty="0"/>
              <a:t> de </a:t>
            </a:r>
            <a:r>
              <a:rPr lang="en-FI" dirty="0" err="1"/>
              <a:t>abordar</a:t>
            </a:r>
            <a:r>
              <a:rPr lang="en-FI" dirty="0"/>
              <a:t> la </a:t>
            </a:r>
            <a:r>
              <a:rPr lang="en-FI" dirty="0" err="1"/>
              <a:t>gestión</a:t>
            </a:r>
            <a:r>
              <a:rPr lang="en-FI" dirty="0"/>
              <a:t> de </a:t>
            </a:r>
            <a:r>
              <a:rPr lang="en-FI" dirty="0" err="1"/>
              <a:t>identidades</a:t>
            </a:r>
            <a:r>
              <a:rPr lang="en-FI" dirty="0"/>
              <a:t>, </a:t>
            </a:r>
            <a:r>
              <a:rPr lang="en-FI" dirty="0" err="1"/>
              <a:t>autenticación</a:t>
            </a:r>
            <a:r>
              <a:rPr lang="en-FI" dirty="0"/>
              <a:t> y </a:t>
            </a:r>
            <a:r>
              <a:rPr lang="en-FI" dirty="0" err="1"/>
              <a:t>criptografía</a:t>
            </a:r>
            <a:r>
              <a:rPr lang="en-FI" dirty="0"/>
              <a:t> </a:t>
            </a:r>
            <a:r>
              <a:rPr lang="en-FI" dirty="0" err="1"/>
              <a:t>orientada</a:t>
            </a:r>
            <a:r>
              <a:rPr lang="en-FI" dirty="0"/>
              <a:t> a </a:t>
            </a:r>
            <a:r>
              <a:rPr lang="en-FI" dirty="0" err="1"/>
              <a:t>código</a:t>
            </a:r>
            <a:r>
              <a:rPr lang="en-FI" dirty="0"/>
              <a:t> </a:t>
            </a:r>
            <a:r>
              <a:rPr lang="en-FI" dirty="0" err="1"/>
              <a:t>seguro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b="1" dirty="0"/>
              <a:t>Bloque 3: </a:t>
            </a:r>
            <a:r>
              <a:rPr lang="en-FI" b="1" dirty="0" err="1"/>
              <a:t>Metodologías</a:t>
            </a:r>
            <a:r>
              <a:rPr lang="en-FI" b="1" dirty="0"/>
              <a:t> de </a:t>
            </a:r>
            <a:r>
              <a:rPr lang="en-FI" b="1" dirty="0" err="1"/>
              <a:t>Modelado</a:t>
            </a:r>
            <a:r>
              <a:rPr lang="en-FI" b="1" dirty="0"/>
              <a:t> de </a:t>
            </a:r>
            <a:r>
              <a:rPr lang="en-FI" b="1" dirty="0" err="1"/>
              <a:t>Amenazas</a:t>
            </a:r>
            <a:r>
              <a:rPr lang="en-FI" b="1" dirty="0"/>
              <a:t> (Threat </a:t>
            </a:r>
            <a:r>
              <a:rPr lang="en-FI" b="1" dirty="0" err="1"/>
              <a:t>Modeling</a:t>
            </a:r>
            <a:r>
              <a:rPr lang="en-FI" b="1" dirty="0"/>
              <a:t>)</a:t>
            </a:r>
            <a:endParaRPr lang="en-FI" dirty="0"/>
          </a:p>
          <a:p>
            <a:r>
              <a:rPr lang="en-FI" dirty="0" err="1"/>
              <a:t>Descubriremos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anticiparnos</a:t>
            </a:r>
            <a:r>
              <a:rPr lang="en-FI" dirty="0"/>
              <a:t> a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ataques</a:t>
            </a:r>
            <a:r>
              <a:rPr lang="en-FI" dirty="0"/>
              <a:t> antes de </a:t>
            </a:r>
            <a:r>
              <a:rPr lang="en-FI" dirty="0" err="1"/>
              <a:t>escribir</a:t>
            </a:r>
            <a:r>
              <a:rPr lang="en-FI" dirty="0"/>
              <a:t> </a:t>
            </a:r>
            <a:r>
              <a:rPr lang="en-FI" dirty="0" err="1"/>
              <a:t>código</a:t>
            </a:r>
            <a:r>
              <a:rPr lang="en-FI" dirty="0"/>
              <a:t>. </a:t>
            </a:r>
            <a:r>
              <a:rPr lang="en-FI" dirty="0" err="1"/>
              <a:t>Compararemos</a:t>
            </a:r>
            <a:r>
              <a:rPr lang="en-FI" dirty="0"/>
              <a:t> </a:t>
            </a:r>
            <a:r>
              <a:rPr lang="en-FI" dirty="0" err="1"/>
              <a:t>modelos</a:t>
            </a:r>
            <a:r>
              <a:rPr lang="en-FI" dirty="0"/>
              <a:t> de </a:t>
            </a:r>
            <a:r>
              <a:rPr lang="en-FI" dirty="0" err="1"/>
              <a:t>aplicación</a:t>
            </a:r>
            <a:r>
              <a:rPr lang="en-FI" dirty="0"/>
              <a:t> versus </a:t>
            </a:r>
            <a:r>
              <a:rPr lang="en-FI" dirty="0" err="1"/>
              <a:t>infraestructura</a:t>
            </a:r>
            <a:r>
              <a:rPr lang="en-FI" dirty="0"/>
              <a:t>, </a:t>
            </a:r>
            <a:r>
              <a:rPr lang="en-FI" dirty="0" err="1"/>
              <a:t>usaremos</a:t>
            </a:r>
            <a:r>
              <a:rPr lang="en-FI" dirty="0"/>
              <a:t>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dirty="0" err="1"/>
              <a:t>ágil</a:t>
            </a:r>
            <a:r>
              <a:rPr lang="en-FI" dirty="0"/>
              <a:t> </a:t>
            </a:r>
            <a:r>
              <a:rPr lang="en-FI" b="1" dirty="0"/>
              <a:t>VAST</a:t>
            </a:r>
            <a:r>
              <a:rPr lang="en-FI" dirty="0"/>
              <a:t> y </a:t>
            </a:r>
            <a:r>
              <a:rPr lang="en-FI" dirty="0" err="1"/>
              <a:t>recorreremos</a:t>
            </a:r>
            <a:r>
              <a:rPr lang="en-FI" dirty="0"/>
              <a:t> paso a paso las 7 </a:t>
            </a:r>
            <a:r>
              <a:rPr lang="en-FI" dirty="0" err="1"/>
              <a:t>fases</a:t>
            </a:r>
            <a:r>
              <a:rPr lang="en-FI" dirty="0"/>
              <a:t> del </a:t>
            </a:r>
            <a:r>
              <a:rPr lang="en-FI" dirty="0" err="1"/>
              <a:t>marco</a:t>
            </a:r>
            <a:r>
              <a:rPr lang="en-FI" dirty="0"/>
              <a:t> </a:t>
            </a:r>
            <a:r>
              <a:rPr lang="en-FI" b="1" dirty="0"/>
              <a:t>PASTA</a:t>
            </a:r>
            <a:r>
              <a:rPr lang="en-FI" dirty="0"/>
              <a:t>, </a:t>
            </a:r>
            <a:r>
              <a:rPr lang="en-FI" dirty="0" err="1"/>
              <a:t>alineando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objetivos</a:t>
            </a:r>
            <a:r>
              <a:rPr lang="en-FI" dirty="0"/>
              <a:t> de </a:t>
            </a:r>
            <a:r>
              <a:rPr lang="en-FI" dirty="0" err="1"/>
              <a:t>negocio</a:t>
            </a:r>
            <a:r>
              <a:rPr lang="en-FI" dirty="0"/>
              <a:t> con el </a:t>
            </a:r>
            <a:r>
              <a:rPr lang="en-FI" dirty="0" err="1"/>
              <a:t>análisis</a:t>
            </a:r>
            <a:r>
              <a:rPr lang="en-FI" dirty="0"/>
              <a:t> </a:t>
            </a:r>
            <a:r>
              <a:rPr lang="en-FI" dirty="0" err="1"/>
              <a:t>técnico</a:t>
            </a:r>
            <a:r>
              <a:rPr lang="en-FI" dirty="0"/>
              <a:t> de </a:t>
            </a:r>
            <a:r>
              <a:rPr lang="en-FI" dirty="0" err="1"/>
              <a:t>riesgos</a:t>
            </a:r>
            <a:r>
              <a:rPr lang="en-FI" dirty="0"/>
              <a:t> e </a:t>
            </a:r>
            <a:r>
              <a:rPr lang="en-FI" dirty="0" err="1"/>
              <a:t>impacto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b="1" dirty="0"/>
              <a:t>Bloque 4: </a:t>
            </a:r>
            <a:r>
              <a:rPr lang="en-FI" b="1" dirty="0" err="1"/>
              <a:t>Taxonomía</a:t>
            </a:r>
            <a:r>
              <a:rPr lang="en-FI" b="1" dirty="0"/>
              <a:t> de </a:t>
            </a:r>
            <a:r>
              <a:rPr lang="en-FI" b="1" dirty="0" err="1"/>
              <a:t>Amenazas</a:t>
            </a:r>
            <a:r>
              <a:rPr lang="en-FI" b="1" dirty="0"/>
              <a:t> (STRIDE) y </a:t>
            </a:r>
            <a:r>
              <a:rPr lang="en-FI" b="1" dirty="0" err="1"/>
              <a:t>Modelos</a:t>
            </a:r>
            <a:r>
              <a:rPr lang="en-FI" b="1" dirty="0"/>
              <a:t> Alternativos</a:t>
            </a:r>
            <a:endParaRPr lang="en-FI" dirty="0"/>
          </a:p>
          <a:p>
            <a:r>
              <a:rPr lang="en-FI" dirty="0" err="1"/>
              <a:t>Desglosaremos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detalle</a:t>
            </a:r>
            <a:r>
              <a:rPr lang="en-FI" dirty="0"/>
              <a:t> el </a:t>
            </a:r>
            <a:r>
              <a:rPr lang="en-FI" dirty="0" err="1"/>
              <a:t>modelo</a:t>
            </a:r>
            <a:r>
              <a:rPr lang="en-FI" dirty="0"/>
              <a:t> </a:t>
            </a:r>
            <a:r>
              <a:rPr lang="en-FI" b="1" dirty="0"/>
              <a:t>STRIDE</a:t>
            </a:r>
            <a:r>
              <a:rPr lang="en-FI" dirty="0"/>
              <a:t> para </a:t>
            </a:r>
            <a:r>
              <a:rPr lang="en-FI" dirty="0" err="1"/>
              <a:t>identificar</a:t>
            </a:r>
            <a:r>
              <a:rPr lang="en-FI" dirty="0"/>
              <a:t> </a:t>
            </a:r>
            <a:r>
              <a:rPr lang="en-FI" dirty="0" err="1"/>
              <a:t>vulnerabilidades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la </a:t>
            </a:r>
            <a:r>
              <a:rPr lang="en-FI" dirty="0" err="1"/>
              <a:t>suplantación</a:t>
            </a:r>
            <a:r>
              <a:rPr lang="en-FI" dirty="0"/>
              <a:t>, </a:t>
            </a:r>
            <a:r>
              <a:rPr lang="en-FI" dirty="0" err="1"/>
              <a:t>alteración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, </a:t>
            </a:r>
            <a:r>
              <a:rPr lang="en-FI" dirty="0" err="1"/>
              <a:t>repudio</a:t>
            </a:r>
            <a:r>
              <a:rPr lang="en-FI" dirty="0"/>
              <a:t> o </a:t>
            </a:r>
            <a:r>
              <a:rPr lang="en-FI" dirty="0" err="1"/>
              <a:t>elevación</a:t>
            </a:r>
            <a:r>
              <a:rPr lang="en-FI" dirty="0"/>
              <a:t> de </a:t>
            </a:r>
            <a:r>
              <a:rPr lang="en-FI" dirty="0" err="1"/>
              <a:t>privilegios</a:t>
            </a:r>
            <a:r>
              <a:rPr lang="en-FI" dirty="0"/>
              <a:t>. </a:t>
            </a:r>
            <a:r>
              <a:rPr lang="en-FI" dirty="0" err="1"/>
              <a:t>Complementaremos</a:t>
            </a:r>
            <a:r>
              <a:rPr lang="en-FI" dirty="0"/>
              <a:t> </a:t>
            </a:r>
            <a:r>
              <a:rPr lang="en-FI" dirty="0" err="1"/>
              <a:t>esto</a:t>
            </a:r>
            <a:r>
              <a:rPr lang="en-FI" dirty="0"/>
              <a:t> con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orientadas</a:t>
            </a:r>
            <a:r>
              <a:rPr lang="en-FI" dirty="0"/>
              <a:t> a </a:t>
            </a:r>
            <a:r>
              <a:rPr lang="en-FI" dirty="0" err="1"/>
              <a:t>activos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b="1" dirty="0"/>
              <a:t>TRIKE</a:t>
            </a:r>
            <a:r>
              <a:rPr lang="en-FI" dirty="0"/>
              <a:t> y la </a:t>
            </a:r>
            <a:r>
              <a:rPr lang="en-FI" dirty="0" err="1"/>
              <a:t>creación</a:t>
            </a:r>
            <a:r>
              <a:rPr lang="en-FI" dirty="0"/>
              <a:t> de </a:t>
            </a:r>
            <a:r>
              <a:rPr lang="en-FI" dirty="0" err="1"/>
              <a:t>diagramas</a:t>
            </a:r>
            <a:r>
              <a:rPr lang="en-FI" dirty="0"/>
              <a:t> de </a:t>
            </a:r>
            <a:r>
              <a:rPr lang="en-FI" dirty="0" err="1"/>
              <a:t>flujo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seguros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b="1" dirty="0"/>
              <a:t>Bloque 5: </a:t>
            </a:r>
            <a:r>
              <a:rPr lang="en-FI" b="1" dirty="0" err="1"/>
              <a:t>Cuantificación</a:t>
            </a:r>
            <a:r>
              <a:rPr lang="en-FI" b="1" dirty="0"/>
              <a:t> del Riesgo y </a:t>
            </a:r>
            <a:r>
              <a:rPr lang="en-FI" b="1" dirty="0" err="1"/>
              <a:t>Métricas</a:t>
            </a:r>
            <a:r>
              <a:rPr lang="en-FI" b="1" dirty="0"/>
              <a:t> de </a:t>
            </a:r>
            <a:r>
              <a:rPr lang="en-FI" b="1" dirty="0" err="1"/>
              <a:t>Severidad</a:t>
            </a:r>
            <a:endParaRPr lang="en-FI" dirty="0"/>
          </a:p>
          <a:p>
            <a:r>
              <a:rPr lang="en-FI" dirty="0" err="1"/>
              <a:t>Aprenderás</a:t>
            </a:r>
            <a:r>
              <a:rPr lang="en-FI" dirty="0"/>
              <a:t> a </a:t>
            </a:r>
            <a:r>
              <a:rPr lang="en-FI" dirty="0" err="1"/>
              <a:t>priorizar</a:t>
            </a:r>
            <a:r>
              <a:rPr lang="en-FI" dirty="0"/>
              <a:t> y </a:t>
            </a:r>
            <a:r>
              <a:rPr lang="en-FI" dirty="0" err="1"/>
              <a:t>medir</a:t>
            </a:r>
            <a:r>
              <a:rPr lang="en-FI" dirty="0"/>
              <a:t> el </a:t>
            </a:r>
            <a:r>
              <a:rPr lang="en-FI" dirty="0" err="1"/>
              <a:t>riesgo</a:t>
            </a:r>
            <a:r>
              <a:rPr lang="en-FI" dirty="0"/>
              <a:t> real de las </a:t>
            </a:r>
            <a:r>
              <a:rPr lang="en-FI" dirty="0" err="1"/>
              <a:t>vulnerabilidades</a:t>
            </a:r>
            <a:r>
              <a:rPr lang="en-FI" dirty="0"/>
              <a:t>. </a:t>
            </a:r>
            <a:r>
              <a:rPr lang="en-FI" dirty="0" err="1"/>
              <a:t>Dominaremos</a:t>
            </a:r>
            <a:r>
              <a:rPr lang="en-FI" dirty="0"/>
              <a:t> el nuevo </a:t>
            </a:r>
            <a:r>
              <a:rPr lang="en-FI" dirty="0" err="1"/>
              <a:t>estándar</a:t>
            </a:r>
            <a:r>
              <a:rPr lang="en-FI" dirty="0"/>
              <a:t> </a:t>
            </a:r>
            <a:r>
              <a:rPr lang="en-FI" b="1" dirty="0"/>
              <a:t>CVSS v4.0</a:t>
            </a:r>
            <a:r>
              <a:rPr lang="en-FI" dirty="0"/>
              <a:t> —</a:t>
            </a:r>
            <a:r>
              <a:rPr lang="en-FI" dirty="0" err="1"/>
              <a:t>analizando</a:t>
            </a:r>
            <a:r>
              <a:rPr lang="en-FI" dirty="0"/>
              <a:t> sus </a:t>
            </a:r>
            <a:r>
              <a:rPr lang="en-FI" dirty="0" err="1"/>
              <a:t>métricas</a:t>
            </a:r>
            <a:r>
              <a:rPr lang="en-FI" dirty="0"/>
              <a:t> base, </a:t>
            </a:r>
            <a:r>
              <a:rPr lang="en-FI" dirty="0" err="1"/>
              <a:t>ambientales</a:t>
            </a:r>
            <a:r>
              <a:rPr lang="en-FI" dirty="0"/>
              <a:t> y </a:t>
            </a:r>
            <a:r>
              <a:rPr lang="en-FI" dirty="0" err="1"/>
              <a:t>suplementarias</a:t>
            </a:r>
            <a:r>
              <a:rPr lang="en-FI" dirty="0"/>
              <a:t>— junto a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cualitativas</a:t>
            </a:r>
            <a:r>
              <a:rPr lang="en-FI" dirty="0"/>
              <a:t> e </a:t>
            </a:r>
            <a:r>
              <a:rPr lang="en-FI" dirty="0" err="1"/>
              <a:t>híbridas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b="1" dirty="0"/>
              <a:t>DREAD</a:t>
            </a:r>
            <a:r>
              <a:rPr lang="en-FI" dirty="0"/>
              <a:t>, </a:t>
            </a:r>
            <a:r>
              <a:rPr lang="en-FI" b="1" dirty="0"/>
              <a:t>OCTAVE</a:t>
            </a:r>
            <a:r>
              <a:rPr lang="en-FI" dirty="0"/>
              <a:t> y </a:t>
            </a:r>
            <a:r>
              <a:rPr lang="en-FI" b="1" dirty="0"/>
              <a:t>QTMM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b="1" dirty="0"/>
              <a:t>Bloque 6: </a:t>
            </a:r>
            <a:r>
              <a:rPr lang="en-FI" b="1" dirty="0" err="1"/>
              <a:t>Tácticas</a:t>
            </a:r>
            <a:r>
              <a:rPr lang="en-FI" b="1" dirty="0"/>
              <a:t> de </a:t>
            </a:r>
            <a:r>
              <a:rPr lang="en-FI" b="1" dirty="0" err="1"/>
              <a:t>Ataque</a:t>
            </a:r>
            <a:r>
              <a:rPr lang="en-FI" b="1" dirty="0"/>
              <a:t> y </a:t>
            </a:r>
            <a:r>
              <a:rPr lang="en-FI" b="1" dirty="0" err="1"/>
              <a:t>Automatización</a:t>
            </a:r>
            <a:r>
              <a:rPr lang="en-FI" b="1" dirty="0"/>
              <a:t> </a:t>
            </a:r>
            <a:r>
              <a:rPr lang="en-FI" b="1" dirty="0" err="1"/>
              <a:t>en</a:t>
            </a:r>
            <a:r>
              <a:rPr lang="en-FI" b="1" dirty="0"/>
              <a:t> </a:t>
            </a:r>
            <a:r>
              <a:rPr lang="en-FI" b="1" dirty="0" err="1"/>
              <a:t>DevSecOps</a:t>
            </a:r>
            <a:endParaRPr lang="en-FI" dirty="0"/>
          </a:p>
          <a:p>
            <a:r>
              <a:rPr lang="en-FI" dirty="0" err="1"/>
              <a:t>Cerramos</a:t>
            </a:r>
            <a:r>
              <a:rPr lang="en-FI" dirty="0"/>
              <a:t> </a:t>
            </a:r>
            <a:r>
              <a:rPr lang="en-FI" dirty="0" err="1"/>
              <a:t>analizando</a:t>
            </a:r>
            <a:r>
              <a:rPr lang="en-FI" dirty="0"/>
              <a:t> el </a:t>
            </a:r>
            <a:r>
              <a:rPr lang="en-FI" dirty="0" err="1"/>
              <a:t>comportamiento</a:t>
            </a:r>
            <a:r>
              <a:rPr lang="en-FI" dirty="0"/>
              <a:t> real del </a:t>
            </a:r>
            <a:r>
              <a:rPr lang="en-FI" dirty="0" err="1"/>
              <a:t>atacante</a:t>
            </a:r>
            <a:r>
              <a:rPr lang="en-FI" dirty="0"/>
              <a:t> </a:t>
            </a:r>
            <a:r>
              <a:rPr lang="en-FI" dirty="0" err="1"/>
              <a:t>mediante</a:t>
            </a:r>
            <a:r>
              <a:rPr lang="en-FI" dirty="0"/>
              <a:t> la </a:t>
            </a:r>
            <a:r>
              <a:rPr lang="en-FI" dirty="0" err="1"/>
              <a:t>matriz</a:t>
            </a:r>
            <a:r>
              <a:rPr lang="en-FI" dirty="0"/>
              <a:t> </a:t>
            </a:r>
            <a:r>
              <a:rPr lang="en-FI" b="1" dirty="0"/>
              <a:t>MITRE ATT&amp;CK</a:t>
            </a:r>
            <a:r>
              <a:rPr lang="en-FI" dirty="0"/>
              <a:t>. </a:t>
            </a:r>
            <a:r>
              <a:rPr lang="en-FI" dirty="0" err="1"/>
              <a:t>Llevaremos</a:t>
            </a:r>
            <a:r>
              <a:rPr lang="en-FI" dirty="0"/>
              <a:t> </a:t>
            </a:r>
            <a:r>
              <a:rPr lang="en-FI" dirty="0" err="1"/>
              <a:t>todo</a:t>
            </a:r>
            <a:r>
              <a:rPr lang="en-FI" dirty="0"/>
              <a:t> </a:t>
            </a:r>
            <a:r>
              <a:rPr lang="en-FI" dirty="0" err="1"/>
              <a:t>esto</a:t>
            </a:r>
            <a:r>
              <a:rPr lang="en-FI" dirty="0"/>
              <a:t> a la </a:t>
            </a:r>
            <a:r>
              <a:rPr lang="en-FI" dirty="0" err="1"/>
              <a:t>práctica</a:t>
            </a:r>
            <a:r>
              <a:rPr lang="en-FI" dirty="0"/>
              <a:t> </a:t>
            </a:r>
            <a:r>
              <a:rPr lang="en-FI" dirty="0" err="1"/>
              <a:t>automatizando</a:t>
            </a:r>
            <a:r>
              <a:rPr lang="en-FI" dirty="0"/>
              <a:t> </a:t>
            </a:r>
            <a:r>
              <a:rPr lang="en-FI" dirty="0" err="1"/>
              <a:t>análisis</a:t>
            </a:r>
            <a:r>
              <a:rPr lang="en-FI" dirty="0"/>
              <a:t> SAST, DAST y SCA </a:t>
            </a:r>
            <a:r>
              <a:rPr lang="en-FI" dirty="0" err="1"/>
              <a:t>directamente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pipelines de CI/CD, </a:t>
            </a:r>
            <a:r>
              <a:rPr lang="en-FI" dirty="0" err="1"/>
              <a:t>fomentando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cultura</a:t>
            </a:r>
            <a:r>
              <a:rPr lang="en-FI" dirty="0"/>
              <a:t> de </a:t>
            </a:r>
            <a:r>
              <a:rPr lang="en-FI" dirty="0" err="1"/>
              <a:t>gobernanza</a:t>
            </a:r>
            <a:r>
              <a:rPr lang="en-FI" dirty="0"/>
              <a:t> con la </a:t>
            </a:r>
            <a:r>
              <a:rPr lang="en-FI" dirty="0" err="1"/>
              <a:t>figura</a:t>
            </a:r>
            <a:r>
              <a:rPr lang="en-FI" dirty="0"/>
              <a:t> del </a:t>
            </a:r>
            <a:r>
              <a:rPr lang="en-FI" i="1" dirty="0"/>
              <a:t>Security Champion</a:t>
            </a:r>
            <a:r>
              <a:rPr lang="en-FI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46670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En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etapa</a:t>
            </a:r>
            <a:r>
              <a:rPr lang="en-FI" dirty="0"/>
              <a:t> </a:t>
            </a:r>
            <a:r>
              <a:rPr lang="en-FI" dirty="0" err="1"/>
              <a:t>inicial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enfocaremos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sentar</a:t>
            </a:r>
            <a:r>
              <a:rPr lang="en-FI" dirty="0"/>
              <a:t> las bases </a:t>
            </a:r>
            <a:r>
              <a:rPr lang="en-FI" dirty="0" err="1"/>
              <a:t>teóricas</a:t>
            </a:r>
            <a:r>
              <a:rPr lang="en-FI" dirty="0"/>
              <a:t>, la </a:t>
            </a:r>
            <a:r>
              <a:rPr lang="en-FI" dirty="0" err="1"/>
              <a:t>arquitectura</a:t>
            </a:r>
            <a:r>
              <a:rPr lang="en-FI" dirty="0"/>
              <a:t> y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marcos</a:t>
            </a:r>
            <a:r>
              <a:rPr lang="en-FI" dirty="0"/>
              <a:t> de </a:t>
            </a:r>
            <a:r>
              <a:rPr lang="en-FI" dirty="0" err="1"/>
              <a:t>gobernanza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permiten</a:t>
            </a:r>
            <a:r>
              <a:rPr lang="en-FI" dirty="0"/>
              <a:t> </a:t>
            </a:r>
            <a:r>
              <a:rPr lang="en-FI" dirty="0" err="1"/>
              <a:t>transformar</a:t>
            </a:r>
            <a:r>
              <a:rPr lang="en-FI" dirty="0"/>
              <a:t> la </a:t>
            </a:r>
            <a:r>
              <a:rPr lang="en-FI" dirty="0" err="1"/>
              <a:t>seguridad</a:t>
            </a:r>
            <a:r>
              <a:rPr lang="en-FI" dirty="0"/>
              <a:t> de un software: </a:t>
            </a:r>
            <a:r>
              <a:rPr lang="en-FI" dirty="0" err="1"/>
              <a:t>dejando</a:t>
            </a:r>
            <a:r>
              <a:rPr lang="en-FI" dirty="0"/>
              <a:t> de </a:t>
            </a:r>
            <a:r>
              <a:rPr lang="en-FI" dirty="0" err="1"/>
              <a:t>verla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un </a:t>
            </a:r>
            <a:r>
              <a:rPr lang="en-FI" dirty="0" err="1"/>
              <a:t>parche</a:t>
            </a:r>
            <a:r>
              <a:rPr lang="en-FI" dirty="0"/>
              <a:t> de </a:t>
            </a:r>
            <a:r>
              <a:rPr lang="en-FI" dirty="0" err="1"/>
              <a:t>último</a:t>
            </a:r>
            <a:r>
              <a:rPr lang="en-FI" dirty="0"/>
              <a:t> </a:t>
            </a:r>
            <a:r>
              <a:rPr lang="en-FI" dirty="0" err="1"/>
              <a:t>momento</a:t>
            </a:r>
            <a:r>
              <a:rPr lang="en-FI" dirty="0"/>
              <a:t> para </a:t>
            </a:r>
            <a:r>
              <a:rPr lang="en-FI" dirty="0" err="1"/>
              <a:t>convertirla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columna vertebral del </a:t>
            </a:r>
            <a:r>
              <a:rPr lang="en-FI" dirty="0" err="1"/>
              <a:t>proceso</a:t>
            </a:r>
            <a:r>
              <a:rPr lang="en-FI" dirty="0"/>
              <a:t> de </a:t>
            </a:r>
            <a:r>
              <a:rPr lang="en-FI" dirty="0" err="1"/>
              <a:t>desarrollo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Durante la </a:t>
            </a:r>
            <a:r>
              <a:rPr lang="en-GB" dirty="0" err="1"/>
              <a:t>segunda</a:t>
            </a:r>
            <a:r>
              <a:rPr lang="en-GB" dirty="0"/>
              <a:t> </a:t>
            </a:r>
            <a:r>
              <a:rPr lang="en-GB" dirty="0" err="1"/>
              <a:t>semana</a:t>
            </a:r>
            <a:r>
              <a:rPr lang="en-GB" dirty="0"/>
              <a:t> del 24 de Agosto hasta el 28 de Agosto c</a:t>
            </a:r>
            <a:r>
              <a:rPr lang="en-FI" dirty="0" err="1"/>
              <a:t>omenzaremos</a:t>
            </a:r>
            <a:r>
              <a:rPr lang="en-FI" dirty="0"/>
              <a:t> </a:t>
            </a:r>
            <a:r>
              <a:rPr lang="en-FI" dirty="0" err="1"/>
              <a:t>abordando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realidad</a:t>
            </a:r>
            <a:r>
              <a:rPr lang="en-FI" dirty="0"/>
              <a:t> </a:t>
            </a:r>
            <a:r>
              <a:rPr lang="en-FI" dirty="0" err="1"/>
              <a:t>crítica</a:t>
            </a:r>
            <a:r>
              <a:rPr lang="en-FI" dirty="0"/>
              <a:t>: ¿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qué</a:t>
            </a:r>
            <a:r>
              <a:rPr lang="en-FI" dirty="0"/>
              <a:t> </a:t>
            </a:r>
            <a:r>
              <a:rPr lang="en-FI" dirty="0" err="1"/>
              <a:t>falla</a:t>
            </a:r>
            <a:r>
              <a:rPr lang="en-FI" dirty="0"/>
              <a:t> el software y </a:t>
            </a:r>
            <a:r>
              <a:rPr lang="en-FI" dirty="0" err="1"/>
              <a:t>cuál</a:t>
            </a:r>
            <a:r>
              <a:rPr lang="en-FI" dirty="0"/>
              <a:t> es el </a:t>
            </a:r>
            <a:r>
              <a:rPr lang="en-FI" dirty="0" err="1"/>
              <a:t>impacto</a:t>
            </a:r>
            <a:r>
              <a:rPr lang="en-FI" dirty="0"/>
              <a:t> </a:t>
            </a:r>
            <a:r>
              <a:rPr lang="en-FI" dirty="0" err="1"/>
              <a:t>económico</a:t>
            </a:r>
            <a:r>
              <a:rPr lang="en-FI" dirty="0"/>
              <a:t> real de la </a:t>
            </a:r>
            <a:r>
              <a:rPr lang="en-FI" dirty="0" err="1"/>
              <a:t>inseguridad</a:t>
            </a:r>
            <a:r>
              <a:rPr lang="en-FI" dirty="0"/>
              <a:t>? </a:t>
            </a:r>
            <a:r>
              <a:rPr lang="en-FI" dirty="0" err="1"/>
              <a:t>Históricamente</a:t>
            </a:r>
            <a:r>
              <a:rPr lang="en-FI" dirty="0"/>
              <a:t>, la </a:t>
            </a:r>
            <a:r>
              <a:rPr lang="en-FI" dirty="0" err="1"/>
              <a:t>seguridad</a:t>
            </a:r>
            <a:r>
              <a:rPr lang="en-FI" dirty="0"/>
              <a:t> se </a:t>
            </a:r>
            <a:r>
              <a:rPr lang="en-FI" dirty="0" err="1"/>
              <a:t>trataba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fase</a:t>
            </a:r>
            <a:r>
              <a:rPr lang="en-FI" dirty="0"/>
              <a:t> </a:t>
            </a:r>
            <a:r>
              <a:rPr lang="en-FI" dirty="0" err="1"/>
              <a:t>aislada</a:t>
            </a:r>
            <a:r>
              <a:rPr lang="en-FI" dirty="0"/>
              <a:t> al final del </a:t>
            </a:r>
            <a:r>
              <a:rPr lang="en-FI" dirty="0" err="1"/>
              <a:t>proyecto</a:t>
            </a:r>
            <a:r>
              <a:rPr lang="en-FI" dirty="0"/>
              <a:t>,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especie</a:t>
            </a:r>
            <a:r>
              <a:rPr lang="en-FI" dirty="0"/>
              <a:t> de "</a:t>
            </a:r>
            <a:r>
              <a:rPr lang="en-FI" dirty="0" err="1"/>
              <a:t>peaje</a:t>
            </a:r>
            <a:r>
              <a:rPr lang="en-FI" dirty="0"/>
              <a:t>" </a:t>
            </a:r>
            <a:r>
              <a:rPr lang="en-FI" dirty="0" err="1"/>
              <a:t>justo</a:t>
            </a:r>
            <a:r>
              <a:rPr lang="en-FI" dirty="0"/>
              <a:t> antes de </a:t>
            </a:r>
            <a:r>
              <a:rPr lang="en-FI" dirty="0" err="1"/>
              <a:t>salir</a:t>
            </a:r>
            <a:r>
              <a:rPr lang="en-FI" dirty="0"/>
              <a:t> a </a:t>
            </a:r>
            <a:r>
              <a:rPr lang="en-FI" dirty="0" err="1"/>
              <a:t>producción</a:t>
            </a:r>
            <a:r>
              <a:rPr lang="en-FI" dirty="0"/>
              <a:t>. Sin embargo, con el </a:t>
            </a:r>
            <a:r>
              <a:rPr lang="en-FI" dirty="0" err="1"/>
              <a:t>ritmo</a:t>
            </a:r>
            <a:r>
              <a:rPr lang="en-FI" dirty="0"/>
              <a:t> </a:t>
            </a:r>
            <a:r>
              <a:rPr lang="en-FI" dirty="0" err="1"/>
              <a:t>acelerado</a:t>
            </a:r>
            <a:r>
              <a:rPr lang="en-FI" dirty="0"/>
              <a:t> de las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ágiles</a:t>
            </a:r>
            <a:r>
              <a:rPr lang="en-FI" dirty="0"/>
              <a:t>,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modelo</a:t>
            </a:r>
            <a:r>
              <a:rPr lang="en-FI" dirty="0"/>
              <a:t> </a:t>
            </a:r>
            <a:r>
              <a:rPr lang="en-FI" dirty="0" err="1"/>
              <a:t>tradicional</a:t>
            </a:r>
            <a:r>
              <a:rPr lang="en-FI" dirty="0"/>
              <a:t> </a:t>
            </a:r>
            <a:r>
              <a:rPr lang="en-FI" dirty="0" err="1"/>
              <a:t>colapsó</a:t>
            </a:r>
            <a:r>
              <a:rPr lang="en-FI" dirty="0"/>
              <a:t>.</a:t>
            </a:r>
          </a:p>
          <a:p>
            <a:r>
              <a:rPr lang="en-FI" dirty="0" err="1"/>
              <a:t>Evolucionaremos</a:t>
            </a:r>
            <a:r>
              <a:rPr lang="en-FI" dirty="0"/>
              <a:t> </a:t>
            </a:r>
            <a:r>
              <a:rPr lang="en-FI" dirty="0" err="1"/>
              <a:t>hacia</a:t>
            </a:r>
            <a:r>
              <a:rPr lang="en-FI" dirty="0"/>
              <a:t> el </a:t>
            </a:r>
            <a:r>
              <a:rPr lang="en-FI" dirty="0" err="1"/>
              <a:t>paradigma</a:t>
            </a:r>
            <a:r>
              <a:rPr lang="en-FI" dirty="0"/>
              <a:t> </a:t>
            </a:r>
            <a:r>
              <a:rPr lang="en-FI" b="1" dirty="0" err="1"/>
              <a:t>DevSecOps</a:t>
            </a:r>
            <a:r>
              <a:rPr lang="en-FI" dirty="0"/>
              <a:t>, </a:t>
            </a:r>
            <a:r>
              <a:rPr lang="en-FI" dirty="0" err="1"/>
              <a:t>comprendiendo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no se </a:t>
            </a:r>
            <a:r>
              <a:rPr lang="en-FI" dirty="0" err="1"/>
              <a:t>trata</a:t>
            </a:r>
            <a:r>
              <a:rPr lang="en-FI" dirty="0"/>
              <a:t> solo de </a:t>
            </a:r>
            <a:r>
              <a:rPr lang="en-FI" dirty="0" err="1"/>
              <a:t>implementar</a:t>
            </a:r>
            <a:r>
              <a:rPr lang="en-FI" dirty="0"/>
              <a:t> </a:t>
            </a:r>
            <a:r>
              <a:rPr lang="en-FI" dirty="0" err="1"/>
              <a:t>herramientas</a:t>
            </a:r>
            <a:r>
              <a:rPr lang="en-FI" dirty="0"/>
              <a:t> </a:t>
            </a:r>
            <a:r>
              <a:rPr lang="en-FI" dirty="0" err="1"/>
              <a:t>automáticas</a:t>
            </a:r>
            <a:r>
              <a:rPr lang="en-FI" dirty="0"/>
              <a:t>, </a:t>
            </a:r>
            <a:r>
              <a:rPr lang="en-FI" dirty="0" err="1"/>
              <a:t>sino</a:t>
            </a:r>
            <a:r>
              <a:rPr lang="en-FI" dirty="0"/>
              <a:t> de </a:t>
            </a:r>
            <a:r>
              <a:rPr lang="en-FI" dirty="0" err="1"/>
              <a:t>adoptar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filosofía</a:t>
            </a:r>
            <a:r>
              <a:rPr lang="en-FI" dirty="0"/>
              <a:t> de </a:t>
            </a:r>
            <a:r>
              <a:rPr lang="en-FI" dirty="0" err="1"/>
              <a:t>trabajo</a:t>
            </a:r>
            <a:r>
              <a:rPr lang="en-FI" dirty="0"/>
              <a:t> continua. </a:t>
            </a:r>
            <a:r>
              <a:rPr lang="en-FI" dirty="0" err="1"/>
              <a:t>Desglosaremos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cuatro </a:t>
            </a:r>
            <a:r>
              <a:rPr lang="en-FI" dirty="0" err="1"/>
              <a:t>pilares</a:t>
            </a:r>
            <a:r>
              <a:rPr lang="en-FI" dirty="0"/>
              <a:t> del </a:t>
            </a:r>
            <a:r>
              <a:rPr lang="en-FI" dirty="0" err="1"/>
              <a:t>modelo</a:t>
            </a:r>
            <a:r>
              <a:rPr lang="en-FI" dirty="0"/>
              <a:t> </a:t>
            </a:r>
            <a:r>
              <a:rPr lang="en-FI" b="1" dirty="0"/>
              <a:t>CAMS</a:t>
            </a:r>
            <a:r>
              <a:rPr lang="en-FI" dirty="0"/>
              <a:t>: la </a:t>
            </a:r>
            <a:r>
              <a:rPr lang="en-FI" b="1" dirty="0"/>
              <a:t>Cultura</a:t>
            </a:r>
            <a:r>
              <a:rPr lang="en-FI" dirty="0"/>
              <a:t> de </a:t>
            </a:r>
            <a:r>
              <a:rPr lang="en-FI" dirty="0" err="1"/>
              <a:t>responsabilidad</a:t>
            </a:r>
            <a:r>
              <a:rPr lang="en-FI" dirty="0"/>
              <a:t> </a:t>
            </a:r>
            <a:r>
              <a:rPr lang="en-FI" dirty="0" err="1"/>
              <a:t>compartida</a:t>
            </a:r>
            <a:r>
              <a:rPr lang="en-FI" dirty="0"/>
              <a:t>, la </a:t>
            </a:r>
            <a:r>
              <a:rPr lang="en-FI" b="1" dirty="0" err="1"/>
              <a:t>Automatización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procesos</a:t>
            </a:r>
            <a:r>
              <a:rPr lang="en-FI" dirty="0"/>
              <a:t>, la </a:t>
            </a:r>
            <a:r>
              <a:rPr lang="en-FI" b="1" dirty="0" err="1"/>
              <a:t>Medición</a:t>
            </a:r>
            <a:r>
              <a:rPr lang="en-FI" dirty="0"/>
              <a:t> </a:t>
            </a:r>
            <a:r>
              <a:rPr lang="en-FI" dirty="0" err="1"/>
              <a:t>constante</a:t>
            </a:r>
            <a:r>
              <a:rPr lang="en-FI" dirty="0"/>
              <a:t> de </a:t>
            </a:r>
            <a:r>
              <a:rPr lang="en-FI" dirty="0" err="1"/>
              <a:t>métricas</a:t>
            </a:r>
            <a:r>
              <a:rPr lang="en-FI" dirty="0"/>
              <a:t> y la </a:t>
            </a:r>
            <a:r>
              <a:rPr lang="en-FI" b="1" dirty="0" err="1"/>
              <a:t>Compartición</a:t>
            </a:r>
            <a:r>
              <a:rPr lang="en-FI" dirty="0"/>
              <a:t> del </a:t>
            </a:r>
            <a:r>
              <a:rPr lang="en-FI" dirty="0" err="1"/>
              <a:t>conocimiento</a:t>
            </a:r>
            <a:r>
              <a:rPr lang="en-FI" dirty="0"/>
              <a:t> entre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equipos</a:t>
            </a:r>
            <a:r>
              <a:rPr lang="en-FI" dirty="0"/>
              <a:t> de </a:t>
            </a:r>
            <a:r>
              <a:rPr lang="en-FI" dirty="0" err="1"/>
              <a:t>desarrollo</a:t>
            </a:r>
            <a:r>
              <a:rPr lang="en-FI" dirty="0"/>
              <a:t>, </a:t>
            </a:r>
            <a:r>
              <a:rPr lang="en-FI" dirty="0" err="1"/>
              <a:t>operaciones</a:t>
            </a:r>
            <a:r>
              <a:rPr lang="en-FI" dirty="0"/>
              <a:t> y </a:t>
            </a:r>
            <a:r>
              <a:rPr lang="en-FI" dirty="0" err="1"/>
              <a:t>seguridad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Con </a:t>
            </a:r>
            <a:r>
              <a:rPr lang="en-FI" dirty="0" err="1"/>
              <a:t>estas</a:t>
            </a:r>
            <a:r>
              <a:rPr lang="en-FI" dirty="0"/>
              <a:t> bases </a:t>
            </a:r>
            <a:r>
              <a:rPr lang="en-FI" dirty="0" err="1"/>
              <a:t>claras</a:t>
            </a:r>
            <a:r>
              <a:rPr lang="en-FI" dirty="0"/>
              <a:t>,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segunda</a:t>
            </a:r>
            <a:r>
              <a:rPr lang="en-FI" dirty="0"/>
              <a:t> </a:t>
            </a:r>
            <a:r>
              <a:rPr lang="en-FI" dirty="0" err="1"/>
              <a:t>mitad</a:t>
            </a:r>
            <a:r>
              <a:rPr lang="en-FI" dirty="0"/>
              <a:t> del Bloque</a:t>
            </a:r>
            <a:r>
              <a:rPr lang="en-GB" dirty="0"/>
              <a:t> del 31 de Agosto hasta el 4 de </a:t>
            </a:r>
            <a:r>
              <a:rPr lang="en-GB" dirty="0" err="1"/>
              <a:t>Septiembre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adentraremos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diseño</a:t>
            </a:r>
            <a:r>
              <a:rPr lang="en-FI" dirty="0"/>
              <a:t> de </a:t>
            </a:r>
            <a:r>
              <a:rPr lang="en-FI" dirty="0" err="1"/>
              <a:t>arquitectura</a:t>
            </a:r>
            <a:r>
              <a:rPr lang="en-FI" dirty="0"/>
              <a:t> bajo el </a:t>
            </a:r>
            <a:r>
              <a:rPr lang="en-FI" dirty="0" err="1"/>
              <a:t>modelo</a:t>
            </a:r>
            <a:r>
              <a:rPr lang="en-FI" dirty="0"/>
              <a:t> de </a:t>
            </a:r>
            <a:r>
              <a:rPr lang="en-FI" b="1" dirty="0"/>
              <a:t>Confianza Cero (Zero Trust)</a:t>
            </a:r>
            <a:r>
              <a:rPr lang="en-FI" dirty="0"/>
              <a:t>. </a:t>
            </a:r>
            <a:r>
              <a:rPr lang="en-FI" dirty="0" err="1"/>
              <a:t>Aprenderemos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llevar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enfoque</a:t>
            </a:r>
            <a:r>
              <a:rPr lang="en-FI" dirty="0"/>
              <a:t> </a:t>
            </a:r>
            <a:r>
              <a:rPr lang="en-FI" dirty="0" err="1"/>
              <a:t>teórico</a:t>
            </a:r>
            <a:r>
              <a:rPr lang="en-FI" dirty="0"/>
              <a:t> </a:t>
            </a:r>
            <a:r>
              <a:rPr lang="en-FI" dirty="0" err="1"/>
              <a:t>directamente</a:t>
            </a:r>
            <a:r>
              <a:rPr lang="en-FI" dirty="0"/>
              <a:t> a la </a:t>
            </a:r>
            <a:r>
              <a:rPr lang="en-FI" dirty="0" err="1"/>
              <a:t>práctica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nuestro</a:t>
            </a:r>
            <a:r>
              <a:rPr lang="en-FI" dirty="0"/>
              <a:t> </a:t>
            </a:r>
            <a:r>
              <a:rPr lang="en-FI" dirty="0" err="1"/>
              <a:t>código</a:t>
            </a:r>
            <a:r>
              <a:rPr lang="en-FI" dirty="0"/>
              <a:t> y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integración</a:t>
            </a:r>
            <a:r>
              <a:rPr lang="en-FI" dirty="0"/>
              <a:t> de APIs, </a:t>
            </a:r>
            <a:r>
              <a:rPr lang="en-FI" dirty="0" err="1"/>
              <a:t>aplicando</a:t>
            </a:r>
            <a:r>
              <a:rPr lang="en-FI" dirty="0"/>
              <a:t> sus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reglas</a:t>
            </a:r>
            <a:r>
              <a:rPr lang="en-FI" dirty="0"/>
              <a:t> de </a:t>
            </a:r>
            <a:r>
              <a:rPr lang="en-FI" dirty="0" err="1"/>
              <a:t>oro</a:t>
            </a:r>
            <a:r>
              <a:rPr lang="en-FI" dirty="0"/>
              <a:t>: </a:t>
            </a:r>
            <a:r>
              <a:rPr lang="en-FI" dirty="0" err="1"/>
              <a:t>verificar</a:t>
            </a:r>
            <a:r>
              <a:rPr lang="en-FI" dirty="0"/>
              <a:t> </a:t>
            </a:r>
            <a:r>
              <a:rPr lang="en-FI" dirty="0" err="1"/>
              <a:t>siempre</a:t>
            </a:r>
            <a:r>
              <a:rPr lang="en-FI" dirty="0"/>
              <a:t> </a:t>
            </a:r>
            <a:r>
              <a:rPr lang="en-FI" dirty="0" err="1"/>
              <a:t>explícitamente</a:t>
            </a:r>
            <a:r>
              <a:rPr lang="en-FI" dirty="0"/>
              <a:t>, </a:t>
            </a:r>
            <a:r>
              <a:rPr lang="en-FI" dirty="0" err="1"/>
              <a:t>otorgar</a:t>
            </a:r>
            <a:r>
              <a:rPr lang="en-FI" dirty="0"/>
              <a:t> </a:t>
            </a:r>
            <a:r>
              <a:rPr lang="en-FI" dirty="0" err="1"/>
              <a:t>únicamente</a:t>
            </a:r>
            <a:r>
              <a:rPr lang="en-FI" dirty="0"/>
              <a:t> el </a:t>
            </a:r>
            <a:r>
              <a:rPr lang="en-FI" dirty="0" err="1"/>
              <a:t>nivel</a:t>
            </a:r>
            <a:r>
              <a:rPr lang="en-FI" dirty="0"/>
              <a:t> de </a:t>
            </a:r>
            <a:r>
              <a:rPr lang="en-FI" dirty="0" err="1"/>
              <a:t>acceso</a:t>
            </a:r>
            <a:r>
              <a:rPr lang="en-FI" dirty="0"/>
              <a:t> de </a:t>
            </a:r>
            <a:r>
              <a:rPr lang="en-FI" dirty="0" err="1"/>
              <a:t>menor</a:t>
            </a:r>
            <a:r>
              <a:rPr lang="en-FI" dirty="0"/>
              <a:t> privilegio y </a:t>
            </a:r>
            <a:r>
              <a:rPr lang="en-FI" dirty="0" err="1"/>
              <a:t>mantener</a:t>
            </a:r>
            <a:r>
              <a:rPr lang="en-FI" dirty="0"/>
              <a:t> la </a:t>
            </a:r>
            <a:r>
              <a:rPr lang="en-FI" dirty="0" err="1"/>
              <a:t>postura</a:t>
            </a:r>
            <a:r>
              <a:rPr lang="en-FI" dirty="0"/>
              <a:t> mental de "</a:t>
            </a:r>
            <a:r>
              <a:rPr lang="en-FI" dirty="0" err="1"/>
              <a:t>asumir</a:t>
            </a:r>
            <a:r>
              <a:rPr lang="en-FI" dirty="0"/>
              <a:t> la </a:t>
            </a:r>
            <a:r>
              <a:rPr lang="en-FI" dirty="0" err="1"/>
              <a:t>brecha</a:t>
            </a:r>
            <a:r>
              <a:rPr lang="en-FI" dirty="0"/>
              <a:t>", o </a:t>
            </a:r>
            <a:r>
              <a:rPr lang="en-FI" i="1" dirty="0"/>
              <a:t>assume breach</a:t>
            </a:r>
            <a:r>
              <a:rPr lang="en-FI" dirty="0"/>
              <a:t>, </a:t>
            </a:r>
            <a:r>
              <a:rPr lang="en-FI" dirty="0" err="1"/>
              <a:t>preparando</a:t>
            </a:r>
            <a:r>
              <a:rPr lang="en-FI" dirty="0"/>
              <a:t> a </a:t>
            </a:r>
            <a:r>
              <a:rPr lang="en-FI" dirty="0" err="1"/>
              <a:t>nuestros</a:t>
            </a:r>
            <a:r>
              <a:rPr lang="en-FI" dirty="0"/>
              <a:t> </a:t>
            </a:r>
            <a:r>
              <a:rPr lang="en-FI" dirty="0" err="1"/>
              <a:t>sistemas</a:t>
            </a:r>
            <a:r>
              <a:rPr lang="en-FI" dirty="0"/>
              <a:t> para </a:t>
            </a:r>
            <a:r>
              <a:rPr lang="en-FI" dirty="0" err="1"/>
              <a:t>resistir</a:t>
            </a:r>
            <a:r>
              <a:rPr lang="en-FI" dirty="0"/>
              <a:t> </a:t>
            </a:r>
            <a:r>
              <a:rPr lang="en-FI" dirty="0" err="1"/>
              <a:t>incluso</a:t>
            </a:r>
            <a:r>
              <a:rPr lang="en-FI" dirty="0"/>
              <a:t> </a:t>
            </a:r>
            <a:r>
              <a:rPr lang="en-FI" dirty="0" err="1"/>
              <a:t>cuando</a:t>
            </a:r>
            <a:r>
              <a:rPr lang="en-FI" dirty="0"/>
              <a:t> el </a:t>
            </a:r>
            <a:r>
              <a:rPr lang="en-FI" dirty="0" err="1"/>
              <a:t>perímetro</a:t>
            </a:r>
            <a:r>
              <a:rPr lang="en-FI" dirty="0"/>
              <a:t> </a:t>
            </a:r>
            <a:r>
              <a:rPr lang="en-FI" dirty="0" err="1"/>
              <a:t>haya</a:t>
            </a:r>
            <a:r>
              <a:rPr lang="en-FI" dirty="0"/>
              <a:t> </a:t>
            </a:r>
            <a:r>
              <a:rPr lang="en-FI" dirty="0" err="1"/>
              <a:t>sido</a:t>
            </a:r>
            <a:r>
              <a:rPr lang="en-FI" dirty="0"/>
              <a:t> </a:t>
            </a:r>
            <a:r>
              <a:rPr lang="en-FI" dirty="0" err="1"/>
              <a:t>traspasado</a:t>
            </a:r>
            <a:r>
              <a:rPr lang="en-FI" dirty="0"/>
              <a:t>.</a:t>
            </a:r>
          </a:p>
          <a:p>
            <a:r>
              <a:rPr lang="en-FI" dirty="0"/>
              <a:t>Para </a:t>
            </a:r>
            <a:r>
              <a:rPr lang="en-FI" dirty="0" err="1"/>
              <a:t>cerrar</a:t>
            </a:r>
            <a:r>
              <a:rPr lang="en-FI" dirty="0"/>
              <a:t> el </a:t>
            </a:r>
            <a:r>
              <a:rPr lang="en-FI" dirty="0" err="1"/>
              <a:t>bloque</a:t>
            </a:r>
            <a:r>
              <a:rPr lang="en-FI" dirty="0"/>
              <a:t> y </a:t>
            </a:r>
            <a:r>
              <a:rPr lang="en-FI" dirty="0" err="1"/>
              <a:t>darle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estructura</a:t>
            </a:r>
            <a:r>
              <a:rPr lang="en-FI" dirty="0"/>
              <a:t> </a:t>
            </a:r>
            <a:r>
              <a:rPr lang="en-FI" dirty="0" err="1"/>
              <a:t>institucional</a:t>
            </a:r>
            <a:r>
              <a:rPr lang="en-FI" dirty="0"/>
              <a:t> </a:t>
            </a:r>
            <a:r>
              <a:rPr lang="en-FI" dirty="0" err="1"/>
              <a:t>sólida</a:t>
            </a:r>
            <a:r>
              <a:rPr lang="en-FI" dirty="0"/>
              <a:t> a </a:t>
            </a:r>
            <a:r>
              <a:rPr lang="en-FI" dirty="0" err="1"/>
              <a:t>todo</a:t>
            </a:r>
            <a:r>
              <a:rPr lang="en-FI" dirty="0"/>
              <a:t> </a:t>
            </a:r>
            <a:r>
              <a:rPr lang="en-FI" dirty="0" err="1"/>
              <a:t>esto</a:t>
            </a:r>
            <a:r>
              <a:rPr lang="en-FI" dirty="0"/>
              <a:t>, </a:t>
            </a:r>
            <a:r>
              <a:rPr lang="en-FI" dirty="0" err="1"/>
              <a:t>analizaremos</a:t>
            </a:r>
            <a:r>
              <a:rPr lang="en-FI" dirty="0"/>
              <a:t> el </a:t>
            </a:r>
            <a:r>
              <a:rPr lang="en-FI" b="1" dirty="0"/>
              <a:t>MSSDL</a:t>
            </a:r>
            <a:r>
              <a:rPr lang="en-FI" dirty="0"/>
              <a:t>, el Ciclo de Vida de Desarrollo Seguro de Microsoft. </a:t>
            </a:r>
            <a:r>
              <a:rPr lang="en-FI" dirty="0" err="1"/>
              <a:t>Recorreremos</a:t>
            </a:r>
            <a:r>
              <a:rPr lang="en-FI" dirty="0"/>
              <a:t> </a:t>
            </a:r>
            <a:r>
              <a:rPr lang="en-FI" dirty="0" err="1"/>
              <a:t>detalladamente</a:t>
            </a:r>
            <a:r>
              <a:rPr lang="en-FI" dirty="0"/>
              <a:t> sus seis </a:t>
            </a:r>
            <a:r>
              <a:rPr lang="en-FI" dirty="0" err="1"/>
              <a:t>fases</a:t>
            </a:r>
            <a:r>
              <a:rPr lang="en-FI" dirty="0"/>
              <a:t> </a:t>
            </a:r>
            <a:r>
              <a:rPr lang="en-FI" dirty="0" err="1"/>
              <a:t>obligatorias</a:t>
            </a:r>
            <a:r>
              <a:rPr lang="en-FI" dirty="0"/>
              <a:t>: </a:t>
            </a:r>
            <a:r>
              <a:rPr lang="en-FI" dirty="0" err="1"/>
              <a:t>desde</a:t>
            </a:r>
            <a:r>
              <a:rPr lang="en-FI" dirty="0"/>
              <a:t> la </a:t>
            </a:r>
            <a:r>
              <a:rPr lang="en-FI" dirty="0" err="1"/>
              <a:t>definición</a:t>
            </a:r>
            <a:r>
              <a:rPr lang="en-FI" dirty="0"/>
              <a:t> </a:t>
            </a:r>
            <a:r>
              <a:rPr lang="en-FI" dirty="0" err="1"/>
              <a:t>inicial</a:t>
            </a:r>
            <a:r>
              <a:rPr lang="en-FI" dirty="0"/>
              <a:t> de </a:t>
            </a:r>
            <a:r>
              <a:rPr lang="en-FI" b="1" dirty="0"/>
              <a:t>Requerimientos</a:t>
            </a:r>
            <a:r>
              <a:rPr lang="en-FI" dirty="0"/>
              <a:t> y </a:t>
            </a:r>
            <a:r>
              <a:rPr lang="en-FI" b="1" dirty="0" err="1"/>
              <a:t>Diseño</a:t>
            </a:r>
            <a:r>
              <a:rPr lang="en-FI" dirty="0"/>
              <a:t>, </a:t>
            </a:r>
            <a:r>
              <a:rPr lang="en-FI" dirty="0" err="1"/>
              <a:t>pasando</a:t>
            </a:r>
            <a:r>
              <a:rPr lang="en-FI" dirty="0"/>
              <a:t> </a:t>
            </a:r>
            <a:r>
              <a:rPr lang="en-FI" dirty="0" err="1"/>
              <a:t>por</a:t>
            </a:r>
            <a:r>
              <a:rPr lang="en-FI" dirty="0"/>
              <a:t> la </a:t>
            </a:r>
            <a:r>
              <a:rPr lang="en-FI" b="1" dirty="0" err="1"/>
              <a:t>Codificación</a:t>
            </a:r>
            <a:r>
              <a:rPr lang="en-FI" dirty="0"/>
              <a:t> y </a:t>
            </a:r>
            <a:r>
              <a:rPr lang="en-FI" b="1" dirty="0" err="1"/>
              <a:t>Verificación</a:t>
            </a:r>
            <a:r>
              <a:rPr lang="en-FI" dirty="0"/>
              <a:t>, hasta </a:t>
            </a:r>
            <a:r>
              <a:rPr lang="en-FI" dirty="0" err="1"/>
              <a:t>llegar</a:t>
            </a:r>
            <a:r>
              <a:rPr lang="en-FI" dirty="0"/>
              <a:t> a las </a:t>
            </a:r>
            <a:r>
              <a:rPr lang="en-FI" dirty="0" err="1"/>
              <a:t>etapas</a:t>
            </a:r>
            <a:r>
              <a:rPr lang="en-FI" dirty="0"/>
              <a:t> clave de </a:t>
            </a:r>
            <a:r>
              <a:rPr lang="en-FI" b="1" dirty="0" err="1"/>
              <a:t>Lanzamiento</a:t>
            </a:r>
            <a:r>
              <a:rPr lang="en-FI" dirty="0"/>
              <a:t> y la </a:t>
            </a:r>
            <a:r>
              <a:rPr lang="en-FI" b="1" dirty="0"/>
              <a:t>Respuesta</a:t>
            </a:r>
            <a:r>
              <a:rPr lang="en-FI" dirty="0"/>
              <a:t> </a:t>
            </a:r>
            <a:r>
              <a:rPr lang="en-FI" dirty="0" err="1"/>
              <a:t>estructurada</a:t>
            </a:r>
            <a:r>
              <a:rPr lang="en-FI" dirty="0"/>
              <a:t> ante </a:t>
            </a:r>
            <a:r>
              <a:rPr lang="en-FI" dirty="0" err="1"/>
              <a:t>incidentes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Al </a:t>
            </a:r>
            <a:r>
              <a:rPr lang="en-FI" dirty="0" err="1"/>
              <a:t>terminar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primer </a:t>
            </a:r>
            <a:r>
              <a:rPr lang="en-FI" dirty="0" err="1"/>
              <a:t>bloque</a:t>
            </a:r>
            <a:r>
              <a:rPr lang="en-FI" dirty="0"/>
              <a:t>, </a:t>
            </a:r>
            <a:r>
              <a:rPr lang="en-FI" dirty="0" err="1"/>
              <a:t>tendrás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visión</a:t>
            </a:r>
            <a:r>
              <a:rPr lang="en-FI" dirty="0"/>
              <a:t> completa y </a:t>
            </a:r>
            <a:r>
              <a:rPr lang="en-FI" dirty="0" err="1"/>
              <a:t>estructurada</a:t>
            </a:r>
            <a:r>
              <a:rPr lang="en-FI" dirty="0"/>
              <a:t> </a:t>
            </a:r>
            <a:r>
              <a:rPr lang="en-FI" dirty="0" err="1"/>
              <a:t>sobre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se </a:t>
            </a:r>
            <a:r>
              <a:rPr lang="en-FI" dirty="0" err="1"/>
              <a:t>diseña</a:t>
            </a:r>
            <a:r>
              <a:rPr lang="en-FI" dirty="0"/>
              <a:t> e </a:t>
            </a:r>
            <a:r>
              <a:rPr lang="en-FI" dirty="0" err="1"/>
              <a:t>implementa</a:t>
            </a:r>
            <a:r>
              <a:rPr lang="en-FI" dirty="0"/>
              <a:t> la </a:t>
            </a:r>
            <a:r>
              <a:rPr lang="en-FI" dirty="0" err="1"/>
              <a:t>gobernanza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software </a:t>
            </a:r>
            <a:r>
              <a:rPr lang="en-FI" dirty="0" err="1"/>
              <a:t>moderno</a:t>
            </a:r>
            <a:r>
              <a:rPr lang="en-FI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11650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FI" dirty="0"/>
              <a:t>n el </a:t>
            </a:r>
            <a:r>
              <a:rPr lang="en-FI" dirty="0" err="1"/>
              <a:t>bloque</a:t>
            </a:r>
            <a:r>
              <a:rPr lang="en-FI" dirty="0"/>
              <a:t> anterior </a:t>
            </a:r>
            <a:r>
              <a:rPr lang="en-FI" dirty="0" err="1"/>
              <a:t>establecimos</a:t>
            </a:r>
            <a:r>
              <a:rPr lang="en-FI" dirty="0"/>
              <a:t> las bases de la </a:t>
            </a:r>
            <a:r>
              <a:rPr lang="en-FI" dirty="0" err="1"/>
              <a:t>gobernanza</a:t>
            </a:r>
            <a:r>
              <a:rPr lang="en-FI" dirty="0"/>
              <a:t> y la </a:t>
            </a:r>
            <a:r>
              <a:rPr lang="en-FI" dirty="0" err="1"/>
              <a:t>cultura</a:t>
            </a:r>
            <a:r>
              <a:rPr lang="en-FI" dirty="0"/>
              <a:t>, </a:t>
            </a:r>
            <a:r>
              <a:rPr lang="en-FI" dirty="0" err="1"/>
              <a:t>aquí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vamos</a:t>
            </a:r>
            <a:r>
              <a:rPr lang="en-FI" dirty="0"/>
              <a:t> a meter de </a:t>
            </a:r>
            <a:r>
              <a:rPr lang="en-FI" dirty="0" err="1"/>
              <a:t>lleno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terreno</a:t>
            </a:r>
            <a:r>
              <a:rPr lang="en-FI" dirty="0"/>
              <a:t> </a:t>
            </a:r>
            <a:r>
              <a:rPr lang="en-FI" dirty="0" err="1"/>
              <a:t>táctico</a:t>
            </a:r>
            <a:r>
              <a:rPr lang="en-FI" dirty="0"/>
              <a:t>. </a:t>
            </a:r>
            <a:r>
              <a:rPr lang="en-FI" dirty="0" err="1"/>
              <a:t>Entraremos</a:t>
            </a:r>
            <a:r>
              <a:rPr lang="en-FI" dirty="0"/>
              <a:t> al </a:t>
            </a:r>
            <a:r>
              <a:rPr lang="en-FI" b="1" dirty="0" err="1"/>
              <a:t>Ecosistema</a:t>
            </a:r>
            <a:r>
              <a:rPr lang="en-FI" b="1" dirty="0"/>
              <a:t> OWASP</a:t>
            </a:r>
            <a:r>
              <a:rPr lang="en-FI" dirty="0"/>
              <a:t> y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construir</a:t>
            </a:r>
            <a:r>
              <a:rPr lang="en-FI" dirty="0"/>
              <a:t> </a:t>
            </a:r>
            <a:r>
              <a:rPr lang="en-FI" dirty="0" err="1"/>
              <a:t>defensas</a:t>
            </a:r>
            <a:r>
              <a:rPr lang="en-FI" dirty="0"/>
              <a:t> </a:t>
            </a:r>
            <a:r>
              <a:rPr lang="en-FI" dirty="0" err="1"/>
              <a:t>proactivas</a:t>
            </a:r>
            <a:r>
              <a:rPr lang="en-FI" dirty="0"/>
              <a:t> para </a:t>
            </a:r>
            <a:r>
              <a:rPr lang="en-FI" dirty="0" err="1"/>
              <a:t>hacer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nuestro</a:t>
            </a:r>
            <a:r>
              <a:rPr lang="en-FI" dirty="0"/>
              <a:t> software sea </a:t>
            </a:r>
            <a:r>
              <a:rPr lang="en-FI" dirty="0" err="1"/>
              <a:t>resistente</a:t>
            </a:r>
            <a:r>
              <a:rPr lang="en-FI" dirty="0"/>
              <a:t> 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diseño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Durante la </a:t>
            </a:r>
            <a:r>
              <a:rPr lang="en-GB" dirty="0" err="1"/>
              <a:t>semana</a:t>
            </a:r>
            <a:r>
              <a:rPr lang="en-GB" dirty="0"/>
              <a:t> del 7 de </a:t>
            </a:r>
            <a:r>
              <a:rPr lang="en-GB" dirty="0" err="1"/>
              <a:t>Septiembre</a:t>
            </a:r>
            <a:r>
              <a:rPr lang="en-GB" dirty="0"/>
              <a:t> al 11 de </a:t>
            </a:r>
            <a:r>
              <a:rPr lang="en-GB" dirty="0" err="1"/>
              <a:t>Septiembre</a:t>
            </a:r>
            <a:r>
              <a:rPr lang="en-GB" dirty="0"/>
              <a:t> d</a:t>
            </a:r>
            <a:r>
              <a:rPr lang="en-FI" dirty="0" err="1"/>
              <a:t>aremos</a:t>
            </a:r>
            <a:r>
              <a:rPr lang="en-FI" dirty="0"/>
              <a:t> </a:t>
            </a:r>
            <a:r>
              <a:rPr lang="en-FI" dirty="0" err="1"/>
              <a:t>inicio</a:t>
            </a:r>
            <a:r>
              <a:rPr lang="en-FI" dirty="0"/>
              <a:t> a la </a:t>
            </a:r>
            <a:r>
              <a:rPr lang="en-FI" dirty="0" err="1"/>
              <a:t>tercera</a:t>
            </a:r>
            <a:r>
              <a:rPr lang="en-FI" dirty="0"/>
              <a:t> </a:t>
            </a:r>
            <a:r>
              <a:rPr lang="en-FI" dirty="0" err="1"/>
              <a:t>semana</a:t>
            </a:r>
            <a:r>
              <a:rPr lang="en-FI" dirty="0"/>
              <a:t> </a:t>
            </a:r>
            <a:r>
              <a:rPr lang="en-FI" dirty="0" err="1"/>
              <a:t>explorando</a:t>
            </a:r>
            <a:r>
              <a:rPr lang="en-FI" dirty="0"/>
              <a:t> el </a:t>
            </a:r>
            <a:r>
              <a:rPr lang="en-FI" dirty="0" err="1"/>
              <a:t>universo</a:t>
            </a:r>
            <a:r>
              <a:rPr lang="en-FI" dirty="0"/>
              <a:t> de </a:t>
            </a:r>
            <a:r>
              <a:rPr lang="en-FI" b="1" dirty="0"/>
              <a:t>OWASP</a:t>
            </a:r>
            <a:r>
              <a:rPr lang="en-FI" dirty="0"/>
              <a:t>, la Open Worldwide Application Security Project. OWASP no es solo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lista</a:t>
            </a:r>
            <a:r>
              <a:rPr lang="en-FI" dirty="0"/>
              <a:t> de </a:t>
            </a:r>
            <a:r>
              <a:rPr lang="en-FI" dirty="0" err="1"/>
              <a:t>vulnerabilidades</a:t>
            </a:r>
            <a:r>
              <a:rPr lang="en-FI" dirty="0"/>
              <a:t>; es la comunidad </a:t>
            </a:r>
            <a:r>
              <a:rPr lang="en-FI" dirty="0" err="1"/>
              <a:t>colaborativa</a:t>
            </a:r>
            <a:r>
              <a:rPr lang="en-FI" dirty="0"/>
              <a:t> global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importante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seguridad</a:t>
            </a:r>
            <a:r>
              <a:rPr lang="en-FI" dirty="0"/>
              <a:t> de software. </a:t>
            </a:r>
            <a:r>
              <a:rPr lang="en-FI" dirty="0" err="1"/>
              <a:t>Analizaremos</a:t>
            </a:r>
            <a:r>
              <a:rPr lang="en-FI" dirty="0"/>
              <a:t> </a:t>
            </a:r>
            <a:r>
              <a:rPr lang="en-FI" dirty="0" err="1"/>
              <a:t>su</a:t>
            </a:r>
            <a:r>
              <a:rPr lang="en-FI" dirty="0"/>
              <a:t> </a:t>
            </a:r>
            <a:r>
              <a:rPr lang="en-FI" dirty="0" err="1"/>
              <a:t>filosofía</a:t>
            </a:r>
            <a:r>
              <a:rPr lang="en-FI" dirty="0"/>
              <a:t>, </a:t>
            </a:r>
            <a:r>
              <a:rPr lang="en-FI" dirty="0" err="1"/>
              <a:t>su</a:t>
            </a:r>
            <a:r>
              <a:rPr lang="en-FI" dirty="0"/>
              <a:t> </a:t>
            </a:r>
            <a:r>
              <a:rPr lang="en-FI" dirty="0" err="1"/>
              <a:t>estructura</a:t>
            </a:r>
            <a:r>
              <a:rPr lang="en-FI" dirty="0"/>
              <a:t> y la </a:t>
            </a:r>
            <a:r>
              <a:rPr lang="en-FI" dirty="0" err="1"/>
              <a:t>enorme</a:t>
            </a:r>
            <a:r>
              <a:rPr lang="en-FI" dirty="0"/>
              <a:t> </a:t>
            </a:r>
            <a:r>
              <a:rPr lang="en-FI" dirty="0" err="1"/>
              <a:t>cantidad</a:t>
            </a:r>
            <a:r>
              <a:rPr lang="en-FI" dirty="0"/>
              <a:t> de </a:t>
            </a:r>
            <a:r>
              <a:rPr lang="en-FI" dirty="0" err="1"/>
              <a:t>recursos</a:t>
            </a:r>
            <a:r>
              <a:rPr lang="en-FI" dirty="0"/>
              <a:t> </a:t>
            </a:r>
            <a:r>
              <a:rPr lang="en-FI" dirty="0" err="1"/>
              <a:t>gratuitos</a:t>
            </a:r>
            <a:r>
              <a:rPr lang="en-FI" dirty="0"/>
              <a:t>, </a:t>
            </a:r>
            <a:r>
              <a:rPr lang="en-FI" dirty="0" err="1"/>
              <a:t>proyectos</a:t>
            </a:r>
            <a:r>
              <a:rPr lang="en-FI" dirty="0"/>
              <a:t>, </a:t>
            </a:r>
            <a:r>
              <a:rPr lang="en-FI" dirty="0" err="1"/>
              <a:t>estándares</a:t>
            </a:r>
            <a:r>
              <a:rPr lang="en-FI" dirty="0"/>
              <a:t> y </a:t>
            </a:r>
            <a:r>
              <a:rPr lang="en-FI" dirty="0" err="1"/>
              <a:t>herramientas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ponen</a:t>
            </a:r>
            <a:r>
              <a:rPr lang="en-FI" dirty="0"/>
              <a:t> a </a:t>
            </a:r>
            <a:r>
              <a:rPr lang="en-FI" dirty="0" err="1"/>
              <a:t>disposición</a:t>
            </a:r>
            <a:r>
              <a:rPr lang="en-FI" dirty="0"/>
              <a:t> de la </a:t>
            </a:r>
            <a:r>
              <a:rPr lang="en-FI" dirty="0" err="1"/>
              <a:t>industria</a:t>
            </a:r>
            <a:r>
              <a:rPr lang="en-FI" dirty="0"/>
              <a:t> para </a:t>
            </a:r>
            <a:r>
              <a:rPr lang="en-FI" dirty="0" err="1"/>
              <a:t>combatir</a:t>
            </a:r>
            <a:r>
              <a:rPr lang="en-FI" dirty="0"/>
              <a:t> la </a:t>
            </a:r>
            <a:r>
              <a:rPr lang="en-FI" dirty="0" err="1"/>
              <a:t>raíz</a:t>
            </a:r>
            <a:r>
              <a:rPr lang="en-FI" dirty="0"/>
              <a:t> de la </a:t>
            </a:r>
            <a:r>
              <a:rPr lang="en-FI" dirty="0" err="1"/>
              <a:t>inseguridad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código</a:t>
            </a:r>
            <a:r>
              <a:rPr lang="en-FI" dirty="0"/>
              <a:t>.</a:t>
            </a:r>
            <a:r>
              <a:rPr lang="en-GB" dirty="0"/>
              <a:t> </a:t>
            </a:r>
            <a:r>
              <a:rPr lang="en-FI" dirty="0" err="1"/>
              <a:t>Veremos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aprovechar</a:t>
            </a:r>
            <a:r>
              <a:rPr lang="en-FI" dirty="0"/>
              <a:t> </a:t>
            </a:r>
            <a:r>
              <a:rPr lang="en-FI" dirty="0" err="1"/>
              <a:t>estas</a:t>
            </a:r>
            <a:r>
              <a:rPr lang="en-FI" dirty="0"/>
              <a:t> </a:t>
            </a:r>
            <a:r>
              <a:rPr lang="en-FI" dirty="0" err="1"/>
              <a:t>guías</a:t>
            </a:r>
            <a:r>
              <a:rPr lang="en-FI" dirty="0"/>
              <a:t> y </a:t>
            </a:r>
            <a:r>
              <a:rPr lang="en-FI" dirty="0" err="1"/>
              <a:t>herramientas</a:t>
            </a:r>
            <a:r>
              <a:rPr lang="en-FI" dirty="0"/>
              <a:t> para </a:t>
            </a:r>
            <a:r>
              <a:rPr lang="en-FI" dirty="0" err="1"/>
              <a:t>implementar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verdadera</a:t>
            </a:r>
            <a:r>
              <a:rPr lang="en-FI" dirty="0"/>
              <a:t> </a:t>
            </a:r>
            <a:r>
              <a:rPr lang="en-FI" dirty="0" err="1"/>
              <a:t>gestión</a:t>
            </a:r>
            <a:r>
              <a:rPr lang="en-FI" dirty="0"/>
              <a:t> de </a:t>
            </a:r>
            <a:r>
              <a:rPr lang="en-FI" dirty="0" err="1"/>
              <a:t>vulnerabilidades</a:t>
            </a:r>
            <a:r>
              <a:rPr lang="en-FI" dirty="0"/>
              <a:t>, </a:t>
            </a:r>
            <a:r>
              <a:rPr lang="en-FI" dirty="0" err="1"/>
              <a:t>entendiendo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se </a:t>
            </a:r>
            <a:r>
              <a:rPr lang="en-FI" dirty="0" err="1"/>
              <a:t>descubren</a:t>
            </a:r>
            <a:r>
              <a:rPr lang="en-FI" dirty="0"/>
              <a:t>, </a:t>
            </a:r>
            <a:r>
              <a:rPr lang="en-FI" dirty="0" err="1"/>
              <a:t>clasifican</a:t>
            </a:r>
            <a:r>
              <a:rPr lang="en-FI" dirty="0"/>
              <a:t> y </a:t>
            </a:r>
            <a:r>
              <a:rPr lang="en-FI" dirty="0" err="1"/>
              <a:t>mitigan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fallos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comunes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las </a:t>
            </a:r>
            <a:r>
              <a:rPr lang="en-FI" dirty="0" err="1"/>
              <a:t>aplicaciones</a:t>
            </a:r>
            <a:r>
              <a:rPr lang="en-FI" dirty="0"/>
              <a:t> </a:t>
            </a:r>
            <a:r>
              <a:rPr lang="en-FI" dirty="0" err="1"/>
              <a:t>modernas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GB" dirty="0"/>
              <a:t>Y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esa</a:t>
            </a:r>
            <a:r>
              <a:rPr lang="en-GB" dirty="0"/>
              <a:t> </a:t>
            </a:r>
            <a:r>
              <a:rPr lang="en-GB" dirty="0" err="1"/>
              <a:t>misma</a:t>
            </a:r>
            <a:r>
              <a:rPr lang="en-GB" dirty="0"/>
              <a:t> </a:t>
            </a:r>
            <a:r>
              <a:rPr lang="en-GB" dirty="0" err="1"/>
              <a:t>semana</a:t>
            </a:r>
            <a:r>
              <a:rPr lang="en-GB" dirty="0"/>
              <a:t> </a:t>
            </a:r>
            <a:r>
              <a:rPr lang="en-GB" dirty="0" err="1"/>
              <a:t>agregaremos</a:t>
            </a:r>
            <a:r>
              <a:rPr lang="en-GB" dirty="0"/>
              <a:t> </a:t>
            </a:r>
            <a:r>
              <a:rPr lang="en-FI" dirty="0"/>
              <a:t>el </a:t>
            </a:r>
            <a:r>
              <a:rPr lang="en-FI" dirty="0" err="1"/>
              <a:t>conocimiento</a:t>
            </a:r>
            <a:r>
              <a:rPr lang="en-FI" dirty="0"/>
              <a:t> del </a:t>
            </a:r>
            <a:r>
              <a:rPr lang="en-FI" dirty="0" err="1"/>
              <a:t>ecosistema</a:t>
            </a:r>
            <a:r>
              <a:rPr lang="en-FI" dirty="0"/>
              <a:t> OWASP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respaldo</a:t>
            </a:r>
            <a:r>
              <a:rPr lang="en-FI" dirty="0"/>
              <a:t>,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cuarta</a:t>
            </a:r>
            <a:r>
              <a:rPr lang="en-FI" dirty="0"/>
              <a:t> </a:t>
            </a:r>
            <a:r>
              <a:rPr lang="en-FI" dirty="0" err="1"/>
              <a:t>semana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enfocaremos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b="1" dirty="0" err="1"/>
              <a:t>Controles</a:t>
            </a:r>
            <a:r>
              <a:rPr lang="en-FI" b="1" dirty="0"/>
              <a:t> </a:t>
            </a:r>
            <a:r>
              <a:rPr lang="en-FI" b="1" dirty="0" err="1"/>
              <a:t>Proactivos</a:t>
            </a:r>
            <a:r>
              <a:rPr lang="en-FI" dirty="0"/>
              <a:t> y la </a:t>
            </a:r>
            <a:r>
              <a:rPr lang="en-FI" dirty="0" err="1"/>
              <a:t>estrategia</a:t>
            </a:r>
            <a:r>
              <a:rPr lang="en-FI" dirty="0"/>
              <a:t> de </a:t>
            </a:r>
            <a:r>
              <a:rPr lang="en-FI" b="1" dirty="0"/>
              <a:t>Defensa </a:t>
            </a:r>
            <a:r>
              <a:rPr lang="en-FI" b="1" dirty="0" err="1"/>
              <a:t>en</a:t>
            </a:r>
            <a:r>
              <a:rPr lang="en-FI" b="1" dirty="0"/>
              <a:t> </a:t>
            </a:r>
            <a:r>
              <a:rPr lang="en-FI" b="1" dirty="0" err="1"/>
              <a:t>Profundidad</a:t>
            </a:r>
            <a:r>
              <a:rPr lang="en-FI" dirty="0"/>
              <a:t>. La idea </a:t>
            </a:r>
            <a:r>
              <a:rPr lang="en-FI" dirty="0" err="1"/>
              <a:t>aquí</a:t>
            </a:r>
            <a:r>
              <a:rPr lang="en-FI" dirty="0"/>
              <a:t> es simple </a:t>
            </a:r>
            <a:r>
              <a:rPr lang="en-FI" dirty="0" err="1"/>
              <a:t>pero</a:t>
            </a:r>
            <a:r>
              <a:rPr lang="en-FI" dirty="0"/>
              <a:t> </a:t>
            </a:r>
            <a:r>
              <a:rPr lang="en-FI" dirty="0" err="1"/>
              <a:t>poderosa</a:t>
            </a:r>
            <a:r>
              <a:rPr lang="en-FI" dirty="0"/>
              <a:t>: no </a:t>
            </a:r>
            <a:r>
              <a:rPr lang="en-FI" dirty="0" err="1"/>
              <a:t>confiamos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sola </a:t>
            </a:r>
            <a:r>
              <a:rPr lang="en-FI" dirty="0" err="1"/>
              <a:t>capa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.</a:t>
            </a:r>
            <a:r>
              <a:rPr lang="en-GB" dirty="0"/>
              <a:t> </a:t>
            </a:r>
            <a:r>
              <a:rPr lang="en-FI" dirty="0" err="1"/>
              <a:t>Aprenderemos</a:t>
            </a:r>
            <a:r>
              <a:rPr lang="en-FI" dirty="0"/>
              <a:t> la </a:t>
            </a:r>
            <a:r>
              <a:rPr lang="en-FI" dirty="0" err="1"/>
              <a:t>teoría</a:t>
            </a:r>
            <a:r>
              <a:rPr lang="en-FI" dirty="0"/>
              <a:t> y la </a:t>
            </a:r>
            <a:r>
              <a:rPr lang="en-FI" dirty="0" err="1"/>
              <a:t>aplicación</a:t>
            </a:r>
            <a:r>
              <a:rPr lang="en-FI" dirty="0"/>
              <a:t> </a:t>
            </a:r>
            <a:r>
              <a:rPr lang="en-FI" dirty="0" err="1"/>
              <a:t>práctica</a:t>
            </a:r>
            <a:r>
              <a:rPr lang="en-FI" dirty="0"/>
              <a:t> de </a:t>
            </a:r>
            <a:r>
              <a:rPr lang="en-FI" dirty="0" err="1"/>
              <a:t>mecanismos</a:t>
            </a:r>
            <a:r>
              <a:rPr lang="en-FI" dirty="0"/>
              <a:t> indispensables : la </a:t>
            </a:r>
            <a:r>
              <a:rPr lang="en-FI" b="1" dirty="0" err="1"/>
              <a:t>validación</a:t>
            </a:r>
            <a:r>
              <a:rPr lang="en-FI" b="1" dirty="0"/>
              <a:t> </a:t>
            </a:r>
            <a:r>
              <a:rPr lang="en-FI" b="1" dirty="0" err="1"/>
              <a:t>estricta</a:t>
            </a:r>
            <a:r>
              <a:rPr lang="en-FI" b="1" dirty="0"/>
              <a:t> de entradas</a:t>
            </a:r>
            <a:r>
              <a:rPr lang="en-FI" dirty="0"/>
              <a:t> para </a:t>
            </a:r>
            <a:r>
              <a:rPr lang="en-FI" dirty="0" err="1"/>
              <a:t>evitar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maliciosos</a:t>
            </a:r>
            <a:r>
              <a:rPr lang="en-FI" dirty="0"/>
              <a:t> </a:t>
            </a:r>
            <a:r>
              <a:rPr lang="en-FI" dirty="0" err="1"/>
              <a:t>entren</a:t>
            </a:r>
            <a:r>
              <a:rPr lang="en-FI" dirty="0"/>
              <a:t> a </a:t>
            </a:r>
            <a:r>
              <a:rPr lang="en-FI" dirty="0" err="1"/>
              <a:t>nuestro</a:t>
            </a:r>
            <a:r>
              <a:rPr lang="en-FI" dirty="0"/>
              <a:t> </a:t>
            </a:r>
            <a:r>
              <a:rPr lang="en-FI" dirty="0" err="1"/>
              <a:t>sistema</a:t>
            </a:r>
            <a:r>
              <a:rPr lang="en-FI" dirty="0"/>
              <a:t>, la </a:t>
            </a:r>
            <a:r>
              <a:rPr lang="en-FI" b="1" dirty="0" err="1"/>
              <a:t>codificación</a:t>
            </a:r>
            <a:r>
              <a:rPr lang="en-FI" b="1" dirty="0"/>
              <a:t> de </a:t>
            </a:r>
            <a:r>
              <a:rPr lang="en-FI" b="1" dirty="0" err="1"/>
              <a:t>salidas</a:t>
            </a:r>
            <a:r>
              <a:rPr lang="en-FI" dirty="0"/>
              <a:t> para </a:t>
            </a:r>
            <a:r>
              <a:rPr lang="en-FI" dirty="0" err="1"/>
              <a:t>neutralizar</a:t>
            </a:r>
            <a:r>
              <a:rPr lang="en-FI" dirty="0"/>
              <a:t> </a:t>
            </a:r>
            <a:r>
              <a:rPr lang="en-FI" dirty="0" err="1"/>
              <a:t>ataques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Cross-Site Scripting, y el </a:t>
            </a:r>
            <a:r>
              <a:rPr lang="en-FI" b="1" dirty="0" err="1"/>
              <a:t>manejo</a:t>
            </a:r>
            <a:r>
              <a:rPr lang="en-FI" b="1" dirty="0"/>
              <a:t> </a:t>
            </a:r>
            <a:r>
              <a:rPr lang="en-FI" b="1" dirty="0" err="1"/>
              <a:t>seguro</a:t>
            </a:r>
            <a:r>
              <a:rPr lang="en-FI" b="1" dirty="0"/>
              <a:t> de </a:t>
            </a:r>
            <a:r>
              <a:rPr lang="en-FI" b="1" dirty="0" err="1"/>
              <a:t>datos</a:t>
            </a:r>
            <a:r>
              <a:rPr lang="en-FI" b="1" dirty="0"/>
              <a:t> </a:t>
            </a:r>
            <a:r>
              <a:rPr lang="en-FI" b="1" dirty="0" err="1"/>
              <a:t>sensibles</a:t>
            </a:r>
            <a:r>
              <a:rPr lang="en-FI" dirty="0"/>
              <a:t> tanto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tránsito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reposo</a:t>
            </a:r>
            <a:r>
              <a:rPr lang="en-FI" dirty="0"/>
              <a:t>.</a:t>
            </a:r>
          </a:p>
          <a:p>
            <a:r>
              <a:rPr lang="en-FI" dirty="0"/>
              <a:t>Para </a:t>
            </a:r>
            <a:r>
              <a:rPr lang="en-FI" dirty="0" err="1"/>
              <a:t>cerrar</a:t>
            </a:r>
            <a:r>
              <a:rPr lang="en-FI" dirty="0"/>
              <a:t>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fase</a:t>
            </a:r>
            <a:r>
              <a:rPr lang="en-FI" dirty="0"/>
              <a:t>, </a:t>
            </a:r>
            <a:r>
              <a:rPr lang="en-FI" dirty="0" err="1"/>
              <a:t>abordaremos</a:t>
            </a:r>
            <a:r>
              <a:rPr lang="en-FI" dirty="0"/>
              <a:t>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pilares</a:t>
            </a:r>
            <a:r>
              <a:rPr lang="en-FI" dirty="0"/>
              <a:t> </a:t>
            </a:r>
            <a:r>
              <a:rPr lang="en-FI" dirty="0" err="1"/>
              <a:t>fundamentales</a:t>
            </a:r>
            <a:r>
              <a:rPr lang="en-FI" dirty="0"/>
              <a:t> </a:t>
            </a:r>
            <a:r>
              <a:rPr lang="en-FI" dirty="0" err="1"/>
              <a:t>desde</a:t>
            </a:r>
            <a:r>
              <a:rPr lang="en-FI" dirty="0"/>
              <a:t> la </a:t>
            </a:r>
            <a:r>
              <a:rPr lang="en-FI" dirty="0" err="1"/>
              <a:t>perspectiva</a:t>
            </a:r>
            <a:r>
              <a:rPr lang="en-FI" dirty="0"/>
              <a:t> del </a:t>
            </a:r>
            <a:r>
              <a:rPr lang="en-FI" dirty="0" err="1"/>
              <a:t>código</a:t>
            </a:r>
            <a:r>
              <a:rPr lang="en-FI" dirty="0"/>
              <a:t> </a:t>
            </a:r>
            <a:r>
              <a:rPr lang="en-FI" dirty="0" err="1"/>
              <a:t>seguro</a:t>
            </a:r>
            <a:r>
              <a:rPr lang="en-FI" dirty="0"/>
              <a:t>: la </a:t>
            </a:r>
            <a:r>
              <a:rPr lang="en-FI" dirty="0" err="1"/>
              <a:t>gestión</a:t>
            </a:r>
            <a:r>
              <a:rPr lang="en-FI" dirty="0"/>
              <a:t> de la </a:t>
            </a:r>
            <a:r>
              <a:rPr lang="en-FI" dirty="0" err="1"/>
              <a:t>identidad</a:t>
            </a:r>
            <a:r>
              <a:rPr lang="en-FI" dirty="0"/>
              <a:t>, el </a:t>
            </a:r>
            <a:r>
              <a:rPr lang="en-FI" dirty="0" err="1"/>
              <a:t>diseño</a:t>
            </a:r>
            <a:r>
              <a:rPr lang="en-FI" dirty="0"/>
              <a:t> de </a:t>
            </a:r>
            <a:r>
              <a:rPr lang="en-FI" dirty="0" err="1"/>
              <a:t>esquemas</a:t>
            </a:r>
            <a:r>
              <a:rPr lang="en-FI" dirty="0"/>
              <a:t> </a:t>
            </a:r>
            <a:r>
              <a:rPr lang="en-FI" dirty="0" err="1"/>
              <a:t>robustos</a:t>
            </a:r>
            <a:r>
              <a:rPr lang="en-FI" dirty="0"/>
              <a:t> de </a:t>
            </a:r>
            <a:r>
              <a:rPr lang="en-FI" b="1" dirty="0" err="1"/>
              <a:t>autenticación</a:t>
            </a:r>
            <a:r>
              <a:rPr lang="en-FI" dirty="0"/>
              <a:t> y el </a:t>
            </a:r>
            <a:r>
              <a:rPr lang="en-FI" dirty="0" err="1"/>
              <a:t>uso</a:t>
            </a:r>
            <a:r>
              <a:rPr lang="en-FI" dirty="0"/>
              <a:t> </a:t>
            </a:r>
            <a:r>
              <a:rPr lang="en-FI" dirty="0" err="1"/>
              <a:t>correcto</a:t>
            </a:r>
            <a:r>
              <a:rPr lang="en-FI" dirty="0"/>
              <a:t> de la </a:t>
            </a:r>
            <a:r>
              <a:rPr lang="en-FI" b="1" dirty="0" err="1"/>
              <a:t>criptografía</a:t>
            </a:r>
            <a:r>
              <a:rPr lang="en-FI" dirty="0"/>
              <a:t> para </a:t>
            </a:r>
            <a:r>
              <a:rPr lang="en-FI" dirty="0" err="1"/>
              <a:t>proteger</a:t>
            </a:r>
            <a:r>
              <a:rPr lang="en-FI" dirty="0"/>
              <a:t> la </a:t>
            </a:r>
            <a:r>
              <a:rPr lang="en-FI" dirty="0" err="1"/>
              <a:t>confidencialidad</a:t>
            </a:r>
            <a:r>
              <a:rPr lang="en-FI" dirty="0"/>
              <a:t> e </a:t>
            </a:r>
            <a:r>
              <a:rPr lang="en-FI" dirty="0" err="1"/>
              <a:t>integridad</a:t>
            </a:r>
            <a:r>
              <a:rPr lang="en-FI" dirty="0"/>
              <a:t> de la </a:t>
            </a:r>
            <a:r>
              <a:rPr lang="en-FI" dirty="0" err="1"/>
              <a:t>información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Al </a:t>
            </a:r>
            <a:r>
              <a:rPr lang="en-FI" dirty="0" err="1"/>
              <a:t>finalizar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segundo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, no solo </a:t>
            </a:r>
            <a:r>
              <a:rPr lang="en-FI" dirty="0" err="1"/>
              <a:t>sabrás</a:t>
            </a:r>
            <a:r>
              <a:rPr lang="en-FI" dirty="0"/>
              <a:t> </a:t>
            </a:r>
            <a:r>
              <a:rPr lang="en-FI" dirty="0" err="1"/>
              <a:t>dónde</a:t>
            </a:r>
            <a:r>
              <a:rPr lang="en-FI" dirty="0"/>
              <a:t> </a:t>
            </a:r>
            <a:r>
              <a:rPr lang="en-FI" dirty="0" err="1"/>
              <a:t>buscar</a:t>
            </a:r>
            <a:r>
              <a:rPr lang="en-FI" dirty="0"/>
              <a:t> </a:t>
            </a:r>
            <a:r>
              <a:rPr lang="en-FI" dirty="0" err="1"/>
              <a:t>recursos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 de </a:t>
            </a:r>
            <a:r>
              <a:rPr lang="en-FI" dirty="0" err="1"/>
              <a:t>clase</a:t>
            </a:r>
            <a:r>
              <a:rPr lang="en-FI" dirty="0"/>
              <a:t> </a:t>
            </a:r>
            <a:r>
              <a:rPr lang="en-FI" dirty="0" err="1"/>
              <a:t>mundial</a:t>
            </a:r>
            <a:r>
              <a:rPr lang="en-FI" dirty="0"/>
              <a:t>, </a:t>
            </a:r>
            <a:r>
              <a:rPr lang="en-FI" dirty="0" err="1"/>
              <a:t>sino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tendrás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criterios</a:t>
            </a:r>
            <a:r>
              <a:rPr lang="en-FI" dirty="0"/>
              <a:t> </a:t>
            </a:r>
            <a:r>
              <a:rPr lang="en-FI" dirty="0" err="1"/>
              <a:t>prácticos</a:t>
            </a:r>
            <a:r>
              <a:rPr lang="en-FI" dirty="0"/>
              <a:t> para </a:t>
            </a:r>
            <a:r>
              <a:rPr lang="en-FI" dirty="0" err="1"/>
              <a:t>programar</a:t>
            </a:r>
            <a:r>
              <a:rPr lang="en-FI" dirty="0"/>
              <a:t> </a:t>
            </a:r>
            <a:r>
              <a:rPr lang="en-FI" dirty="0" err="1"/>
              <a:t>defensas</a:t>
            </a:r>
            <a:r>
              <a:rPr lang="en-FI" dirty="0"/>
              <a:t> </a:t>
            </a:r>
            <a:r>
              <a:rPr lang="en-FI" dirty="0" err="1"/>
              <a:t>proactivas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blinden</a:t>
            </a:r>
            <a:r>
              <a:rPr lang="en-FI" dirty="0"/>
              <a:t> </a:t>
            </a:r>
            <a:r>
              <a:rPr lang="en-FI" dirty="0" err="1"/>
              <a:t>tus</a:t>
            </a:r>
            <a:r>
              <a:rPr lang="en-FI" dirty="0"/>
              <a:t> </a:t>
            </a:r>
            <a:r>
              <a:rPr lang="en-FI" dirty="0" err="1"/>
              <a:t>aplicaciones</a:t>
            </a:r>
            <a:r>
              <a:rPr lang="en-FI" dirty="0"/>
              <a:t>.</a:t>
            </a:r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39438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En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etapa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adentraremos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de las </a:t>
            </a:r>
            <a:r>
              <a:rPr lang="en-FI" dirty="0" err="1"/>
              <a:t>disciplinas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valiosas</a:t>
            </a:r>
            <a:r>
              <a:rPr lang="en-FI" dirty="0"/>
              <a:t> y </a:t>
            </a:r>
            <a:r>
              <a:rPr lang="en-FI" dirty="0" err="1"/>
              <a:t>rentables</a:t>
            </a:r>
            <a:r>
              <a:rPr lang="en-FI" dirty="0"/>
              <a:t> de la </a:t>
            </a:r>
            <a:r>
              <a:rPr lang="en-FI" dirty="0" err="1"/>
              <a:t>ciberseguridad</a:t>
            </a:r>
            <a:r>
              <a:rPr lang="en-FI" dirty="0"/>
              <a:t>: el </a:t>
            </a:r>
            <a:r>
              <a:rPr lang="en-FI" b="1" dirty="0" err="1"/>
              <a:t>Modelado</a:t>
            </a:r>
            <a:r>
              <a:rPr lang="en-FI" b="1" dirty="0"/>
              <a:t> de </a:t>
            </a:r>
            <a:r>
              <a:rPr lang="en-FI" b="1" dirty="0" err="1"/>
              <a:t>Amenazas</a:t>
            </a:r>
            <a:r>
              <a:rPr lang="en-FI" dirty="0"/>
              <a:t> o </a:t>
            </a:r>
            <a:r>
              <a:rPr lang="en-FI" i="1" dirty="0"/>
              <a:t>Threat </a:t>
            </a:r>
            <a:r>
              <a:rPr lang="en-FI" i="1" dirty="0" err="1"/>
              <a:t>Modeling</a:t>
            </a:r>
            <a:r>
              <a:rPr lang="en-FI" dirty="0"/>
              <a:t>.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pensar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el </a:t>
            </a:r>
            <a:r>
              <a:rPr lang="en-FI" dirty="0" err="1"/>
              <a:t>atacante</a:t>
            </a:r>
            <a:r>
              <a:rPr lang="en-FI" dirty="0"/>
              <a:t> para </a:t>
            </a:r>
            <a:r>
              <a:rPr lang="en-FI" dirty="0" err="1"/>
              <a:t>diseñar</a:t>
            </a:r>
            <a:r>
              <a:rPr lang="en-FI" dirty="0"/>
              <a:t> </a:t>
            </a:r>
            <a:r>
              <a:rPr lang="en-FI" dirty="0" err="1"/>
              <a:t>sistemas</a:t>
            </a:r>
            <a:r>
              <a:rPr lang="en-FI" dirty="0"/>
              <a:t> </a:t>
            </a:r>
            <a:r>
              <a:rPr lang="en-FI" dirty="0" err="1"/>
              <a:t>intrínsecamente</a:t>
            </a:r>
            <a:r>
              <a:rPr lang="en-FI" dirty="0"/>
              <a:t> </a:t>
            </a:r>
            <a:r>
              <a:rPr lang="en-FI" dirty="0" err="1"/>
              <a:t>seguros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En la quinta </a:t>
            </a:r>
            <a:r>
              <a:rPr lang="en-FI" dirty="0" err="1"/>
              <a:t>semana</a:t>
            </a:r>
            <a:r>
              <a:rPr lang="en-FI" dirty="0"/>
              <a:t> </a:t>
            </a:r>
            <a:r>
              <a:rPr lang="en-GB" dirty="0"/>
              <a:t>(</a:t>
            </a:r>
            <a:r>
              <a:rPr lang="en-GB" dirty="0" err="1"/>
              <a:t>desde</a:t>
            </a:r>
            <a:r>
              <a:rPr lang="en-GB" dirty="0"/>
              <a:t> el 14 de </a:t>
            </a:r>
            <a:r>
              <a:rPr lang="en-GB" dirty="0" err="1"/>
              <a:t>Septiembre</a:t>
            </a:r>
            <a:r>
              <a:rPr lang="en-GB" dirty="0"/>
              <a:t> al 18 de </a:t>
            </a:r>
            <a:r>
              <a:rPr lang="en-GB" dirty="0" err="1"/>
              <a:t>Septiembre</a:t>
            </a:r>
            <a:r>
              <a:rPr lang="en-GB" dirty="0"/>
              <a:t>)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enfocaremos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b="1" dirty="0" err="1"/>
              <a:t>Fundamentos</a:t>
            </a:r>
            <a:r>
              <a:rPr lang="en-FI" b="1" dirty="0"/>
              <a:t> del </a:t>
            </a:r>
            <a:r>
              <a:rPr lang="en-FI" b="1" dirty="0" err="1"/>
              <a:t>Modelado</a:t>
            </a:r>
            <a:r>
              <a:rPr lang="en-FI" dirty="0"/>
              <a:t>. </a:t>
            </a:r>
            <a:r>
              <a:rPr lang="en-FI" dirty="0" err="1"/>
              <a:t>Comprenderemos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práctica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permite</a:t>
            </a:r>
            <a:r>
              <a:rPr lang="en-FI" dirty="0"/>
              <a:t> </a:t>
            </a:r>
            <a:r>
              <a:rPr lang="en-FI" dirty="0" err="1"/>
              <a:t>identificar</a:t>
            </a:r>
            <a:r>
              <a:rPr lang="en-FI" dirty="0"/>
              <a:t> </a:t>
            </a:r>
            <a:r>
              <a:rPr lang="en-FI" dirty="0" err="1"/>
              <a:t>debilidades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las </a:t>
            </a:r>
            <a:r>
              <a:rPr lang="en-FI" dirty="0" err="1"/>
              <a:t>fases</a:t>
            </a:r>
            <a:r>
              <a:rPr lang="en-FI" dirty="0"/>
              <a:t> </a:t>
            </a:r>
            <a:r>
              <a:rPr lang="en-FI" dirty="0" err="1"/>
              <a:t>tempranas</a:t>
            </a:r>
            <a:r>
              <a:rPr lang="en-FI" dirty="0"/>
              <a:t> del </a:t>
            </a:r>
            <a:r>
              <a:rPr lang="en-FI" dirty="0" err="1"/>
              <a:t>desarrollo</a:t>
            </a:r>
            <a:r>
              <a:rPr lang="en-FI" dirty="0"/>
              <a:t>, lo </a:t>
            </a:r>
            <a:r>
              <a:rPr lang="en-FI" dirty="0" err="1"/>
              <a:t>que</a:t>
            </a:r>
            <a:r>
              <a:rPr lang="en-FI" dirty="0"/>
              <a:t> reduce </a:t>
            </a:r>
            <a:r>
              <a:rPr lang="en-FI" dirty="0" err="1"/>
              <a:t>radicalmente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costos</a:t>
            </a:r>
            <a:r>
              <a:rPr lang="en-FI" dirty="0"/>
              <a:t> de </a:t>
            </a:r>
            <a:r>
              <a:rPr lang="en-FI" dirty="0" err="1"/>
              <a:t>corrección</a:t>
            </a:r>
            <a:r>
              <a:rPr lang="en-FI" dirty="0"/>
              <a:t>.</a:t>
            </a:r>
            <a:r>
              <a:rPr lang="en-GB" dirty="0"/>
              <a:t>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diferenciar</a:t>
            </a:r>
            <a:r>
              <a:rPr lang="en-FI" dirty="0"/>
              <a:t> entre dos </a:t>
            </a:r>
            <a:r>
              <a:rPr lang="en-FI" dirty="0" err="1"/>
              <a:t>perspectivas</a:t>
            </a:r>
            <a:r>
              <a:rPr lang="en-FI" dirty="0"/>
              <a:t> </a:t>
            </a:r>
            <a:r>
              <a:rPr lang="en-FI" dirty="0" err="1"/>
              <a:t>complementarias</a:t>
            </a:r>
            <a:r>
              <a:rPr lang="en-FI" dirty="0"/>
              <a:t>: el </a:t>
            </a:r>
            <a:r>
              <a:rPr lang="en-FI" b="1" dirty="0"/>
              <a:t>Modelo de </a:t>
            </a:r>
            <a:r>
              <a:rPr lang="en-FI" b="1" dirty="0" err="1"/>
              <a:t>Amenaza</a:t>
            </a:r>
            <a:r>
              <a:rPr lang="en-FI" b="1" dirty="0"/>
              <a:t> de </a:t>
            </a:r>
            <a:r>
              <a:rPr lang="en-FI" b="1" dirty="0" err="1"/>
              <a:t>Aplicación</a:t>
            </a:r>
            <a:r>
              <a:rPr lang="en-FI" dirty="0"/>
              <a:t>, </a:t>
            </a:r>
            <a:r>
              <a:rPr lang="en-FI" dirty="0" err="1"/>
              <a:t>centrado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arquitectura</a:t>
            </a:r>
            <a:r>
              <a:rPr lang="en-FI" dirty="0"/>
              <a:t> y la </a:t>
            </a:r>
            <a:r>
              <a:rPr lang="en-FI" dirty="0" err="1"/>
              <a:t>lógica</a:t>
            </a:r>
            <a:r>
              <a:rPr lang="en-FI" dirty="0"/>
              <a:t> de </a:t>
            </a:r>
            <a:r>
              <a:rPr lang="en-FI" dirty="0" err="1"/>
              <a:t>desarrollo</a:t>
            </a:r>
            <a:r>
              <a:rPr lang="en-FI" dirty="0"/>
              <a:t>, y el </a:t>
            </a:r>
            <a:r>
              <a:rPr lang="en-FI" b="1" dirty="0"/>
              <a:t>Modelo de </a:t>
            </a:r>
            <a:r>
              <a:rPr lang="en-FI" b="1" dirty="0" err="1"/>
              <a:t>Amenaza</a:t>
            </a:r>
            <a:r>
              <a:rPr lang="en-FI" b="1" dirty="0"/>
              <a:t> </a:t>
            </a:r>
            <a:r>
              <a:rPr lang="en-FI" b="1" dirty="0" err="1"/>
              <a:t>Operacional</a:t>
            </a:r>
            <a:r>
              <a:rPr lang="en-FI" dirty="0"/>
              <a:t>, </a:t>
            </a:r>
            <a:r>
              <a:rPr lang="en-FI" dirty="0" err="1"/>
              <a:t>enfocado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riesgos</a:t>
            </a:r>
            <a:r>
              <a:rPr lang="en-FI" dirty="0"/>
              <a:t> de la </a:t>
            </a:r>
            <a:r>
              <a:rPr lang="en-FI" dirty="0" err="1"/>
              <a:t>infraestructura</a:t>
            </a:r>
            <a:r>
              <a:rPr lang="en-FI" dirty="0"/>
              <a:t>. </a:t>
            </a:r>
            <a:r>
              <a:rPr lang="en-FI" dirty="0" err="1"/>
              <a:t>Además</a:t>
            </a:r>
            <a:r>
              <a:rPr lang="en-FI" dirty="0"/>
              <a:t>,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introduciremos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b="1" dirty="0"/>
              <a:t>VAST</a:t>
            </a:r>
            <a:r>
              <a:rPr lang="en-FI" dirty="0"/>
              <a:t> (</a:t>
            </a:r>
            <a:r>
              <a:rPr lang="en-FI" i="1" dirty="0"/>
              <a:t>Visual, Agile, and Simple Threat </a:t>
            </a:r>
            <a:r>
              <a:rPr lang="en-FI" i="1" dirty="0" err="1"/>
              <a:t>modeling</a:t>
            </a:r>
            <a:r>
              <a:rPr lang="en-FI" dirty="0"/>
              <a:t>), </a:t>
            </a:r>
            <a:r>
              <a:rPr lang="en-FI" dirty="0" err="1"/>
              <a:t>analizando</a:t>
            </a:r>
            <a:r>
              <a:rPr lang="en-FI" dirty="0"/>
              <a:t> sus </a:t>
            </a:r>
            <a:r>
              <a:rPr lang="en-FI" dirty="0" err="1"/>
              <a:t>pilares</a:t>
            </a:r>
            <a:r>
              <a:rPr lang="en-FI" dirty="0"/>
              <a:t> </a:t>
            </a:r>
            <a:r>
              <a:rPr lang="en-FI" dirty="0" err="1"/>
              <a:t>teóricos</a:t>
            </a:r>
            <a:r>
              <a:rPr lang="en-FI" dirty="0"/>
              <a:t> y </a:t>
            </a:r>
            <a:r>
              <a:rPr lang="en-FI" dirty="0" err="1"/>
              <a:t>descubriendo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integrarla</a:t>
            </a:r>
            <a:r>
              <a:rPr lang="en-FI" dirty="0"/>
              <a:t> sin </a:t>
            </a:r>
            <a:r>
              <a:rPr lang="en-FI" dirty="0" err="1"/>
              <a:t>fricción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equipos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trabajan</a:t>
            </a:r>
            <a:r>
              <a:rPr lang="en-FI" dirty="0"/>
              <a:t> con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ágiles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En la sexta </a:t>
            </a:r>
            <a:r>
              <a:rPr lang="en-FI" dirty="0" err="1"/>
              <a:t>semana</a:t>
            </a:r>
            <a:r>
              <a:rPr lang="en-FI" dirty="0"/>
              <a:t> </a:t>
            </a:r>
            <a:r>
              <a:rPr lang="en-FI" dirty="0" err="1"/>
              <a:t>profundizaremos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de las </a:t>
            </a:r>
            <a:r>
              <a:rPr lang="en-FI" dirty="0" err="1"/>
              <a:t>metodologías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robustas y </a:t>
            </a:r>
            <a:r>
              <a:rPr lang="en-FI" dirty="0" err="1"/>
              <a:t>completas</a:t>
            </a:r>
            <a:r>
              <a:rPr lang="en-FI" dirty="0"/>
              <a:t> de la </a:t>
            </a:r>
            <a:r>
              <a:rPr lang="en-FI" dirty="0" err="1"/>
              <a:t>industria</a:t>
            </a:r>
            <a:r>
              <a:rPr lang="en-FI" dirty="0"/>
              <a:t>: el </a:t>
            </a:r>
            <a:r>
              <a:rPr lang="en-FI" dirty="0" err="1"/>
              <a:t>marco</a:t>
            </a:r>
            <a:r>
              <a:rPr lang="en-FI" dirty="0"/>
              <a:t> </a:t>
            </a:r>
            <a:r>
              <a:rPr lang="en-FI" b="1" dirty="0"/>
              <a:t>PASTA</a:t>
            </a:r>
            <a:r>
              <a:rPr lang="en-FI" dirty="0"/>
              <a:t> (</a:t>
            </a:r>
            <a:r>
              <a:rPr lang="en-FI" i="1" dirty="0"/>
              <a:t>Process for Attack Simulation and Threat Analysis</a:t>
            </a:r>
            <a:r>
              <a:rPr lang="en-FI" dirty="0"/>
              <a:t>). A </a:t>
            </a:r>
            <a:r>
              <a:rPr lang="en-FI" dirty="0" err="1"/>
              <a:t>diferencia</a:t>
            </a:r>
            <a:r>
              <a:rPr lang="en-FI" dirty="0"/>
              <a:t> de </a:t>
            </a:r>
            <a:r>
              <a:rPr lang="en-FI" dirty="0" err="1"/>
              <a:t>otros</a:t>
            </a:r>
            <a:r>
              <a:rPr lang="en-FI" dirty="0"/>
              <a:t> </a:t>
            </a:r>
            <a:r>
              <a:rPr lang="en-FI" dirty="0" err="1"/>
              <a:t>enfoques</a:t>
            </a:r>
            <a:r>
              <a:rPr lang="en-FI" dirty="0"/>
              <a:t> purely </a:t>
            </a:r>
            <a:r>
              <a:rPr lang="en-FI" dirty="0" err="1"/>
              <a:t>técnicos</a:t>
            </a:r>
            <a:r>
              <a:rPr lang="en-FI" dirty="0"/>
              <a:t>, PASTA </a:t>
            </a:r>
            <a:r>
              <a:rPr lang="en-FI" dirty="0" err="1"/>
              <a:t>destaca</a:t>
            </a:r>
            <a:r>
              <a:rPr lang="en-FI" dirty="0"/>
              <a:t> 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estar</a:t>
            </a:r>
            <a:r>
              <a:rPr lang="en-FI" dirty="0"/>
              <a:t> </a:t>
            </a:r>
            <a:r>
              <a:rPr lang="en-FI" dirty="0" err="1"/>
              <a:t>alineado</a:t>
            </a:r>
            <a:r>
              <a:rPr lang="en-FI" dirty="0"/>
              <a:t> </a:t>
            </a:r>
            <a:r>
              <a:rPr lang="en-FI" dirty="0" err="1"/>
              <a:t>directamente</a:t>
            </a:r>
            <a:r>
              <a:rPr lang="en-FI" dirty="0"/>
              <a:t> con el </a:t>
            </a:r>
            <a:r>
              <a:rPr lang="en-FI" dirty="0" err="1"/>
              <a:t>riesgo</a:t>
            </a:r>
            <a:r>
              <a:rPr lang="en-FI" dirty="0"/>
              <a:t> </a:t>
            </a:r>
            <a:r>
              <a:rPr lang="en-FI" dirty="0" err="1"/>
              <a:t>operacional</a:t>
            </a:r>
            <a:r>
              <a:rPr lang="en-FI" dirty="0"/>
              <a:t> y </a:t>
            </a:r>
            <a:r>
              <a:rPr lang="en-FI" dirty="0" err="1"/>
              <a:t>comercial</a:t>
            </a:r>
            <a:r>
              <a:rPr lang="en-FI" dirty="0"/>
              <a:t> de la </a:t>
            </a:r>
            <a:r>
              <a:rPr lang="en-FI" dirty="0" err="1"/>
              <a:t>empresa</a:t>
            </a:r>
            <a:r>
              <a:rPr lang="en-FI" dirty="0"/>
              <a:t>.</a:t>
            </a:r>
          </a:p>
          <a:p>
            <a:r>
              <a:rPr lang="en-FI" dirty="0" err="1"/>
              <a:t>Recorreremos</a:t>
            </a:r>
            <a:r>
              <a:rPr lang="en-FI" dirty="0"/>
              <a:t> </a:t>
            </a:r>
            <a:r>
              <a:rPr lang="en-FI" dirty="0" err="1"/>
              <a:t>detalladamente</a:t>
            </a:r>
            <a:r>
              <a:rPr lang="en-FI" dirty="0"/>
              <a:t> sus </a:t>
            </a:r>
            <a:r>
              <a:rPr lang="en-FI" b="1" dirty="0"/>
              <a:t>7 </a:t>
            </a:r>
            <a:r>
              <a:rPr lang="en-FI" b="1" dirty="0" err="1"/>
              <a:t>fases</a:t>
            </a:r>
            <a:r>
              <a:rPr lang="en-FI" dirty="0"/>
              <a:t>:</a:t>
            </a:r>
          </a:p>
          <a:p>
            <a:pPr marL="228600" lvl="0" indent="-228600">
              <a:buAutoNum type="arabicPeriod"/>
            </a:pPr>
            <a:r>
              <a:rPr lang="en-FI" dirty="0" err="1"/>
              <a:t>Comenzaremos</a:t>
            </a:r>
            <a:r>
              <a:rPr lang="en-FI" dirty="0"/>
              <a:t> </a:t>
            </a:r>
            <a:r>
              <a:rPr lang="en-FI" dirty="0" err="1"/>
              <a:t>definiendo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b="1" dirty="0" err="1"/>
              <a:t>objetivos</a:t>
            </a:r>
            <a:r>
              <a:rPr lang="en-FI" b="1" dirty="0"/>
              <a:t> de </a:t>
            </a:r>
            <a:r>
              <a:rPr lang="en-FI" b="1" dirty="0" err="1"/>
              <a:t>negocio</a:t>
            </a:r>
            <a:r>
              <a:rPr lang="en-FI" dirty="0"/>
              <a:t> para </a:t>
            </a:r>
            <a:r>
              <a:rPr lang="en-FI" dirty="0" err="1"/>
              <a:t>entender</a:t>
            </a:r>
            <a:r>
              <a:rPr lang="en-FI" dirty="0"/>
              <a:t> </a:t>
            </a:r>
            <a:r>
              <a:rPr lang="en-FI" dirty="0" err="1"/>
              <a:t>qué</a:t>
            </a:r>
            <a:r>
              <a:rPr lang="en-FI" dirty="0"/>
              <a:t> </a:t>
            </a:r>
            <a:r>
              <a:rPr lang="en-FI" dirty="0" err="1"/>
              <a:t>estamos</a:t>
            </a:r>
            <a:r>
              <a:rPr lang="en-FI" dirty="0"/>
              <a:t> </a:t>
            </a:r>
            <a:r>
              <a:rPr lang="en-FI" dirty="0" err="1"/>
              <a:t>protegiendo</a:t>
            </a:r>
            <a:r>
              <a:rPr lang="en-FI" dirty="0"/>
              <a:t> </a:t>
            </a:r>
            <a:r>
              <a:rPr lang="en-FI" dirty="0" err="1"/>
              <a:t>realmente</a:t>
            </a:r>
            <a:r>
              <a:rPr lang="en-FI" dirty="0"/>
              <a:t>.</a:t>
            </a:r>
            <a:endParaRPr lang="en-GB" dirty="0"/>
          </a:p>
          <a:p>
            <a:pPr marL="228600" lvl="0" indent="-228600">
              <a:buAutoNum type="arabicPeriod"/>
            </a:pPr>
            <a:r>
              <a:rPr lang="en-FI" dirty="0" err="1"/>
              <a:t>Delimitaremos</a:t>
            </a:r>
            <a:r>
              <a:rPr lang="en-FI" dirty="0"/>
              <a:t> el </a:t>
            </a:r>
            <a:r>
              <a:rPr lang="en-FI" b="1" dirty="0" err="1"/>
              <a:t>alcance</a:t>
            </a:r>
            <a:r>
              <a:rPr lang="en-FI" b="1" dirty="0"/>
              <a:t> </a:t>
            </a:r>
            <a:r>
              <a:rPr lang="en-FI" b="1" dirty="0" err="1"/>
              <a:t>técnico</a:t>
            </a:r>
            <a:r>
              <a:rPr lang="en-FI" dirty="0"/>
              <a:t>, </a:t>
            </a:r>
            <a:r>
              <a:rPr lang="en-FI" dirty="0" err="1"/>
              <a:t>identificando</a:t>
            </a:r>
            <a:r>
              <a:rPr lang="en-FI" dirty="0"/>
              <a:t> la </a:t>
            </a:r>
            <a:r>
              <a:rPr lang="en-FI" dirty="0" err="1"/>
              <a:t>superficie</a:t>
            </a:r>
            <a:r>
              <a:rPr lang="en-FI" dirty="0"/>
              <a:t> de </a:t>
            </a:r>
            <a:r>
              <a:rPr lang="en-FI" dirty="0" err="1"/>
              <a:t>ataque</a:t>
            </a:r>
            <a:r>
              <a:rPr lang="en-FI" dirty="0"/>
              <a:t> y sus </a:t>
            </a:r>
            <a:r>
              <a:rPr lang="en-FI" dirty="0" err="1"/>
              <a:t>dependencias</a:t>
            </a:r>
            <a:r>
              <a:rPr lang="en-FI" dirty="0"/>
              <a:t>.</a:t>
            </a:r>
            <a:r>
              <a:rPr lang="en-GB" dirty="0"/>
              <a:t> </a:t>
            </a:r>
          </a:p>
          <a:p>
            <a:pPr marL="228600" lvl="0" indent="-228600">
              <a:buAutoNum type="arabicPeriod"/>
            </a:pPr>
            <a:r>
              <a:rPr lang="en-FI" dirty="0" err="1"/>
              <a:t>Pasaremos</a:t>
            </a:r>
            <a:r>
              <a:rPr lang="en-FI" dirty="0"/>
              <a:t> a la </a:t>
            </a:r>
            <a:r>
              <a:rPr lang="en-FI" b="1" dirty="0" err="1"/>
              <a:t>descomposición</a:t>
            </a:r>
            <a:r>
              <a:rPr lang="en-FI" b="1" dirty="0"/>
              <a:t> de la </a:t>
            </a:r>
            <a:r>
              <a:rPr lang="en-FI" b="1" dirty="0" err="1"/>
              <a:t>aplicación</a:t>
            </a:r>
            <a:r>
              <a:rPr lang="en-FI" dirty="0"/>
              <a:t>, </a:t>
            </a:r>
            <a:r>
              <a:rPr lang="en-FI" dirty="0" err="1"/>
              <a:t>trazando</a:t>
            </a:r>
            <a:r>
              <a:rPr lang="en-FI" dirty="0"/>
              <a:t> </a:t>
            </a:r>
            <a:r>
              <a:rPr lang="en-FI" dirty="0" err="1"/>
              <a:t>flujos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 y </a:t>
            </a:r>
            <a:r>
              <a:rPr lang="en-FI" dirty="0" err="1"/>
              <a:t>fronteras</a:t>
            </a:r>
            <a:r>
              <a:rPr lang="en-FI" dirty="0"/>
              <a:t> de confianza.</a:t>
            </a:r>
            <a:endParaRPr lang="en-GB" dirty="0"/>
          </a:p>
          <a:p>
            <a:pPr marL="228600" lvl="0" indent="-228600">
              <a:buAutoNum type="arabicPeriod"/>
            </a:pPr>
            <a:r>
              <a:rPr lang="en-FI" dirty="0" err="1"/>
              <a:t>Analizaremos</a:t>
            </a:r>
            <a:r>
              <a:rPr lang="en-FI" dirty="0"/>
              <a:t> las </a:t>
            </a:r>
            <a:r>
              <a:rPr lang="en-FI" b="1" dirty="0" err="1"/>
              <a:t>amenazas</a:t>
            </a:r>
            <a:r>
              <a:rPr lang="en-FI" dirty="0"/>
              <a:t>, </a:t>
            </a:r>
            <a:r>
              <a:rPr lang="en-FI" dirty="0" err="1"/>
              <a:t>estudiando</a:t>
            </a:r>
            <a:r>
              <a:rPr lang="en-FI" dirty="0"/>
              <a:t> la </a:t>
            </a:r>
            <a:r>
              <a:rPr lang="en-FI" dirty="0" err="1"/>
              <a:t>inteligencia</a:t>
            </a:r>
            <a:r>
              <a:rPr lang="en-FI" dirty="0"/>
              <a:t> de </a:t>
            </a:r>
            <a:r>
              <a:rPr lang="en-FI" dirty="0" err="1"/>
              <a:t>amenazas</a:t>
            </a:r>
            <a:r>
              <a:rPr lang="en-FI" dirty="0"/>
              <a:t> y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posibles</a:t>
            </a:r>
            <a:r>
              <a:rPr lang="en-FI" dirty="0"/>
              <a:t> </a:t>
            </a:r>
            <a:r>
              <a:rPr lang="en-FI" dirty="0" err="1"/>
              <a:t>agentes</a:t>
            </a:r>
            <a:r>
              <a:rPr lang="en-FI" dirty="0"/>
              <a:t> </a:t>
            </a:r>
            <a:r>
              <a:rPr lang="en-FI" dirty="0" err="1"/>
              <a:t>atacantes</a:t>
            </a:r>
            <a:r>
              <a:rPr lang="en-FI" dirty="0"/>
              <a:t>.</a:t>
            </a:r>
            <a:endParaRPr lang="en-GB" dirty="0"/>
          </a:p>
          <a:p>
            <a:pPr marL="228600" lvl="0" indent="-228600">
              <a:buAutoNum type="arabicPeriod"/>
            </a:pPr>
            <a:r>
              <a:rPr lang="en-FI" dirty="0" err="1"/>
              <a:t>Realizaremos</a:t>
            </a:r>
            <a:r>
              <a:rPr lang="en-FI" dirty="0"/>
              <a:t> un </a:t>
            </a:r>
            <a:r>
              <a:rPr lang="en-FI" b="1" dirty="0" err="1"/>
              <a:t>análisis</a:t>
            </a:r>
            <a:r>
              <a:rPr lang="en-FI" b="1" dirty="0"/>
              <a:t> de </a:t>
            </a:r>
            <a:r>
              <a:rPr lang="en-FI" b="1" dirty="0" err="1"/>
              <a:t>vulnerabilidades</a:t>
            </a:r>
            <a:r>
              <a:rPr lang="en-FI" dirty="0"/>
              <a:t> para </a:t>
            </a:r>
            <a:r>
              <a:rPr lang="en-FI" dirty="0" err="1"/>
              <a:t>detectar</a:t>
            </a:r>
            <a:r>
              <a:rPr lang="en-FI" dirty="0"/>
              <a:t> </a:t>
            </a:r>
            <a:r>
              <a:rPr lang="en-FI" dirty="0" err="1"/>
              <a:t>debilidades</a:t>
            </a:r>
            <a:r>
              <a:rPr lang="en-FI" dirty="0"/>
              <a:t>.</a:t>
            </a:r>
            <a:endParaRPr lang="en-GB" dirty="0"/>
          </a:p>
          <a:p>
            <a:pPr marL="228600" lvl="0" indent="-228600">
              <a:buAutoNum type="arabicPeriod"/>
            </a:pPr>
            <a:r>
              <a:rPr lang="en-FI" dirty="0" err="1"/>
              <a:t>Ejecutaremos</a:t>
            </a:r>
            <a:r>
              <a:rPr lang="en-FI" dirty="0"/>
              <a:t> el </a:t>
            </a:r>
            <a:r>
              <a:rPr lang="en-FI" b="1" dirty="0" err="1"/>
              <a:t>análisis</a:t>
            </a:r>
            <a:r>
              <a:rPr lang="en-FI" b="1" dirty="0"/>
              <a:t> de </a:t>
            </a:r>
            <a:r>
              <a:rPr lang="en-FI" b="1" dirty="0" err="1"/>
              <a:t>ataque</a:t>
            </a:r>
            <a:r>
              <a:rPr lang="en-FI" dirty="0"/>
              <a:t>, </a:t>
            </a:r>
            <a:r>
              <a:rPr lang="en-FI" dirty="0" err="1"/>
              <a:t>construyendo</a:t>
            </a:r>
            <a:r>
              <a:rPr lang="en-FI" dirty="0"/>
              <a:t> </a:t>
            </a:r>
            <a:r>
              <a:rPr lang="en-FI" dirty="0" err="1"/>
              <a:t>árboles</a:t>
            </a:r>
            <a:r>
              <a:rPr lang="en-FI" dirty="0"/>
              <a:t> de </a:t>
            </a:r>
            <a:r>
              <a:rPr lang="en-FI" dirty="0" err="1"/>
              <a:t>ataque</a:t>
            </a:r>
            <a:r>
              <a:rPr lang="en-FI" dirty="0"/>
              <a:t> y </a:t>
            </a:r>
            <a:r>
              <a:rPr lang="en-FI" dirty="0" err="1"/>
              <a:t>modelando</a:t>
            </a:r>
            <a:r>
              <a:rPr lang="en-FI" dirty="0"/>
              <a:t> </a:t>
            </a:r>
            <a:r>
              <a:rPr lang="en-FI" dirty="0" err="1"/>
              <a:t>vectores</a:t>
            </a:r>
            <a:r>
              <a:rPr lang="en-FI" dirty="0"/>
              <a:t> de </a:t>
            </a:r>
            <a:r>
              <a:rPr lang="en-FI" dirty="0" err="1"/>
              <a:t>explotación</a:t>
            </a:r>
            <a:r>
              <a:rPr lang="en-FI" dirty="0"/>
              <a:t> reales.</a:t>
            </a:r>
            <a:endParaRPr lang="en-GB" dirty="0"/>
          </a:p>
          <a:p>
            <a:pPr marL="228600" lvl="0" indent="-228600">
              <a:buAutoNum type="arabicPeriod"/>
            </a:pPr>
            <a:r>
              <a:rPr lang="en-FI" dirty="0"/>
              <a:t>Y </a:t>
            </a:r>
            <a:r>
              <a:rPr lang="en-FI" dirty="0" err="1"/>
              <a:t>finalmente</a:t>
            </a:r>
            <a:r>
              <a:rPr lang="en-FI" dirty="0"/>
              <a:t>, </a:t>
            </a:r>
            <a:r>
              <a:rPr lang="en-FI" dirty="0" err="1"/>
              <a:t>cerraremos</a:t>
            </a:r>
            <a:r>
              <a:rPr lang="en-FI" dirty="0"/>
              <a:t> con el </a:t>
            </a:r>
            <a:r>
              <a:rPr lang="en-FI" b="1" dirty="0" err="1"/>
              <a:t>análisis</a:t>
            </a:r>
            <a:r>
              <a:rPr lang="en-FI" b="1" dirty="0"/>
              <a:t> de </a:t>
            </a:r>
            <a:r>
              <a:rPr lang="en-FI" b="1" dirty="0" err="1"/>
              <a:t>riesgo</a:t>
            </a:r>
            <a:r>
              <a:rPr lang="en-FI" b="1" dirty="0"/>
              <a:t> e </a:t>
            </a:r>
            <a:r>
              <a:rPr lang="en-FI" b="1" dirty="0" err="1"/>
              <a:t>impacto</a:t>
            </a:r>
            <a:r>
              <a:rPr lang="en-FI" dirty="0"/>
              <a:t>, </a:t>
            </a:r>
            <a:r>
              <a:rPr lang="en-FI" dirty="0" err="1"/>
              <a:t>cuantificando</a:t>
            </a:r>
            <a:r>
              <a:rPr lang="en-FI" dirty="0"/>
              <a:t> el </a:t>
            </a:r>
            <a:r>
              <a:rPr lang="en-FI" dirty="0" err="1"/>
              <a:t>verdadero</a:t>
            </a:r>
            <a:r>
              <a:rPr lang="en-FI" dirty="0"/>
              <a:t> </a:t>
            </a:r>
            <a:r>
              <a:rPr lang="en-FI" dirty="0" err="1"/>
              <a:t>daño</a:t>
            </a:r>
            <a:r>
              <a:rPr lang="en-FI" dirty="0"/>
              <a:t> </a:t>
            </a:r>
            <a:r>
              <a:rPr lang="en-FI" dirty="0" err="1"/>
              <a:t>financiero</a:t>
            </a:r>
            <a:r>
              <a:rPr lang="en-FI" dirty="0"/>
              <a:t> y </a:t>
            </a:r>
            <a:r>
              <a:rPr lang="en-FI" dirty="0" err="1"/>
              <a:t>operativo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un </a:t>
            </a:r>
            <a:r>
              <a:rPr lang="en-FI" dirty="0" err="1"/>
              <a:t>ataque</a:t>
            </a:r>
            <a:r>
              <a:rPr lang="en-FI" dirty="0"/>
              <a:t> </a:t>
            </a:r>
            <a:r>
              <a:rPr lang="en-FI" dirty="0" err="1"/>
              <a:t>podría</a:t>
            </a:r>
            <a:r>
              <a:rPr lang="en-FI" dirty="0"/>
              <a:t> </a:t>
            </a:r>
            <a:r>
              <a:rPr lang="en-FI" dirty="0" err="1"/>
              <a:t>causar</a:t>
            </a:r>
            <a:r>
              <a:rPr lang="en-FI" dirty="0"/>
              <a:t>.</a:t>
            </a:r>
            <a:endParaRPr lang="en-GB" dirty="0"/>
          </a:p>
          <a:p>
            <a:pPr marL="228600" lvl="0" indent="-228600">
              <a:buAutoNum type="arabicPeriod"/>
            </a:pPr>
            <a:endParaRPr lang="en-GB" dirty="0"/>
          </a:p>
          <a:p>
            <a:pPr marL="0" lvl="0" indent="0">
              <a:buNone/>
            </a:pPr>
            <a:r>
              <a:rPr lang="en-FI" dirty="0"/>
              <a:t>Al </a:t>
            </a:r>
            <a:r>
              <a:rPr lang="en-FI" dirty="0" err="1"/>
              <a:t>terminar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, </a:t>
            </a:r>
            <a:r>
              <a:rPr lang="en-FI" dirty="0" err="1"/>
              <a:t>dominarás</a:t>
            </a:r>
            <a:r>
              <a:rPr lang="en-FI" dirty="0"/>
              <a:t> </a:t>
            </a:r>
            <a:r>
              <a:rPr lang="en-FI" dirty="0" err="1"/>
              <a:t>metodologías</a:t>
            </a:r>
            <a:r>
              <a:rPr lang="en-FI" dirty="0"/>
              <a:t> para </a:t>
            </a:r>
            <a:r>
              <a:rPr lang="en-FI" dirty="0" err="1"/>
              <a:t>diagnosticar</a:t>
            </a:r>
            <a:r>
              <a:rPr lang="en-FI" dirty="0"/>
              <a:t>, </a:t>
            </a:r>
            <a:r>
              <a:rPr lang="en-FI" dirty="0" err="1"/>
              <a:t>mapear</a:t>
            </a:r>
            <a:r>
              <a:rPr lang="en-FI" dirty="0"/>
              <a:t> y </a:t>
            </a:r>
            <a:r>
              <a:rPr lang="en-FI" dirty="0" err="1"/>
              <a:t>neutralizar</a:t>
            </a:r>
            <a:r>
              <a:rPr lang="en-FI" dirty="0"/>
              <a:t> </a:t>
            </a:r>
            <a:r>
              <a:rPr lang="en-FI" dirty="0" err="1"/>
              <a:t>amenazas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arquitectura</a:t>
            </a:r>
            <a:r>
              <a:rPr lang="en-FI" dirty="0"/>
              <a:t> de </a:t>
            </a:r>
            <a:r>
              <a:rPr lang="en-FI" dirty="0" err="1"/>
              <a:t>tu</a:t>
            </a:r>
            <a:r>
              <a:rPr lang="en-FI" dirty="0"/>
              <a:t> software antes de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lleguen</a:t>
            </a:r>
            <a:r>
              <a:rPr lang="en-FI" dirty="0"/>
              <a:t> a </a:t>
            </a:r>
            <a:r>
              <a:rPr lang="en-FI" dirty="0" err="1"/>
              <a:t>producción</a:t>
            </a:r>
            <a:r>
              <a:rPr lang="en-FI" dirty="0"/>
              <a:t>.</a:t>
            </a:r>
          </a:p>
          <a:p>
            <a:endParaRPr lang="en-FI" dirty="0"/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3010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En </a:t>
            </a:r>
            <a:r>
              <a:rPr lang="en-GB" dirty="0" err="1"/>
              <a:t>este</a:t>
            </a:r>
            <a:r>
              <a:rPr lang="en-GB" dirty="0"/>
              <a:t> Bloque </a:t>
            </a:r>
            <a:r>
              <a:rPr lang="en-FI" dirty="0" err="1"/>
              <a:t>vamos</a:t>
            </a:r>
            <a:r>
              <a:rPr lang="en-FI" dirty="0"/>
              <a:t> a </a:t>
            </a:r>
            <a:r>
              <a:rPr lang="en-FI" dirty="0" err="1"/>
              <a:t>dar</a:t>
            </a:r>
            <a:r>
              <a:rPr lang="en-FI" dirty="0"/>
              <a:t> un paso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nivel</a:t>
            </a:r>
            <a:r>
              <a:rPr lang="en-FI" dirty="0"/>
              <a:t> de </a:t>
            </a:r>
            <a:r>
              <a:rPr lang="en-FI" dirty="0" err="1"/>
              <a:t>detalle</a:t>
            </a:r>
            <a:r>
              <a:rPr lang="en-FI" dirty="0"/>
              <a:t> y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clasificar</a:t>
            </a:r>
            <a:r>
              <a:rPr lang="en-FI" dirty="0"/>
              <a:t> las </a:t>
            </a:r>
            <a:r>
              <a:rPr lang="en-FI" dirty="0" err="1"/>
              <a:t>amenazas</a:t>
            </a:r>
            <a:r>
              <a:rPr lang="en-FI" dirty="0"/>
              <a:t> de forma </a:t>
            </a:r>
            <a:r>
              <a:rPr lang="en-FI" dirty="0" err="1"/>
              <a:t>sistemática</a:t>
            </a:r>
            <a:r>
              <a:rPr lang="en-FI" dirty="0"/>
              <a:t> </a:t>
            </a:r>
            <a:r>
              <a:rPr lang="en-FI" dirty="0" err="1"/>
              <a:t>utilizando</a:t>
            </a:r>
            <a:r>
              <a:rPr lang="en-FI" dirty="0"/>
              <a:t> la </a:t>
            </a:r>
            <a:r>
              <a:rPr lang="en-FI" dirty="0" err="1"/>
              <a:t>taxonomía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famosa</a:t>
            </a:r>
            <a:r>
              <a:rPr lang="en-FI" dirty="0"/>
              <a:t> de la </a:t>
            </a:r>
            <a:r>
              <a:rPr lang="en-FI" dirty="0" err="1"/>
              <a:t>industria</a:t>
            </a:r>
            <a:r>
              <a:rPr lang="en-FI" dirty="0"/>
              <a:t>: el </a:t>
            </a:r>
            <a:r>
              <a:rPr lang="en-FI" dirty="0" err="1"/>
              <a:t>modelo</a:t>
            </a:r>
            <a:r>
              <a:rPr lang="en-FI" dirty="0"/>
              <a:t> </a:t>
            </a:r>
            <a:r>
              <a:rPr lang="en-FI" b="1" dirty="0"/>
              <a:t>STRIDE</a:t>
            </a:r>
            <a:r>
              <a:rPr lang="en-FI" dirty="0"/>
              <a:t>, </a:t>
            </a:r>
            <a:r>
              <a:rPr lang="en-FI" dirty="0" err="1"/>
              <a:t>complementándolo</a:t>
            </a:r>
            <a:r>
              <a:rPr lang="en-FI" dirty="0"/>
              <a:t> con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dirty="0" err="1"/>
              <a:t>alternativa</a:t>
            </a:r>
            <a:r>
              <a:rPr lang="en-FI" dirty="0"/>
              <a:t> </a:t>
            </a:r>
            <a:r>
              <a:rPr lang="en-FI" b="1" dirty="0"/>
              <a:t>TRIKE</a:t>
            </a:r>
            <a:r>
              <a:rPr lang="en-FI" dirty="0"/>
              <a:t>.</a:t>
            </a:r>
            <a:endParaRPr lang="en-GB" dirty="0"/>
          </a:p>
          <a:p>
            <a:endParaRPr lang="en-GB" dirty="0"/>
          </a:p>
          <a:p>
            <a:r>
              <a:rPr lang="en-FI" dirty="0"/>
              <a:t>En la </a:t>
            </a:r>
            <a:r>
              <a:rPr lang="en-FI" dirty="0" err="1"/>
              <a:t>semana</a:t>
            </a:r>
            <a:r>
              <a:rPr lang="en-FI" dirty="0"/>
              <a:t> </a:t>
            </a:r>
            <a:r>
              <a:rPr lang="en-GB" dirty="0"/>
              <a:t>del 13 de </a:t>
            </a:r>
            <a:r>
              <a:rPr lang="en-GB" dirty="0" err="1"/>
              <a:t>octubre</a:t>
            </a:r>
            <a:r>
              <a:rPr lang="en-GB" dirty="0"/>
              <a:t> hasta el 16 de </a:t>
            </a:r>
            <a:r>
              <a:rPr lang="en-GB" dirty="0" err="1"/>
              <a:t>octubre</a:t>
            </a:r>
            <a:r>
              <a:rPr lang="en-GB" dirty="0"/>
              <a:t> </a:t>
            </a:r>
            <a:r>
              <a:rPr lang="en-FI" dirty="0" err="1"/>
              <a:t>comenzaremos</a:t>
            </a:r>
            <a:r>
              <a:rPr lang="en-FI" dirty="0"/>
              <a:t> </a:t>
            </a:r>
            <a:r>
              <a:rPr lang="en-FI" dirty="0" err="1"/>
              <a:t>introduciendo</a:t>
            </a:r>
            <a:r>
              <a:rPr lang="en-FI" dirty="0"/>
              <a:t> el </a:t>
            </a:r>
            <a:r>
              <a:rPr lang="en-FI" dirty="0" err="1"/>
              <a:t>modelo</a:t>
            </a:r>
            <a:r>
              <a:rPr lang="en-FI" dirty="0"/>
              <a:t> </a:t>
            </a:r>
            <a:r>
              <a:rPr lang="en-FI" b="1" dirty="0"/>
              <a:t>STRIDE</a:t>
            </a:r>
            <a:r>
              <a:rPr lang="en-FI" dirty="0"/>
              <a:t> y </a:t>
            </a:r>
            <a:r>
              <a:rPr lang="en-FI" dirty="0" err="1"/>
              <a:t>descubriendo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se </a:t>
            </a:r>
            <a:r>
              <a:rPr lang="en-FI" dirty="0" err="1"/>
              <a:t>conecta</a:t>
            </a:r>
            <a:r>
              <a:rPr lang="en-FI" dirty="0"/>
              <a:t> </a:t>
            </a:r>
            <a:r>
              <a:rPr lang="en-FI" dirty="0" err="1"/>
              <a:t>directamente</a:t>
            </a:r>
            <a:r>
              <a:rPr lang="en-FI" dirty="0"/>
              <a:t> con las bases de la </a:t>
            </a:r>
            <a:r>
              <a:rPr lang="en-FI" dirty="0" err="1"/>
              <a:t>seguridad</a:t>
            </a:r>
            <a:r>
              <a:rPr lang="en-FI" dirty="0"/>
              <a:t> de la </a:t>
            </a:r>
            <a:r>
              <a:rPr lang="en-FI" dirty="0" err="1"/>
              <a:t>información</a:t>
            </a:r>
            <a:r>
              <a:rPr lang="en-FI" dirty="0"/>
              <a:t>: la </a:t>
            </a:r>
            <a:r>
              <a:rPr lang="en-FI" b="1" dirty="0" err="1"/>
              <a:t>Tríada</a:t>
            </a:r>
            <a:r>
              <a:rPr lang="en-FI" b="1" dirty="0"/>
              <a:t> CIA</a:t>
            </a:r>
            <a:r>
              <a:rPr lang="en-FI" dirty="0"/>
              <a:t> (</a:t>
            </a:r>
            <a:r>
              <a:rPr lang="en-FI" i="1" dirty="0" err="1"/>
              <a:t>Confidencialidad</a:t>
            </a:r>
            <a:r>
              <a:rPr lang="en-FI" i="1" dirty="0"/>
              <a:t>, </a:t>
            </a:r>
            <a:r>
              <a:rPr lang="en-FI" i="1" dirty="0" err="1"/>
              <a:t>Integridad</a:t>
            </a:r>
            <a:r>
              <a:rPr lang="en-FI" i="1" dirty="0"/>
              <a:t> y </a:t>
            </a:r>
            <a:r>
              <a:rPr lang="en-FI" i="1" dirty="0" err="1"/>
              <a:t>Disponibilidad</a:t>
            </a:r>
            <a:r>
              <a:rPr lang="en-FI" dirty="0"/>
              <a:t>) y el </a:t>
            </a:r>
            <a:r>
              <a:rPr lang="en-FI" dirty="0" err="1"/>
              <a:t>marco</a:t>
            </a:r>
            <a:r>
              <a:rPr lang="en-FI" dirty="0"/>
              <a:t> </a:t>
            </a:r>
            <a:r>
              <a:rPr lang="en-FI" b="1" dirty="0"/>
              <a:t>AAA</a:t>
            </a:r>
            <a:r>
              <a:rPr lang="en-FI" dirty="0"/>
              <a:t> (</a:t>
            </a:r>
            <a:r>
              <a:rPr lang="en-FI" i="1" dirty="0" err="1"/>
              <a:t>Autenticación</a:t>
            </a:r>
            <a:r>
              <a:rPr lang="en-FI" i="1" dirty="0"/>
              <a:t>, </a:t>
            </a:r>
            <a:r>
              <a:rPr lang="en-FI" i="1" dirty="0" err="1"/>
              <a:t>Autorización</a:t>
            </a:r>
            <a:r>
              <a:rPr lang="en-FI" i="1" dirty="0"/>
              <a:t> y </a:t>
            </a:r>
            <a:r>
              <a:rPr lang="en-FI" i="1" dirty="0" err="1"/>
              <a:t>Auditoría</a:t>
            </a:r>
            <a:r>
              <a:rPr lang="en-FI" dirty="0"/>
              <a:t>).</a:t>
            </a:r>
          </a:p>
          <a:p>
            <a:r>
              <a:rPr lang="en-FI" dirty="0" err="1"/>
              <a:t>Analizaremos</a:t>
            </a:r>
            <a:r>
              <a:rPr lang="en-FI" dirty="0"/>
              <a:t> a </a:t>
            </a:r>
            <a:r>
              <a:rPr lang="en-FI" dirty="0" err="1"/>
              <a:t>fondo</a:t>
            </a:r>
            <a:r>
              <a:rPr lang="en-FI" dirty="0"/>
              <a:t> las </a:t>
            </a:r>
            <a:r>
              <a:rPr lang="en-FI" dirty="0" err="1"/>
              <a:t>primeras</a:t>
            </a:r>
            <a:r>
              <a:rPr lang="en-FI" dirty="0"/>
              <a:t>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letras</a:t>
            </a:r>
            <a:r>
              <a:rPr lang="en-FI" dirty="0"/>
              <a:t> del </a:t>
            </a:r>
            <a:r>
              <a:rPr lang="en-FI" dirty="0" err="1"/>
              <a:t>mnemónico</a:t>
            </a:r>
            <a:r>
              <a:rPr lang="en-FI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S de </a:t>
            </a:r>
            <a:r>
              <a:rPr lang="en-FI" b="1" i="1" dirty="0"/>
              <a:t>Spoofing</a:t>
            </a:r>
            <a:r>
              <a:rPr lang="en-FI" dirty="0"/>
              <a:t> o </a:t>
            </a:r>
            <a:r>
              <a:rPr lang="en-FI" dirty="0" err="1"/>
              <a:t>Suplantación</a:t>
            </a:r>
            <a:r>
              <a:rPr lang="en-FI" dirty="0"/>
              <a:t>: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atacantes</a:t>
            </a:r>
            <a:r>
              <a:rPr lang="en-FI" dirty="0"/>
              <a:t> </a:t>
            </a:r>
            <a:r>
              <a:rPr lang="en-FI" dirty="0" err="1"/>
              <a:t>logran</a:t>
            </a:r>
            <a:r>
              <a:rPr lang="en-FI" dirty="0"/>
              <a:t> </a:t>
            </a:r>
            <a:r>
              <a:rPr lang="en-FI" dirty="0" err="1"/>
              <a:t>engañar</a:t>
            </a:r>
            <a:r>
              <a:rPr lang="en-FI" dirty="0"/>
              <a:t> al </a:t>
            </a:r>
            <a:r>
              <a:rPr lang="en-FI" dirty="0" err="1"/>
              <a:t>sistema</a:t>
            </a:r>
            <a:r>
              <a:rPr lang="en-FI" dirty="0"/>
              <a:t> </a:t>
            </a:r>
            <a:r>
              <a:rPr lang="en-FI" dirty="0" err="1"/>
              <a:t>haciéndose</a:t>
            </a:r>
            <a:r>
              <a:rPr lang="en-FI" dirty="0"/>
              <a:t> pasar 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usuarios</a:t>
            </a:r>
            <a:r>
              <a:rPr lang="en-FI" dirty="0"/>
              <a:t> o </a:t>
            </a:r>
            <a:r>
              <a:rPr lang="en-FI" dirty="0" err="1"/>
              <a:t>servicios</a:t>
            </a:r>
            <a:r>
              <a:rPr lang="en-FI" dirty="0"/>
              <a:t> </a:t>
            </a:r>
            <a:r>
              <a:rPr lang="en-FI" dirty="0" err="1"/>
              <a:t>legítimos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T de </a:t>
            </a:r>
            <a:r>
              <a:rPr lang="en-FI" b="1" i="1" dirty="0"/>
              <a:t>Tampering</a:t>
            </a:r>
            <a:r>
              <a:rPr lang="en-FI" dirty="0"/>
              <a:t> o </a:t>
            </a:r>
            <a:r>
              <a:rPr lang="en-FI" dirty="0" err="1"/>
              <a:t>Alteración</a:t>
            </a:r>
            <a:r>
              <a:rPr lang="en-FI" dirty="0"/>
              <a:t>: la </a:t>
            </a:r>
            <a:r>
              <a:rPr lang="en-FI" dirty="0" err="1"/>
              <a:t>contaminación</a:t>
            </a:r>
            <a:r>
              <a:rPr lang="en-FI" dirty="0"/>
              <a:t> o </a:t>
            </a:r>
            <a:r>
              <a:rPr lang="en-FI" dirty="0" err="1"/>
              <a:t>modificación</a:t>
            </a:r>
            <a:r>
              <a:rPr lang="en-FI" dirty="0"/>
              <a:t> no </a:t>
            </a:r>
            <a:r>
              <a:rPr lang="en-FI" dirty="0" err="1"/>
              <a:t>autorizada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, tanto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tránsito</a:t>
            </a:r>
            <a:r>
              <a:rPr lang="en-FI" dirty="0"/>
              <a:t> </a:t>
            </a:r>
            <a:r>
              <a:rPr lang="en-FI" dirty="0" err="1"/>
              <a:t>como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bases de </a:t>
            </a:r>
            <a:r>
              <a:rPr lang="en-FI" dirty="0" err="1"/>
              <a:t>datos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R de </a:t>
            </a:r>
            <a:r>
              <a:rPr lang="en-FI" b="1" i="1" dirty="0"/>
              <a:t>Repudiation</a:t>
            </a:r>
            <a:r>
              <a:rPr lang="en-FI" dirty="0"/>
              <a:t> o </a:t>
            </a:r>
            <a:r>
              <a:rPr lang="en-FI" dirty="0" err="1"/>
              <a:t>Repudio</a:t>
            </a:r>
            <a:r>
              <a:rPr lang="en-FI" dirty="0"/>
              <a:t>: la </a:t>
            </a:r>
            <a:r>
              <a:rPr lang="en-FI" dirty="0" err="1"/>
              <a:t>capacidad</a:t>
            </a:r>
            <a:r>
              <a:rPr lang="en-FI" dirty="0"/>
              <a:t> de un </a:t>
            </a:r>
            <a:r>
              <a:rPr lang="en-FI" dirty="0" err="1"/>
              <a:t>usuario</a:t>
            </a:r>
            <a:r>
              <a:rPr lang="en-FI" dirty="0"/>
              <a:t> de </a:t>
            </a:r>
            <a:r>
              <a:rPr lang="en-FI" dirty="0" err="1"/>
              <a:t>negar</a:t>
            </a:r>
            <a:r>
              <a:rPr lang="en-FI" dirty="0"/>
              <a:t> </a:t>
            </a:r>
            <a:r>
              <a:rPr lang="en-FI" dirty="0" err="1"/>
              <a:t>haber</a:t>
            </a:r>
            <a:r>
              <a:rPr lang="en-FI" dirty="0"/>
              <a:t> </a:t>
            </a:r>
            <a:r>
              <a:rPr lang="en-FI" dirty="0" err="1"/>
              <a:t>realizado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acción</a:t>
            </a:r>
            <a:r>
              <a:rPr lang="en-FI" dirty="0"/>
              <a:t>. </a:t>
            </a:r>
            <a:r>
              <a:rPr lang="en-FI" dirty="0" err="1"/>
              <a:t>Aquí</a:t>
            </a:r>
            <a:r>
              <a:rPr lang="en-FI" dirty="0"/>
              <a:t>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diseñar</a:t>
            </a:r>
            <a:r>
              <a:rPr lang="en-FI" dirty="0"/>
              <a:t> </a:t>
            </a:r>
            <a:r>
              <a:rPr lang="en-FI" dirty="0" err="1"/>
              <a:t>trazas</a:t>
            </a:r>
            <a:r>
              <a:rPr lang="en-FI" dirty="0"/>
              <a:t> de </a:t>
            </a:r>
            <a:r>
              <a:rPr lang="en-FI" dirty="0" err="1"/>
              <a:t>auditoría</a:t>
            </a:r>
            <a:r>
              <a:rPr lang="en-FI" dirty="0"/>
              <a:t> y </a:t>
            </a:r>
            <a:r>
              <a:rPr lang="en-FI" dirty="0" err="1"/>
              <a:t>sistemas</a:t>
            </a:r>
            <a:r>
              <a:rPr lang="en-FI" dirty="0"/>
              <a:t> de </a:t>
            </a:r>
            <a:r>
              <a:rPr lang="en-FI" dirty="0" err="1"/>
              <a:t>registros</a:t>
            </a:r>
            <a:r>
              <a:rPr lang="en-FI" dirty="0"/>
              <a:t> (</a:t>
            </a:r>
            <a:r>
              <a:rPr lang="en-FI" i="1" dirty="0"/>
              <a:t>logs</a:t>
            </a:r>
            <a:r>
              <a:rPr lang="en-FI" dirty="0"/>
              <a:t>) </a:t>
            </a:r>
            <a:r>
              <a:rPr lang="en-FI" dirty="0" err="1"/>
              <a:t>seguros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garanticen</a:t>
            </a:r>
            <a:r>
              <a:rPr lang="en-FI" dirty="0"/>
              <a:t> el no </a:t>
            </a:r>
            <a:r>
              <a:rPr lang="en-FI" dirty="0" err="1"/>
              <a:t>repudio</a:t>
            </a:r>
            <a:r>
              <a:rPr lang="en-FI" dirty="0"/>
              <a:t>.</a:t>
            </a:r>
            <a:endParaRPr lang="en-GB" dirty="0"/>
          </a:p>
          <a:p>
            <a:pPr marL="0" lvl="0" indent="0"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FI" dirty="0"/>
              <a:t>En la </a:t>
            </a:r>
            <a:r>
              <a:rPr lang="en-GB" dirty="0" err="1"/>
              <a:t>misma</a:t>
            </a:r>
            <a:r>
              <a:rPr lang="en-GB" dirty="0"/>
              <a:t> </a:t>
            </a:r>
            <a:r>
              <a:rPr lang="en-GB" dirty="0" err="1"/>
              <a:t>semana</a:t>
            </a:r>
            <a:r>
              <a:rPr lang="en-FI" dirty="0"/>
              <a:t> </a:t>
            </a:r>
            <a:r>
              <a:rPr lang="en-GB" dirty="0"/>
              <a:t>del 13 de </a:t>
            </a:r>
            <a:r>
              <a:rPr lang="en-GB" dirty="0" err="1"/>
              <a:t>octubre</a:t>
            </a:r>
            <a:r>
              <a:rPr lang="en-GB" dirty="0"/>
              <a:t> hasta el 16 de </a:t>
            </a:r>
            <a:r>
              <a:rPr lang="en-GB" dirty="0" err="1"/>
              <a:t>octubre</a:t>
            </a:r>
            <a:r>
              <a:rPr lang="en-GB" dirty="0"/>
              <a:t> </a:t>
            </a:r>
            <a:r>
              <a:rPr lang="en-FI" dirty="0" err="1"/>
              <a:t>completaremos</a:t>
            </a:r>
            <a:r>
              <a:rPr lang="en-FI" dirty="0"/>
              <a:t> la </a:t>
            </a:r>
            <a:r>
              <a:rPr lang="en-FI" dirty="0" err="1"/>
              <a:t>taxonomía</a:t>
            </a:r>
            <a:r>
              <a:rPr lang="en-FI" dirty="0"/>
              <a:t> </a:t>
            </a:r>
            <a:r>
              <a:rPr lang="en-FI" dirty="0" err="1"/>
              <a:t>abordando</a:t>
            </a:r>
            <a:r>
              <a:rPr lang="en-FI" dirty="0"/>
              <a:t> las </a:t>
            </a:r>
            <a:r>
              <a:rPr lang="en-FI" dirty="0" err="1"/>
              <a:t>últimas</a:t>
            </a:r>
            <a:r>
              <a:rPr lang="en-FI" dirty="0"/>
              <a:t>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letras</a:t>
            </a:r>
            <a:r>
              <a:rPr lang="en-FI" dirty="0"/>
              <a:t> de STRIDE: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I de </a:t>
            </a:r>
            <a:r>
              <a:rPr lang="en-FI" b="1" i="1" dirty="0"/>
              <a:t>Information Disclosure</a:t>
            </a:r>
            <a:r>
              <a:rPr lang="en-FI" dirty="0"/>
              <a:t>: la </a:t>
            </a:r>
            <a:r>
              <a:rPr lang="en-FI" dirty="0" err="1"/>
              <a:t>filtración</a:t>
            </a:r>
            <a:r>
              <a:rPr lang="en-FI" dirty="0"/>
              <a:t> o </a:t>
            </a:r>
            <a:r>
              <a:rPr lang="en-FI" dirty="0" err="1"/>
              <a:t>exposición</a:t>
            </a:r>
            <a:r>
              <a:rPr lang="en-FI" dirty="0"/>
              <a:t> </a:t>
            </a:r>
            <a:r>
              <a:rPr lang="en-FI" dirty="0" err="1"/>
              <a:t>indebida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confidenciales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D de </a:t>
            </a:r>
            <a:r>
              <a:rPr lang="en-FI" b="1" i="1" dirty="0"/>
              <a:t>Denial of Service</a:t>
            </a:r>
            <a:r>
              <a:rPr lang="en-FI" dirty="0"/>
              <a:t>: </a:t>
            </a:r>
            <a:r>
              <a:rPr lang="en-FI" dirty="0" err="1"/>
              <a:t>ataques</a:t>
            </a:r>
            <a:r>
              <a:rPr lang="en-FI" dirty="0"/>
              <a:t> de </a:t>
            </a:r>
            <a:r>
              <a:rPr lang="en-FI" dirty="0" err="1"/>
              <a:t>negación</a:t>
            </a:r>
            <a:r>
              <a:rPr lang="en-FI" dirty="0"/>
              <a:t> de </a:t>
            </a:r>
            <a:r>
              <a:rPr lang="en-FI" dirty="0" err="1"/>
              <a:t>servicio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atentan</a:t>
            </a:r>
            <a:r>
              <a:rPr lang="en-FI" dirty="0"/>
              <a:t> contra la </a:t>
            </a:r>
            <a:r>
              <a:rPr lang="en-FI" dirty="0" err="1"/>
              <a:t>disponibilidad</a:t>
            </a:r>
            <a:r>
              <a:rPr lang="en-FI" dirty="0"/>
              <a:t> del </a:t>
            </a:r>
            <a:r>
              <a:rPr lang="en-FI" dirty="0" err="1"/>
              <a:t>sistema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b="1" dirty="0"/>
              <a:t>E de </a:t>
            </a:r>
            <a:r>
              <a:rPr lang="en-FI" b="1" i="1" dirty="0"/>
              <a:t>Elevation of Privilege</a:t>
            </a:r>
            <a:r>
              <a:rPr lang="en-FI" dirty="0"/>
              <a:t>: </a:t>
            </a:r>
            <a:r>
              <a:rPr lang="en-FI" dirty="0" err="1"/>
              <a:t>escenarios</a:t>
            </a:r>
            <a:r>
              <a:rPr lang="en-FI" dirty="0"/>
              <a:t> </a:t>
            </a:r>
            <a:r>
              <a:rPr lang="en-FI" dirty="0" err="1"/>
              <a:t>donde</a:t>
            </a:r>
            <a:r>
              <a:rPr lang="en-FI" dirty="0"/>
              <a:t> un </a:t>
            </a:r>
            <a:r>
              <a:rPr lang="en-FI" dirty="0" err="1"/>
              <a:t>atacante</a:t>
            </a:r>
            <a:r>
              <a:rPr lang="en-FI" dirty="0"/>
              <a:t> </a:t>
            </a:r>
            <a:r>
              <a:rPr lang="en-FI" dirty="0" err="1"/>
              <a:t>logra</a:t>
            </a:r>
            <a:r>
              <a:rPr lang="en-FI" dirty="0"/>
              <a:t> </a:t>
            </a:r>
            <a:r>
              <a:rPr lang="en-FI" dirty="0" err="1"/>
              <a:t>escalar</a:t>
            </a:r>
            <a:r>
              <a:rPr lang="en-FI" dirty="0"/>
              <a:t> </a:t>
            </a:r>
            <a:r>
              <a:rPr lang="en-FI" dirty="0" err="1"/>
              <a:t>permisos</a:t>
            </a:r>
            <a:r>
              <a:rPr lang="en-FI" dirty="0"/>
              <a:t> para </a:t>
            </a:r>
            <a:r>
              <a:rPr lang="en-FI" dirty="0" err="1"/>
              <a:t>ejecutar</a:t>
            </a:r>
            <a:r>
              <a:rPr lang="en-FI" dirty="0"/>
              <a:t> </a:t>
            </a:r>
            <a:r>
              <a:rPr lang="en-FI" dirty="0" err="1"/>
              <a:t>acciones</a:t>
            </a:r>
            <a:r>
              <a:rPr lang="en-FI" dirty="0"/>
              <a:t> </a:t>
            </a:r>
            <a:r>
              <a:rPr lang="en-FI" dirty="0" err="1"/>
              <a:t>reservadas</a:t>
            </a:r>
            <a:r>
              <a:rPr lang="en-FI" dirty="0"/>
              <a:t> a </a:t>
            </a:r>
            <a:r>
              <a:rPr lang="en-FI" dirty="0" err="1"/>
              <a:t>administradores</a:t>
            </a:r>
            <a:r>
              <a:rPr lang="en-FI" dirty="0"/>
              <a:t>.</a:t>
            </a:r>
          </a:p>
          <a:p>
            <a:r>
              <a:rPr lang="en-FI" dirty="0"/>
              <a:t>Para </a:t>
            </a:r>
            <a:r>
              <a:rPr lang="en-FI" dirty="0" err="1"/>
              <a:t>cerrar</a:t>
            </a:r>
            <a:r>
              <a:rPr lang="en-FI" dirty="0"/>
              <a:t>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fase</a:t>
            </a:r>
            <a:r>
              <a:rPr lang="en-FI" dirty="0"/>
              <a:t> y </a:t>
            </a:r>
            <a:r>
              <a:rPr lang="en-FI" dirty="0" err="1"/>
              <a:t>tener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visión</a:t>
            </a:r>
            <a:r>
              <a:rPr lang="en-FI" dirty="0"/>
              <a:t> </a:t>
            </a:r>
            <a:r>
              <a:rPr lang="en-FI" dirty="0" err="1"/>
              <a:t>aún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amplia</a:t>
            </a:r>
            <a:r>
              <a:rPr lang="en-FI" dirty="0"/>
              <a:t>, </a:t>
            </a:r>
            <a:r>
              <a:rPr lang="en-FI" dirty="0" err="1"/>
              <a:t>estudiaremos</a:t>
            </a:r>
            <a:r>
              <a:rPr lang="en-FI" dirty="0"/>
              <a:t>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b="1" dirty="0"/>
              <a:t>TRIKE</a:t>
            </a:r>
            <a:r>
              <a:rPr lang="en-FI" dirty="0"/>
              <a:t>. A </a:t>
            </a:r>
            <a:r>
              <a:rPr lang="en-FI" dirty="0" err="1"/>
              <a:t>diferencia</a:t>
            </a:r>
            <a:r>
              <a:rPr lang="en-FI" dirty="0"/>
              <a:t> de STRIDE, TRIKE </a:t>
            </a:r>
            <a:r>
              <a:rPr lang="en-FI" dirty="0" err="1"/>
              <a:t>adopta</a:t>
            </a:r>
            <a:r>
              <a:rPr lang="en-FI" dirty="0"/>
              <a:t> un </a:t>
            </a:r>
            <a:r>
              <a:rPr lang="en-FI" dirty="0" err="1"/>
              <a:t>enfoque</a:t>
            </a:r>
            <a:r>
              <a:rPr lang="en-FI" dirty="0"/>
              <a:t> </a:t>
            </a:r>
            <a:r>
              <a:rPr lang="en-FI" dirty="0" err="1"/>
              <a:t>riguroso</a:t>
            </a:r>
            <a:r>
              <a:rPr lang="en-FI" dirty="0"/>
              <a:t> </a:t>
            </a:r>
            <a:r>
              <a:rPr lang="en-FI" dirty="0" err="1"/>
              <a:t>centrado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gestión</a:t>
            </a:r>
            <a:r>
              <a:rPr lang="en-FI" dirty="0"/>
              <a:t> de </a:t>
            </a:r>
            <a:r>
              <a:rPr lang="en-FI" dirty="0" err="1"/>
              <a:t>activos</a:t>
            </a:r>
            <a:r>
              <a:rPr lang="en-FI" dirty="0"/>
              <a:t> y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cumplimiento</a:t>
            </a:r>
            <a:r>
              <a:rPr lang="en-FI" dirty="0"/>
              <a:t> de </a:t>
            </a:r>
            <a:r>
              <a:rPr lang="en-FI" dirty="0" err="1"/>
              <a:t>requerimientos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.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construir</a:t>
            </a:r>
            <a:r>
              <a:rPr lang="en-FI" dirty="0"/>
              <a:t> </a:t>
            </a:r>
            <a:r>
              <a:rPr lang="en-FI" dirty="0" err="1"/>
              <a:t>diagramas</a:t>
            </a:r>
            <a:r>
              <a:rPr lang="en-FI" dirty="0"/>
              <a:t> de </a:t>
            </a:r>
            <a:r>
              <a:rPr lang="en-FI" dirty="0" err="1"/>
              <a:t>flujo</a:t>
            </a:r>
            <a:r>
              <a:rPr lang="en-FI" dirty="0"/>
              <a:t> de </a:t>
            </a:r>
            <a:r>
              <a:rPr lang="en-FI" dirty="0" err="1"/>
              <a:t>datos</a:t>
            </a:r>
            <a:r>
              <a:rPr lang="en-FI" dirty="0"/>
              <a:t> (</a:t>
            </a:r>
            <a:r>
              <a:rPr lang="en-FI" i="1" dirty="0" err="1"/>
              <a:t>DFDs</a:t>
            </a:r>
            <a:r>
              <a:rPr lang="en-FI" dirty="0"/>
              <a:t>), </a:t>
            </a:r>
            <a:r>
              <a:rPr lang="en-FI" dirty="0" err="1"/>
              <a:t>identificar</a:t>
            </a:r>
            <a:r>
              <a:rPr lang="en-FI" dirty="0"/>
              <a:t> y </a:t>
            </a:r>
            <a:r>
              <a:rPr lang="en-FI" dirty="0" err="1"/>
              <a:t>mitigar</a:t>
            </a:r>
            <a:r>
              <a:rPr lang="en-FI" dirty="0"/>
              <a:t> </a:t>
            </a:r>
            <a:r>
              <a:rPr lang="en-FI" dirty="0" err="1"/>
              <a:t>riesgos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cada</a:t>
            </a:r>
            <a:r>
              <a:rPr lang="en-FI" dirty="0"/>
              <a:t> </a:t>
            </a:r>
            <a:r>
              <a:rPr lang="en-FI" dirty="0" err="1"/>
              <a:t>interacción</a:t>
            </a:r>
            <a:r>
              <a:rPr lang="en-FI" dirty="0"/>
              <a:t> del </a:t>
            </a:r>
            <a:r>
              <a:rPr lang="en-FI" dirty="0" err="1"/>
              <a:t>sistema</a:t>
            </a:r>
            <a:r>
              <a:rPr lang="en-FI" dirty="0"/>
              <a:t> y, </a:t>
            </a:r>
            <a:r>
              <a:rPr lang="en-FI" dirty="0" err="1"/>
              <a:t>finalmente</a:t>
            </a:r>
            <a:r>
              <a:rPr lang="en-FI" dirty="0"/>
              <a:t>, </a:t>
            </a:r>
            <a:r>
              <a:rPr lang="en-FI" dirty="0" err="1"/>
              <a:t>validar</a:t>
            </a:r>
            <a:r>
              <a:rPr lang="en-FI" dirty="0"/>
              <a:t> la </a:t>
            </a:r>
            <a:r>
              <a:rPr lang="en-FI" dirty="0" err="1"/>
              <a:t>efectividad</a:t>
            </a:r>
            <a:r>
              <a:rPr lang="en-FI" dirty="0"/>
              <a:t> de </a:t>
            </a:r>
            <a:r>
              <a:rPr lang="en-FI" dirty="0" err="1"/>
              <a:t>nuestro</a:t>
            </a:r>
            <a:r>
              <a:rPr lang="en-FI" dirty="0"/>
              <a:t> </a:t>
            </a:r>
            <a:r>
              <a:rPr lang="en-FI" dirty="0" err="1"/>
              <a:t>modelo</a:t>
            </a:r>
            <a:r>
              <a:rPr lang="en-FI" dirty="0"/>
              <a:t>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GB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GB" dirty="0"/>
              <a:t>Luego de </a:t>
            </a:r>
            <a:r>
              <a:rPr lang="en-GB" dirty="0" err="1"/>
              <a:t>este</a:t>
            </a:r>
            <a:r>
              <a:rPr lang="en-GB" dirty="0"/>
              <a:t> Bloque </a:t>
            </a:r>
            <a:r>
              <a:rPr lang="en-GB" dirty="0" err="1"/>
              <a:t>obtendrás</a:t>
            </a:r>
            <a:r>
              <a:rPr lang="en-GB" dirty="0"/>
              <a:t> el </a:t>
            </a:r>
            <a:r>
              <a:rPr lang="en-GB" dirty="0" err="1"/>
              <a:t>conocimiento</a:t>
            </a:r>
            <a:r>
              <a:rPr lang="en-FI" dirty="0"/>
              <a:t> de la </a:t>
            </a:r>
            <a:r>
              <a:rPr lang="en-FI" dirty="0" err="1"/>
              <a:t>taxonomía</a:t>
            </a:r>
            <a:r>
              <a:rPr lang="en-FI" dirty="0"/>
              <a:t> STRIDE y de la </a:t>
            </a:r>
            <a:r>
              <a:rPr lang="en-FI" dirty="0" err="1"/>
              <a:t>metodología</a:t>
            </a:r>
            <a:r>
              <a:rPr lang="en-FI" dirty="0"/>
              <a:t> TRIKE, lo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te</a:t>
            </a:r>
            <a:r>
              <a:rPr lang="en-FI" dirty="0"/>
              <a:t> </a:t>
            </a:r>
            <a:r>
              <a:rPr lang="en-FI" dirty="0" err="1"/>
              <a:t>permitirá</a:t>
            </a:r>
            <a:r>
              <a:rPr lang="en-FI" dirty="0"/>
              <a:t> </a:t>
            </a:r>
            <a:r>
              <a:rPr lang="en-FI" dirty="0" err="1"/>
              <a:t>catalogar</a:t>
            </a:r>
            <a:r>
              <a:rPr lang="en-FI" dirty="0"/>
              <a:t> con </a:t>
            </a:r>
            <a:r>
              <a:rPr lang="en-GB" dirty="0"/>
              <a:t>major </a:t>
            </a:r>
            <a:r>
              <a:rPr lang="en-FI" dirty="0" err="1"/>
              <a:t>precisión</a:t>
            </a:r>
            <a:r>
              <a:rPr lang="en-FI" dirty="0"/>
              <a:t> vector</a:t>
            </a:r>
            <a:r>
              <a:rPr lang="en-GB" dirty="0"/>
              <a:t>es</a:t>
            </a:r>
            <a:r>
              <a:rPr lang="en-FI" dirty="0"/>
              <a:t> de </a:t>
            </a:r>
            <a:r>
              <a:rPr lang="en-FI" dirty="0" err="1"/>
              <a:t>ataque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GB" dirty="0"/>
              <a:t>las</a:t>
            </a:r>
            <a:r>
              <a:rPr lang="en-FI" dirty="0"/>
              <a:t> </a:t>
            </a:r>
            <a:r>
              <a:rPr lang="en-FI" dirty="0" err="1"/>
              <a:t>aplicaciones</a:t>
            </a:r>
            <a:r>
              <a:rPr lang="en-GB" dirty="0"/>
              <a:t>.</a:t>
            </a:r>
            <a:endParaRPr lang="en-FI" dirty="0"/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1200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En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bloques</a:t>
            </a:r>
            <a:r>
              <a:rPr lang="en-GB" dirty="0"/>
              <a:t> </a:t>
            </a:r>
            <a:r>
              <a:rPr lang="en-FI" dirty="0" err="1"/>
              <a:t>anteriores</a:t>
            </a:r>
            <a:r>
              <a:rPr lang="en-FI" dirty="0"/>
              <a:t> </a:t>
            </a:r>
            <a:r>
              <a:rPr lang="en-FI" dirty="0" err="1"/>
              <a:t>aprendimos</a:t>
            </a:r>
            <a:r>
              <a:rPr lang="en-FI" dirty="0"/>
              <a:t> a </a:t>
            </a:r>
            <a:r>
              <a:rPr lang="en-FI" dirty="0" err="1"/>
              <a:t>identificar</a:t>
            </a:r>
            <a:r>
              <a:rPr lang="en-FI" dirty="0"/>
              <a:t> y </a:t>
            </a:r>
            <a:r>
              <a:rPr lang="en-FI" dirty="0" err="1"/>
              <a:t>categorizar</a:t>
            </a:r>
            <a:r>
              <a:rPr lang="en-FI" dirty="0"/>
              <a:t> las </a:t>
            </a:r>
            <a:r>
              <a:rPr lang="en-FI" dirty="0" err="1"/>
              <a:t>amenazas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nuestro</a:t>
            </a:r>
            <a:r>
              <a:rPr lang="en-FI" dirty="0"/>
              <a:t> software. Sin embargo,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mundo</a:t>
            </a:r>
            <a:r>
              <a:rPr lang="en-FI" dirty="0"/>
              <a:t> real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recursos</a:t>
            </a:r>
            <a:r>
              <a:rPr lang="en-FI" dirty="0"/>
              <a:t> son </a:t>
            </a:r>
            <a:r>
              <a:rPr lang="en-FI" dirty="0" err="1"/>
              <a:t>finitos</a:t>
            </a:r>
            <a:r>
              <a:rPr lang="en-FI" dirty="0"/>
              <a:t>. </a:t>
            </a:r>
            <a:r>
              <a:rPr lang="en-GB" dirty="0" err="1"/>
              <a:t>Entonces</a:t>
            </a:r>
            <a:r>
              <a:rPr lang="en-GB" dirty="0"/>
              <a:t>, </a:t>
            </a:r>
            <a:r>
              <a:rPr lang="en-FI" dirty="0"/>
              <a:t>¿</a:t>
            </a:r>
            <a:r>
              <a:rPr lang="en-FI" dirty="0" err="1"/>
              <a:t>qué</a:t>
            </a:r>
            <a:r>
              <a:rPr lang="en-FI" dirty="0"/>
              <a:t> </a:t>
            </a:r>
            <a:r>
              <a:rPr lang="en-FI" dirty="0" err="1"/>
              <a:t>vulnerabilidad</a:t>
            </a:r>
            <a:r>
              <a:rPr lang="en-FI" dirty="0"/>
              <a:t> </a:t>
            </a:r>
            <a:r>
              <a:rPr lang="en-FI" dirty="0" err="1"/>
              <a:t>debemos</a:t>
            </a:r>
            <a:r>
              <a:rPr lang="en-FI" dirty="0"/>
              <a:t> </a:t>
            </a:r>
            <a:r>
              <a:rPr lang="en-FI" dirty="0" err="1"/>
              <a:t>corregir</a:t>
            </a:r>
            <a:r>
              <a:rPr lang="en-FI" dirty="0"/>
              <a:t> primero? En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medir</a:t>
            </a:r>
            <a:r>
              <a:rPr lang="en-FI" dirty="0"/>
              <a:t>, </a:t>
            </a:r>
            <a:r>
              <a:rPr lang="en-FI" dirty="0" err="1"/>
              <a:t>cuantificar</a:t>
            </a:r>
            <a:r>
              <a:rPr lang="en-FI" dirty="0"/>
              <a:t> y </a:t>
            </a:r>
            <a:r>
              <a:rPr lang="en-FI" dirty="0" err="1"/>
              <a:t>priorizar</a:t>
            </a:r>
            <a:r>
              <a:rPr lang="en-FI" dirty="0"/>
              <a:t> el </a:t>
            </a:r>
            <a:r>
              <a:rPr lang="en-FI" dirty="0" err="1"/>
              <a:t>riesgo</a:t>
            </a:r>
            <a:r>
              <a:rPr lang="en-FI" dirty="0"/>
              <a:t> </a:t>
            </a:r>
            <a:r>
              <a:rPr lang="en-FI" dirty="0" err="1"/>
              <a:t>mediante</a:t>
            </a:r>
            <a:r>
              <a:rPr lang="en-FI" dirty="0"/>
              <a:t> </a:t>
            </a:r>
            <a:r>
              <a:rPr lang="en-FI" dirty="0" err="1"/>
              <a:t>métricas</a:t>
            </a:r>
            <a:r>
              <a:rPr lang="en-FI" dirty="0"/>
              <a:t> de </a:t>
            </a:r>
            <a:r>
              <a:rPr lang="en-FI" dirty="0" err="1"/>
              <a:t>severidad</a:t>
            </a:r>
            <a:r>
              <a:rPr lang="en-FI" dirty="0"/>
              <a:t> </a:t>
            </a:r>
            <a:r>
              <a:rPr lang="en-FI" dirty="0" err="1"/>
              <a:t>estándar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industria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dirty="0" err="1"/>
              <a:t>Iniciaremos</a:t>
            </a:r>
            <a:r>
              <a:rPr lang="en-FI" dirty="0"/>
              <a:t> la novena </a:t>
            </a:r>
            <a:r>
              <a:rPr lang="en-FI" dirty="0" err="1"/>
              <a:t>semana</a:t>
            </a:r>
            <a:r>
              <a:rPr lang="en-GB" dirty="0"/>
              <a:t> </a:t>
            </a:r>
            <a:r>
              <a:rPr lang="en-GB" dirty="0" err="1"/>
              <a:t>desde</a:t>
            </a:r>
            <a:r>
              <a:rPr lang="en-GB" dirty="0"/>
              <a:t> el 19 de </a:t>
            </a:r>
            <a:r>
              <a:rPr lang="en-GB" dirty="0" err="1"/>
              <a:t>Octubre</a:t>
            </a:r>
            <a:r>
              <a:rPr lang="en-GB" dirty="0"/>
              <a:t> hasta el 23 de </a:t>
            </a:r>
            <a:r>
              <a:rPr lang="en-GB" dirty="0" err="1"/>
              <a:t>Octubre</a:t>
            </a:r>
            <a:r>
              <a:rPr lang="en-FI" dirty="0"/>
              <a:t> </a:t>
            </a:r>
            <a:r>
              <a:rPr lang="en-FI" dirty="0" err="1"/>
              <a:t>explorando</a:t>
            </a:r>
            <a:r>
              <a:rPr lang="en-FI" dirty="0"/>
              <a:t>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b="1" dirty="0"/>
              <a:t>DREAD</a:t>
            </a:r>
            <a:r>
              <a:rPr lang="en-FI" dirty="0"/>
              <a:t>,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herramienta</a:t>
            </a:r>
            <a:r>
              <a:rPr lang="en-FI" dirty="0"/>
              <a:t> de </a:t>
            </a:r>
            <a:r>
              <a:rPr lang="en-FI" dirty="0" err="1"/>
              <a:t>clasificación</a:t>
            </a:r>
            <a:r>
              <a:rPr lang="en-FI" dirty="0"/>
              <a:t> </a:t>
            </a:r>
            <a:r>
              <a:rPr lang="en-FI" dirty="0" err="1"/>
              <a:t>cualitativa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permite</a:t>
            </a:r>
            <a:r>
              <a:rPr lang="en-FI" dirty="0"/>
              <a:t> </a:t>
            </a:r>
            <a:r>
              <a:rPr lang="en-FI" dirty="0" err="1"/>
              <a:t>evaluar</a:t>
            </a:r>
            <a:r>
              <a:rPr lang="en-FI" dirty="0"/>
              <a:t> el </a:t>
            </a:r>
            <a:r>
              <a:rPr lang="en-FI" dirty="0" err="1"/>
              <a:t>riesgo</a:t>
            </a:r>
            <a:r>
              <a:rPr lang="en-FI" dirty="0"/>
              <a:t> a </a:t>
            </a:r>
            <a:r>
              <a:rPr lang="en-FI" dirty="0" err="1"/>
              <a:t>través</a:t>
            </a:r>
            <a:r>
              <a:rPr lang="en-FI" dirty="0"/>
              <a:t> de </a:t>
            </a:r>
            <a:r>
              <a:rPr lang="en-FI" dirty="0" err="1"/>
              <a:t>cinco</a:t>
            </a:r>
            <a:r>
              <a:rPr lang="en-FI" dirty="0"/>
              <a:t> </a:t>
            </a:r>
            <a:r>
              <a:rPr lang="en-FI" dirty="0" err="1"/>
              <a:t>dimensiones</a:t>
            </a:r>
            <a:r>
              <a:rPr lang="en-FI" dirty="0"/>
              <a:t>: el </a:t>
            </a:r>
            <a:r>
              <a:rPr lang="en-FI" b="1" dirty="0" err="1"/>
              <a:t>Potencial</a:t>
            </a:r>
            <a:r>
              <a:rPr lang="en-FI" b="1" dirty="0"/>
              <a:t> de </a:t>
            </a:r>
            <a:r>
              <a:rPr lang="en-FI" b="1" dirty="0" err="1"/>
              <a:t>daño</a:t>
            </a:r>
            <a:r>
              <a:rPr lang="en-FI" dirty="0"/>
              <a:t>, la </a:t>
            </a:r>
            <a:r>
              <a:rPr lang="en-FI" b="1" dirty="0" err="1"/>
              <a:t>Reproductibilidad</a:t>
            </a:r>
            <a:r>
              <a:rPr lang="en-FI" dirty="0"/>
              <a:t> del </a:t>
            </a:r>
            <a:r>
              <a:rPr lang="en-FI" dirty="0" err="1"/>
              <a:t>fallo</a:t>
            </a:r>
            <a:r>
              <a:rPr lang="en-FI" dirty="0"/>
              <a:t>, </a:t>
            </a:r>
            <a:r>
              <a:rPr lang="en-FI" dirty="0" err="1"/>
              <a:t>su</a:t>
            </a:r>
            <a:r>
              <a:rPr lang="en-FI" dirty="0"/>
              <a:t> </a:t>
            </a:r>
            <a:r>
              <a:rPr lang="en-FI" dirty="0" err="1"/>
              <a:t>facilidad</a:t>
            </a:r>
            <a:r>
              <a:rPr lang="en-FI" dirty="0"/>
              <a:t> de </a:t>
            </a:r>
            <a:r>
              <a:rPr lang="en-FI" b="1" dirty="0" err="1"/>
              <a:t>Explotabilidad</a:t>
            </a:r>
            <a:r>
              <a:rPr lang="en-FI" dirty="0"/>
              <a:t>, la </a:t>
            </a:r>
            <a:r>
              <a:rPr lang="en-FI" dirty="0" err="1"/>
              <a:t>cantidad</a:t>
            </a:r>
            <a:r>
              <a:rPr lang="en-FI" dirty="0"/>
              <a:t> de </a:t>
            </a:r>
            <a:r>
              <a:rPr lang="en-FI" b="1" dirty="0" err="1"/>
              <a:t>Usuarios</a:t>
            </a:r>
            <a:r>
              <a:rPr lang="en-FI" b="1" dirty="0"/>
              <a:t> </a:t>
            </a:r>
            <a:r>
              <a:rPr lang="en-FI" b="1" dirty="0" err="1"/>
              <a:t>afectados</a:t>
            </a:r>
            <a:r>
              <a:rPr lang="en-FI" dirty="0"/>
              <a:t> y </a:t>
            </a:r>
            <a:r>
              <a:rPr lang="en-FI" dirty="0" err="1"/>
              <a:t>su</a:t>
            </a:r>
            <a:r>
              <a:rPr lang="en-FI" dirty="0"/>
              <a:t> </a:t>
            </a:r>
            <a:r>
              <a:rPr lang="en-FI" dirty="0" err="1"/>
              <a:t>nivel</a:t>
            </a:r>
            <a:r>
              <a:rPr lang="en-FI" dirty="0"/>
              <a:t> de </a:t>
            </a:r>
            <a:r>
              <a:rPr lang="en-FI" b="1" dirty="0" err="1"/>
              <a:t>Descubribilidad</a:t>
            </a:r>
            <a:r>
              <a:rPr lang="en-FI" dirty="0"/>
              <a:t>.</a:t>
            </a:r>
          </a:p>
          <a:p>
            <a:r>
              <a:rPr lang="en-FI" dirty="0" err="1"/>
              <a:t>Posteriormente</a:t>
            </a:r>
            <a:r>
              <a:rPr lang="en-FI" dirty="0"/>
              <a:t>, </a:t>
            </a:r>
            <a:r>
              <a:rPr lang="en-FI" dirty="0" err="1"/>
              <a:t>entraremos</a:t>
            </a:r>
            <a:r>
              <a:rPr lang="en-FI" dirty="0"/>
              <a:t> de </a:t>
            </a:r>
            <a:r>
              <a:rPr lang="en-FI" dirty="0" err="1"/>
              <a:t>lleno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dirty="0" err="1"/>
              <a:t>estándar</a:t>
            </a:r>
            <a:r>
              <a:rPr lang="en-FI" dirty="0"/>
              <a:t> global </a:t>
            </a:r>
            <a:r>
              <a:rPr lang="en-FI" dirty="0" err="1"/>
              <a:t>por</a:t>
            </a:r>
            <a:r>
              <a:rPr lang="en-FI" dirty="0"/>
              <a:t> </a:t>
            </a:r>
            <a:r>
              <a:rPr lang="en-FI" dirty="0" err="1"/>
              <a:t>excelencia</a:t>
            </a:r>
            <a:r>
              <a:rPr lang="en-FI" dirty="0"/>
              <a:t>: </a:t>
            </a:r>
            <a:r>
              <a:rPr lang="en-FI" b="1" dirty="0"/>
              <a:t>CVSS</a:t>
            </a:r>
            <a:r>
              <a:rPr lang="en-FI" dirty="0"/>
              <a:t> (</a:t>
            </a:r>
            <a:r>
              <a:rPr lang="en-FI" i="1" dirty="0"/>
              <a:t>Common Vulnerability Scoring System</a:t>
            </a:r>
            <a:r>
              <a:rPr lang="en-FI" dirty="0"/>
              <a:t>). </a:t>
            </a:r>
            <a:r>
              <a:rPr lang="en-FI" dirty="0" err="1"/>
              <a:t>Revisaremos</a:t>
            </a:r>
            <a:r>
              <a:rPr lang="en-FI" dirty="0"/>
              <a:t> </a:t>
            </a:r>
            <a:r>
              <a:rPr lang="en-FI" dirty="0" err="1"/>
              <a:t>su</a:t>
            </a:r>
            <a:r>
              <a:rPr lang="en-FI" dirty="0"/>
              <a:t> </a:t>
            </a:r>
            <a:r>
              <a:rPr lang="en-FI" dirty="0" err="1"/>
              <a:t>historia</a:t>
            </a:r>
            <a:r>
              <a:rPr lang="en-FI" dirty="0"/>
              <a:t> y </a:t>
            </a:r>
            <a:r>
              <a:rPr lang="en-FI" dirty="0" err="1"/>
              <a:t>evolución</a:t>
            </a:r>
            <a:r>
              <a:rPr lang="en-FI" dirty="0"/>
              <a:t> hasta </a:t>
            </a:r>
            <a:r>
              <a:rPr lang="en-FI" dirty="0" err="1"/>
              <a:t>llegar</a:t>
            </a:r>
            <a:r>
              <a:rPr lang="en-FI" dirty="0"/>
              <a:t> a la </a:t>
            </a:r>
            <a:r>
              <a:rPr lang="en-FI" dirty="0" err="1"/>
              <a:t>versión</a:t>
            </a:r>
            <a:r>
              <a:rPr lang="en-FI" dirty="0"/>
              <a:t>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reciente</a:t>
            </a:r>
            <a:r>
              <a:rPr lang="en-FI" dirty="0"/>
              <a:t>, </a:t>
            </a:r>
            <a:r>
              <a:rPr lang="en-FI" b="1" dirty="0"/>
              <a:t>CVSS v4.0</a:t>
            </a:r>
            <a:r>
              <a:rPr lang="en-FI" dirty="0"/>
              <a:t>. </a:t>
            </a:r>
            <a:r>
              <a:rPr lang="en-FI" dirty="0" err="1"/>
              <a:t>Analizaremos</a:t>
            </a:r>
            <a:r>
              <a:rPr lang="en-FI" dirty="0"/>
              <a:t> sus </a:t>
            </a:r>
            <a:r>
              <a:rPr lang="en-FI" b="1" dirty="0" err="1"/>
              <a:t>Métricas</a:t>
            </a:r>
            <a:r>
              <a:rPr lang="en-FI" b="1" dirty="0"/>
              <a:t> de base</a:t>
            </a:r>
            <a:r>
              <a:rPr lang="en-FI" dirty="0"/>
              <a:t> y </a:t>
            </a:r>
            <a:r>
              <a:rPr lang="en-FI" dirty="0" err="1"/>
              <a:t>cómo</a:t>
            </a:r>
            <a:r>
              <a:rPr lang="en-FI" dirty="0"/>
              <a:t> se </a:t>
            </a:r>
            <a:r>
              <a:rPr lang="en-FI" dirty="0" err="1"/>
              <a:t>traducen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escala</a:t>
            </a:r>
            <a:r>
              <a:rPr lang="en-FI" dirty="0"/>
              <a:t> </a:t>
            </a:r>
            <a:r>
              <a:rPr lang="en-FI" dirty="0" err="1"/>
              <a:t>cualitativa</a:t>
            </a:r>
            <a:r>
              <a:rPr lang="en-FI" dirty="0"/>
              <a:t> de </a:t>
            </a:r>
            <a:r>
              <a:rPr lang="en-FI" dirty="0" err="1"/>
              <a:t>severidad</a:t>
            </a:r>
            <a:r>
              <a:rPr lang="en-FI" dirty="0"/>
              <a:t> para </a:t>
            </a:r>
            <a:r>
              <a:rPr lang="en-FI" dirty="0" err="1"/>
              <a:t>asignar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nota </a:t>
            </a:r>
            <a:r>
              <a:rPr lang="en-FI" dirty="0" err="1"/>
              <a:t>objetiva</a:t>
            </a:r>
            <a:r>
              <a:rPr lang="en-FI" dirty="0"/>
              <a:t> a </a:t>
            </a:r>
            <a:r>
              <a:rPr lang="en-FI" dirty="0" err="1"/>
              <a:t>cada</a:t>
            </a:r>
            <a:r>
              <a:rPr lang="en-FI" dirty="0"/>
              <a:t> </a:t>
            </a:r>
            <a:r>
              <a:rPr lang="en-FI" dirty="0" err="1"/>
              <a:t>fallo</a:t>
            </a:r>
            <a:r>
              <a:rPr lang="en-FI" dirty="0"/>
              <a:t> </a:t>
            </a:r>
            <a:r>
              <a:rPr lang="en-FI" dirty="0" err="1"/>
              <a:t>descubierto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dirty="0"/>
              <a:t>En la </a:t>
            </a:r>
            <a:r>
              <a:rPr lang="en-FI" dirty="0" err="1"/>
              <a:t>décima</a:t>
            </a:r>
            <a:r>
              <a:rPr lang="en-FI" dirty="0"/>
              <a:t> </a:t>
            </a:r>
            <a:r>
              <a:rPr lang="en-FI" dirty="0" err="1"/>
              <a:t>semana</a:t>
            </a:r>
            <a:r>
              <a:rPr lang="en-GB" dirty="0"/>
              <a:t> </a:t>
            </a:r>
            <a:r>
              <a:rPr lang="en-GB" dirty="0" err="1"/>
              <a:t>desde</a:t>
            </a:r>
            <a:r>
              <a:rPr lang="en-GB" dirty="0"/>
              <a:t> el 26 de </a:t>
            </a:r>
            <a:r>
              <a:rPr lang="en-GB" dirty="0" err="1"/>
              <a:t>Octubre</a:t>
            </a:r>
            <a:r>
              <a:rPr lang="en-GB" dirty="0"/>
              <a:t> hasta el 30 de </a:t>
            </a:r>
            <a:r>
              <a:rPr lang="en-GB" dirty="0" err="1"/>
              <a:t>Octubre</a:t>
            </a:r>
            <a:r>
              <a:rPr lang="en-FI" dirty="0"/>
              <a:t> </a:t>
            </a:r>
            <a:r>
              <a:rPr lang="en-FI" dirty="0" err="1"/>
              <a:t>llevaremos</a:t>
            </a:r>
            <a:r>
              <a:rPr lang="en-FI" dirty="0"/>
              <a:t> </a:t>
            </a:r>
            <a:r>
              <a:rPr lang="en-FI" dirty="0" err="1"/>
              <a:t>nuestro</a:t>
            </a:r>
            <a:r>
              <a:rPr lang="en-FI" dirty="0"/>
              <a:t> </a:t>
            </a:r>
            <a:r>
              <a:rPr lang="en-FI" dirty="0" err="1"/>
              <a:t>dominio</a:t>
            </a:r>
            <a:r>
              <a:rPr lang="en-FI" dirty="0"/>
              <a:t> de </a:t>
            </a:r>
            <a:r>
              <a:rPr lang="en-FI" b="1" dirty="0"/>
              <a:t>CVSS v4.0</a:t>
            </a:r>
            <a:r>
              <a:rPr lang="en-FI" dirty="0"/>
              <a:t> al </a:t>
            </a:r>
            <a:r>
              <a:rPr lang="en-FI" dirty="0" err="1"/>
              <a:t>siguiente</a:t>
            </a:r>
            <a:r>
              <a:rPr lang="en-FI" dirty="0"/>
              <a:t> </a:t>
            </a:r>
            <a:r>
              <a:rPr lang="en-FI" dirty="0" err="1"/>
              <a:t>nivel</a:t>
            </a:r>
            <a:r>
              <a:rPr lang="en-FI" dirty="0"/>
              <a:t>. </a:t>
            </a:r>
            <a:r>
              <a:rPr lang="en-FI" dirty="0" err="1"/>
              <a:t>Aprenderemos</a:t>
            </a:r>
            <a:r>
              <a:rPr lang="en-FI" dirty="0"/>
              <a:t> a leer y </a:t>
            </a:r>
            <a:r>
              <a:rPr lang="en-FI" dirty="0" err="1"/>
              <a:t>construir</a:t>
            </a:r>
            <a:r>
              <a:rPr lang="en-FI" dirty="0"/>
              <a:t> la </a:t>
            </a:r>
            <a:r>
              <a:rPr lang="en-FI" b="1" dirty="0"/>
              <a:t>Cadena de vector</a:t>
            </a:r>
            <a:r>
              <a:rPr lang="en-FI" dirty="0"/>
              <a:t> (</a:t>
            </a:r>
            <a:r>
              <a:rPr lang="en-FI" i="1" dirty="0"/>
              <a:t>Vector String</a:t>
            </a:r>
            <a:r>
              <a:rPr lang="en-FI" dirty="0"/>
              <a:t>) y </a:t>
            </a:r>
            <a:r>
              <a:rPr lang="en-FI" dirty="0" err="1"/>
              <a:t>analizaremos</a:t>
            </a:r>
            <a:r>
              <a:rPr lang="en-FI" dirty="0"/>
              <a:t> las </a:t>
            </a:r>
            <a:r>
              <a:rPr lang="en-FI" dirty="0" err="1"/>
              <a:t>capas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hacen</a:t>
            </a:r>
            <a:r>
              <a:rPr lang="en-FI" dirty="0"/>
              <a:t> tan </a:t>
            </a:r>
            <a:r>
              <a:rPr lang="en-FI" dirty="0" err="1"/>
              <a:t>precisa</a:t>
            </a:r>
            <a:r>
              <a:rPr lang="en-FI" dirty="0"/>
              <a:t> a </a:t>
            </a:r>
            <a:r>
              <a:rPr lang="en-FI" dirty="0" err="1"/>
              <a:t>esta</a:t>
            </a:r>
            <a:r>
              <a:rPr lang="en-FI" dirty="0"/>
              <a:t> </a:t>
            </a:r>
            <a:r>
              <a:rPr lang="en-FI" dirty="0" err="1"/>
              <a:t>versión</a:t>
            </a:r>
            <a:r>
              <a:rPr lang="en-FI" dirty="0"/>
              <a:t>: las </a:t>
            </a:r>
            <a:r>
              <a:rPr lang="en-FI" b="1" dirty="0" err="1"/>
              <a:t>Métricas</a:t>
            </a:r>
            <a:r>
              <a:rPr lang="en-FI" b="1" dirty="0"/>
              <a:t> de </a:t>
            </a:r>
            <a:r>
              <a:rPr lang="en-FI" b="1" dirty="0" err="1"/>
              <a:t>amenaza</a:t>
            </a:r>
            <a:r>
              <a:rPr lang="en-FI" dirty="0"/>
              <a:t>, las </a:t>
            </a:r>
            <a:r>
              <a:rPr lang="en-FI" b="1" dirty="0" err="1"/>
              <a:t>Métricas</a:t>
            </a:r>
            <a:r>
              <a:rPr lang="en-FI" b="1" dirty="0"/>
              <a:t> de </a:t>
            </a:r>
            <a:r>
              <a:rPr lang="en-FI" b="1" dirty="0" err="1"/>
              <a:t>ambiente</a:t>
            </a:r>
            <a:r>
              <a:rPr lang="en-FI" dirty="0"/>
              <a:t> —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ajustan</a:t>
            </a:r>
            <a:r>
              <a:rPr lang="en-FI" dirty="0"/>
              <a:t> la </a:t>
            </a:r>
            <a:r>
              <a:rPr lang="en-FI" dirty="0" err="1"/>
              <a:t>severidad</a:t>
            </a:r>
            <a:r>
              <a:rPr lang="en-FI" dirty="0"/>
              <a:t> al </a:t>
            </a:r>
            <a:r>
              <a:rPr lang="en-FI" dirty="0" err="1"/>
              <a:t>contexto</a:t>
            </a:r>
            <a:r>
              <a:rPr lang="en-FI" dirty="0"/>
              <a:t> real de </a:t>
            </a:r>
            <a:r>
              <a:rPr lang="en-FI" dirty="0" err="1"/>
              <a:t>tu</a:t>
            </a:r>
            <a:r>
              <a:rPr lang="en-FI" dirty="0"/>
              <a:t> </a:t>
            </a:r>
            <a:r>
              <a:rPr lang="en-FI" dirty="0" err="1"/>
              <a:t>empresa</a:t>
            </a:r>
            <a:r>
              <a:rPr lang="en-FI" dirty="0"/>
              <a:t>— y las </a:t>
            </a:r>
            <a:r>
              <a:rPr lang="en-FI" b="1" dirty="0" err="1"/>
              <a:t>Métricas</a:t>
            </a:r>
            <a:r>
              <a:rPr lang="en-FI" b="1" dirty="0"/>
              <a:t> </a:t>
            </a:r>
            <a:r>
              <a:rPr lang="en-FI" b="1" dirty="0" err="1"/>
              <a:t>suplementarias</a:t>
            </a:r>
            <a:r>
              <a:rPr lang="en-FI" dirty="0"/>
              <a:t>.</a:t>
            </a:r>
          </a:p>
          <a:p>
            <a:r>
              <a:rPr lang="en-FI" dirty="0"/>
              <a:t>A </a:t>
            </a:r>
            <a:r>
              <a:rPr lang="en-FI" dirty="0" err="1"/>
              <a:t>continuación</a:t>
            </a:r>
            <a:r>
              <a:rPr lang="en-FI" dirty="0"/>
              <a:t>, </a:t>
            </a:r>
            <a:r>
              <a:rPr lang="en-FI" dirty="0" err="1"/>
              <a:t>estudiaremos</a:t>
            </a:r>
            <a:r>
              <a:rPr lang="en-FI" dirty="0"/>
              <a:t> la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b="1" dirty="0"/>
              <a:t>OCTAVE</a:t>
            </a:r>
            <a:r>
              <a:rPr lang="en-FI" dirty="0"/>
              <a:t>, un </a:t>
            </a:r>
            <a:r>
              <a:rPr lang="en-FI" dirty="0" err="1"/>
              <a:t>enfoque</a:t>
            </a:r>
            <a:r>
              <a:rPr lang="en-FI" dirty="0"/>
              <a:t> </a:t>
            </a:r>
            <a:r>
              <a:rPr lang="en-FI" dirty="0" err="1"/>
              <a:t>organizativo</a:t>
            </a:r>
            <a:r>
              <a:rPr lang="en-FI" dirty="0"/>
              <a:t> </a:t>
            </a:r>
            <a:r>
              <a:rPr lang="en-FI" dirty="0" err="1"/>
              <a:t>enfocado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 </a:t>
            </a:r>
            <a:r>
              <a:rPr lang="en-FI" dirty="0" err="1"/>
              <a:t>gestión</a:t>
            </a:r>
            <a:r>
              <a:rPr lang="en-FI" dirty="0"/>
              <a:t> de </a:t>
            </a:r>
            <a:r>
              <a:rPr lang="en-FI" dirty="0" err="1"/>
              <a:t>activos</a:t>
            </a:r>
            <a:r>
              <a:rPr lang="en-FI" dirty="0"/>
              <a:t>. </a:t>
            </a:r>
            <a:r>
              <a:rPr lang="en-FI" dirty="0" err="1"/>
              <a:t>Recorreremos</a:t>
            </a:r>
            <a:r>
              <a:rPr lang="en-FI" dirty="0"/>
              <a:t> sus </a:t>
            </a:r>
            <a:r>
              <a:rPr lang="en-FI" dirty="0" err="1"/>
              <a:t>tres</a:t>
            </a:r>
            <a:r>
              <a:rPr lang="en-FI" dirty="0"/>
              <a:t> </a:t>
            </a:r>
            <a:r>
              <a:rPr lang="en-FI" dirty="0" err="1"/>
              <a:t>fases</a:t>
            </a:r>
            <a:r>
              <a:rPr lang="en-FI" dirty="0"/>
              <a:t> clave: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dirty="0"/>
              <a:t>La </a:t>
            </a:r>
            <a:r>
              <a:rPr lang="en-FI" dirty="0" err="1"/>
              <a:t>construcción</a:t>
            </a:r>
            <a:r>
              <a:rPr lang="en-FI" dirty="0"/>
              <a:t> de </a:t>
            </a:r>
            <a:r>
              <a:rPr lang="en-FI" b="1" dirty="0" err="1"/>
              <a:t>perfiles</a:t>
            </a:r>
            <a:r>
              <a:rPr lang="en-FI" b="1" dirty="0"/>
              <a:t> de </a:t>
            </a:r>
            <a:r>
              <a:rPr lang="en-FI" b="1" dirty="0" err="1"/>
              <a:t>activos</a:t>
            </a:r>
            <a:r>
              <a:rPr lang="en-FI" dirty="0"/>
              <a:t> </a:t>
            </a:r>
            <a:r>
              <a:rPr lang="en-FI" dirty="0" err="1"/>
              <a:t>basados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amenazas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dirty="0"/>
              <a:t>La </a:t>
            </a:r>
            <a:r>
              <a:rPr lang="en-FI" dirty="0" err="1"/>
              <a:t>identificación</a:t>
            </a:r>
            <a:r>
              <a:rPr lang="en-FI" dirty="0"/>
              <a:t> de </a:t>
            </a:r>
            <a:r>
              <a:rPr lang="en-FI" b="1" dirty="0" err="1"/>
              <a:t>vulnerabilidades</a:t>
            </a:r>
            <a:r>
              <a:rPr lang="en-FI" b="1" dirty="0"/>
              <a:t> </a:t>
            </a:r>
            <a:r>
              <a:rPr lang="en-FI" b="1" dirty="0" err="1"/>
              <a:t>en</a:t>
            </a:r>
            <a:r>
              <a:rPr lang="en-FI" b="1" dirty="0"/>
              <a:t> la </a:t>
            </a:r>
            <a:r>
              <a:rPr lang="en-FI" b="1" dirty="0" err="1"/>
              <a:t>infraestructura</a:t>
            </a:r>
            <a:r>
              <a:rPr lang="en-FI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FI" dirty="0"/>
              <a:t>Y la </a:t>
            </a:r>
            <a:r>
              <a:rPr lang="en-FI" dirty="0" err="1"/>
              <a:t>elaboración</a:t>
            </a:r>
            <a:r>
              <a:rPr lang="en-FI" dirty="0"/>
              <a:t> de </a:t>
            </a:r>
            <a:r>
              <a:rPr lang="en-FI" b="1" dirty="0"/>
              <a:t>planes y </a:t>
            </a:r>
            <a:r>
              <a:rPr lang="en-FI" b="1" dirty="0" err="1"/>
              <a:t>estrategias</a:t>
            </a:r>
            <a:r>
              <a:rPr lang="en-FI" b="1" dirty="0"/>
              <a:t> de </a:t>
            </a:r>
            <a:r>
              <a:rPr lang="en-FI" b="1" dirty="0" err="1"/>
              <a:t>seguridad</a:t>
            </a:r>
            <a:r>
              <a:rPr lang="en-FI" dirty="0"/>
              <a:t> a </a:t>
            </a:r>
            <a:r>
              <a:rPr lang="en-FI" dirty="0" err="1"/>
              <a:t>medida</a:t>
            </a:r>
            <a:r>
              <a:rPr lang="en-FI" dirty="0"/>
              <a:t>.</a:t>
            </a:r>
          </a:p>
          <a:p>
            <a:r>
              <a:rPr lang="en-FI" dirty="0"/>
              <a:t>Para </a:t>
            </a:r>
            <a:r>
              <a:rPr lang="en-FI" dirty="0" err="1"/>
              <a:t>cerrar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 </a:t>
            </a:r>
            <a:r>
              <a:rPr lang="en-FI" dirty="0" err="1"/>
              <a:t>abordaremos</a:t>
            </a:r>
            <a:r>
              <a:rPr lang="en-FI" dirty="0"/>
              <a:t> </a:t>
            </a:r>
            <a:r>
              <a:rPr lang="en-FI" b="1" dirty="0"/>
              <a:t>QTMM</a:t>
            </a:r>
            <a:r>
              <a:rPr lang="en-FI" dirty="0"/>
              <a:t> (</a:t>
            </a:r>
            <a:r>
              <a:rPr lang="en-FI" i="1" dirty="0"/>
              <a:t>Quantitative Threat </a:t>
            </a:r>
            <a:r>
              <a:rPr lang="en-FI" i="1" dirty="0" err="1"/>
              <a:t>Modeling</a:t>
            </a:r>
            <a:r>
              <a:rPr lang="en-FI" i="1" dirty="0"/>
              <a:t> Method</a:t>
            </a:r>
            <a:r>
              <a:rPr lang="en-FI" dirty="0"/>
              <a:t>),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metodología</a:t>
            </a:r>
            <a:r>
              <a:rPr lang="en-FI" dirty="0"/>
              <a:t> </a:t>
            </a:r>
            <a:r>
              <a:rPr lang="en-FI" dirty="0" err="1"/>
              <a:t>híbrida</a:t>
            </a:r>
            <a:r>
              <a:rPr lang="en-FI" dirty="0"/>
              <a:t> </a:t>
            </a:r>
            <a:r>
              <a:rPr lang="en-FI" dirty="0" err="1"/>
              <a:t>avanzada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logra</a:t>
            </a:r>
            <a:r>
              <a:rPr lang="en-FI" dirty="0"/>
              <a:t> </a:t>
            </a:r>
            <a:r>
              <a:rPr lang="en-FI" dirty="0" err="1"/>
              <a:t>confluir</a:t>
            </a:r>
            <a:r>
              <a:rPr lang="en-FI" dirty="0"/>
              <a:t> la </a:t>
            </a:r>
            <a:r>
              <a:rPr lang="en-FI" dirty="0" err="1"/>
              <a:t>categorización</a:t>
            </a:r>
            <a:r>
              <a:rPr lang="en-FI" dirty="0"/>
              <a:t> de STRIDE, la </a:t>
            </a:r>
            <a:r>
              <a:rPr lang="en-FI" dirty="0" err="1"/>
              <a:t>profundidad</a:t>
            </a:r>
            <a:r>
              <a:rPr lang="en-FI" dirty="0"/>
              <a:t> visual de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árboles</a:t>
            </a:r>
            <a:r>
              <a:rPr lang="en-FI" dirty="0"/>
              <a:t> de </a:t>
            </a:r>
            <a:r>
              <a:rPr lang="en-FI" dirty="0" err="1"/>
              <a:t>ataque</a:t>
            </a:r>
            <a:r>
              <a:rPr lang="en-FI" dirty="0"/>
              <a:t> y la </a:t>
            </a:r>
            <a:r>
              <a:rPr lang="en-FI" dirty="0" err="1"/>
              <a:t>cuantificación</a:t>
            </a:r>
            <a:r>
              <a:rPr lang="en-FI" dirty="0"/>
              <a:t> </a:t>
            </a:r>
            <a:r>
              <a:rPr lang="en-FI" dirty="0" err="1"/>
              <a:t>matemática</a:t>
            </a:r>
            <a:r>
              <a:rPr lang="en-FI" dirty="0"/>
              <a:t> de CVSS.</a:t>
            </a:r>
          </a:p>
          <a:p>
            <a:endParaRPr lang="en-GB" dirty="0"/>
          </a:p>
          <a:p>
            <a:r>
              <a:rPr lang="en-FI" dirty="0"/>
              <a:t>Al </a:t>
            </a:r>
            <a:r>
              <a:rPr lang="en-FI" dirty="0" err="1"/>
              <a:t>concluir</a:t>
            </a:r>
            <a:r>
              <a:rPr lang="en-FI" dirty="0"/>
              <a:t> </a:t>
            </a:r>
            <a:r>
              <a:rPr lang="en-FI" dirty="0" err="1"/>
              <a:t>este</a:t>
            </a:r>
            <a:r>
              <a:rPr lang="en-FI" dirty="0"/>
              <a:t> </a:t>
            </a:r>
            <a:r>
              <a:rPr lang="en-FI" dirty="0" err="1"/>
              <a:t>bloque</a:t>
            </a:r>
            <a:r>
              <a:rPr lang="en-FI" dirty="0"/>
              <a:t>, </a:t>
            </a:r>
            <a:r>
              <a:rPr lang="en-FI" dirty="0" err="1"/>
              <a:t>tendrás</a:t>
            </a:r>
            <a:r>
              <a:rPr lang="en-FI" dirty="0"/>
              <a:t> </a:t>
            </a:r>
            <a:r>
              <a:rPr lang="en-GB" dirty="0"/>
              <a:t>el </a:t>
            </a:r>
            <a:r>
              <a:rPr lang="en-GB" dirty="0" err="1"/>
              <a:t>conocimiento</a:t>
            </a:r>
            <a:r>
              <a:rPr lang="en-GB" dirty="0"/>
              <a:t> para </a:t>
            </a:r>
            <a:r>
              <a:rPr lang="en-FI" dirty="0" err="1"/>
              <a:t>argumentar</a:t>
            </a:r>
            <a:r>
              <a:rPr lang="en-FI" dirty="0"/>
              <a:t> con </a:t>
            </a:r>
            <a:r>
              <a:rPr lang="en-FI" dirty="0" err="1"/>
              <a:t>datos</a:t>
            </a:r>
            <a:r>
              <a:rPr lang="en-FI" dirty="0"/>
              <a:t> </a:t>
            </a:r>
            <a:r>
              <a:rPr lang="en-FI" dirty="0" err="1"/>
              <a:t>sólidos</a:t>
            </a:r>
            <a:r>
              <a:rPr lang="en-FI" dirty="0"/>
              <a:t> y </a:t>
            </a:r>
            <a:r>
              <a:rPr lang="en-FI" dirty="0" err="1"/>
              <a:t>métricas</a:t>
            </a:r>
            <a:r>
              <a:rPr lang="en-FI" dirty="0"/>
              <a:t> </a:t>
            </a:r>
            <a:r>
              <a:rPr lang="en-FI" dirty="0" err="1"/>
              <a:t>cuantitativas</a:t>
            </a:r>
            <a:r>
              <a:rPr lang="en-FI" dirty="0"/>
              <a:t> la </a:t>
            </a:r>
            <a:r>
              <a:rPr lang="en-FI" dirty="0" err="1"/>
              <a:t>severidad</a:t>
            </a:r>
            <a:r>
              <a:rPr lang="en-FI" dirty="0"/>
              <a:t> de </a:t>
            </a:r>
            <a:r>
              <a:rPr lang="en-FI" dirty="0" err="1"/>
              <a:t>cualquier</a:t>
            </a:r>
            <a:r>
              <a:rPr lang="en-FI" dirty="0"/>
              <a:t> </a:t>
            </a:r>
            <a:r>
              <a:rPr lang="en-FI" dirty="0" err="1"/>
              <a:t>amenaza</a:t>
            </a:r>
            <a:r>
              <a:rPr lang="en-FI" dirty="0"/>
              <a:t>, </a:t>
            </a:r>
            <a:r>
              <a:rPr lang="en-FI" dirty="0" err="1"/>
              <a:t>permitiendo</a:t>
            </a:r>
            <a:r>
              <a:rPr lang="en-FI" dirty="0"/>
              <a:t> a </a:t>
            </a:r>
            <a:r>
              <a:rPr lang="en-FI" dirty="0" err="1"/>
              <a:t>tu</a:t>
            </a:r>
            <a:r>
              <a:rPr lang="en-FI" dirty="0"/>
              <a:t> </a:t>
            </a:r>
            <a:r>
              <a:rPr lang="en-FI" dirty="0" err="1"/>
              <a:t>equipo</a:t>
            </a:r>
            <a:r>
              <a:rPr lang="en-FI" dirty="0"/>
              <a:t> </a:t>
            </a:r>
            <a:r>
              <a:rPr lang="en-FI" dirty="0" err="1"/>
              <a:t>priorizar</a:t>
            </a:r>
            <a:r>
              <a:rPr lang="en-FI" dirty="0"/>
              <a:t> </a:t>
            </a:r>
            <a:r>
              <a:rPr lang="en-FI" dirty="0" err="1"/>
              <a:t>soluciones</a:t>
            </a:r>
            <a:r>
              <a:rPr lang="en-FI" dirty="0"/>
              <a:t> de forma </a:t>
            </a:r>
            <a:r>
              <a:rPr lang="en-FI" dirty="0" err="1"/>
              <a:t>estratégica</a:t>
            </a:r>
            <a:r>
              <a:rPr lang="en-FI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2310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Este es Nuestro </a:t>
            </a:r>
            <a:r>
              <a:rPr lang="en-GB" dirty="0" err="1"/>
              <a:t>último</a:t>
            </a:r>
            <a:r>
              <a:rPr lang="en-GB" dirty="0"/>
              <a:t> Bloque. </a:t>
            </a:r>
            <a:r>
              <a:rPr lang="en-GB" dirty="0" err="1"/>
              <a:t>Sérá</a:t>
            </a:r>
            <a:r>
              <a:rPr lang="en-GB" dirty="0"/>
              <a:t> </a:t>
            </a:r>
            <a:r>
              <a:rPr lang="en-FI" dirty="0"/>
              <a:t>un </a:t>
            </a:r>
            <a:r>
              <a:rPr lang="en-FI" dirty="0" err="1"/>
              <a:t>viaje</a:t>
            </a:r>
            <a:r>
              <a:rPr lang="en-FI" dirty="0"/>
              <a:t> </a:t>
            </a:r>
            <a:r>
              <a:rPr lang="en-FI" dirty="0" err="1"/>
              <a:t>completo</a:t>
            </a:r>
            <a:r>
              <a:rPr lang="en-FI" dirty="0"/>
              <a:t> </a:t>
            </a:r>
            <a:r>
              <a:rPr lang="en-FI" dirty="0" err="1"/>
              <a:t>donde</a:t>
            </a:r>
            <a:r>
              <a:rPr lang="en-FI" dirty="0"/>
              <a:t> </a:t>
            </a:r>
            <a:r>
              <a:rPr lang="en-GB" dirty="0" err="1"/>
              <a:t>recorreremos</a:t>
            </a:r>
            <a:r>
              <a:rPr lang="en-FI" dirty="0"/>
              <a:t> la </a:t>
            </a:r>
            <a:r>
              <a:rPr lang="en-FI" dirty="0" err="1"/>
              <a:t>gobernanza</a:t>
            </a:r>
            <a:r>
              <a:rPr lang="en-FI" dirty="0"/>
              <a:t>, el </a:t>
            </a:r>
            <a:r>
              <a:rPr lang="en-FI" dirty="0" err="1"/>
              <a:t>modelado</a:t>
            </a:r>
            <a:r>
              <a:rPr lang="en-FI" dirty="0"/>
              <a:t> de </a:t>
            </a:r>
            <a:r>
              <a:rPr lang="en-FI" dirty="0" err="1"/>
              <a:t>amenazas</a:t>
            </a:r>
            <a:r>
              <a:rPr lang="en-FI" dirty="0"/>
              <a:t> y la </a:t>
            </a:r>
            <a:r>
              <a:rPr lang="en-FI" dirty="0" err="1"/>
              <a:t>cuantificación</a:t>
            </a:r>
            <a:r>
              <a:rPr lang="en-FI" dirty="0"/>
              <a:t> del Riesgo</a:t>
            </a:r>
            <a:r>
              <a:rPr lang="en-GB" dirty="0"/>
              <a:t> y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Bloque </a:t>
            </a:r>
            <a:r>
              <a:rPr lang="en-FI" dirty="0"/>
              <a:t>es </a:t>
            </a:r>
            <a:r>
              <a:rPr lang="en-FI" dirty="0" err="1"/>
              <a:t>momento</a:t>
            </a:r>
            <a:r>
              <a:rPr lang="en-FI" dirty="0"/>
              <a:t> de </a:t>
            </a:r>
            <a:r>
              <a:rPr lang="en-FI" dirty="0" err="1"/>
              <a:t>conectar</a:t>
            </a:r>
            <a:r>
              <a:rPr lang="en-FI" dirty="0"/>
              <a:t> </a:t>
            </a:r>
            <a:r>
              <a:rPr lang="en-FI" dirty="0" err="1"/>
              <a:t>todo</a:t>
            </a:r>
            <a:r>
              <a:rPr lang="en-FI" dirty="0"/>
              <a:t> lo </a:t>
            </a:r>
            <a:r>
              <a:rPr lang="en-FI" dirty="0" err="1"/>
              <a:t>aprendido</a:t>
            </a:r>
            <a:r>
              <a:rPr lang="en-FI" dirty="0"/>
              <a:t> con la </a:t>
            </a:r>
            <a:r>
              <a:rPr lang="en-FI" dirty="0" err="1"/>
              <a:t>realidad</a:t>
            </a:r>
            <a:r>
              <a:rPr lang="en-FI" dirty="0"/>
              <a:t> </a:t>
            </a:r>
            <a:r>
              <a:rPr lang="en-FI" dirty="0" err="1"/>
              <a:t>operativa</a:t>
            </a:r>
            <a:r>
              <a:rPr lang="en-FI" dirty="0"/>
              <a:t> del día a día: </a:t>
            </a:r>
            <a:r>
              <a:rPr lang="en-FI" dirty="0" err="1"/>
              <a:t>comprender</a:t>
            </a:r>
            <a:r>
              <a:rPr lang="en-FI" dirty="0"/>
              <a:t> la </a:t>
            </a:r>
            <a:r>
              <a:rPr lang="en-FI" dirty="0" err="1"/>
              <a:t>perspectiva</a:t>
            </a:r>
            <a:r>
              <a:rPr lang="en-FI" dirty="0"/>
              <a:t> del </a:t>
            </a:r>
            <a:r>
              <a:rPr lang="en-FI" dirty="0" err="1"/>
              <a:t>adversario</a:t>
            </a:r>
            <a:r>
              <a:rPr lang="en-FI" dirty="0"/>
              <a:t> y </a:t>
            </a:r>
            <a:r>
              <a:rPr lang="en-FI" dirty="0" err="1"/>
              <a:t>llevar</a:t>
            </a:r>
            <a:r>
              <a:rPr lang="en-FI" dirty="0"/>
              <a:t> la </a:t>
            </a:r>
            <a:r>
              <a:rPr lang="en-FI" dirty="0" err="1"/>
              <a:t>seguridad</a:t>
            </a:r>
            <a:r>
              <a:rPr lang="en-FI" dirty="0"/>
              <a:t> a la </a:t>
            </a:r>
            <a:r>
              <a:rPr lang="en-FI" dirty="0" err="1"/>
              <a:t>velocidad</a:t>
            </a:r>
            <a:r>
              <a:rPr lang="en-FI" dirty="0"/>
              <a:t> de la </a:t>
            </a:r>
            <a:r>
              <a:rPr lang="en-FI" dirty="0" err="1"/>
              <a:t>integración</a:t>
            </a:r>
            <a:r>
              <a:rPr lang="en-FI" dirty="0"/>
              <a:t> continua.</a:t>
            </a:r>
          </a:p>
          <a:p>
            <a:endParaRPr lang="en-GB" dirty="0"/>
          </a:p>
          <a:p>
            <a:r>
              <a:rPr lang="en-FI" dirty="0"/>
              <a:t>En la </a:t>
            </a:r>
            <a:r>
              <a:rPr lang="en-GB" dirty="0" err="1"/>
              <a:t>primera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 las </a:t>
            </a:r>
            <a:r>
              <a:rPr lang="en-GB" dirty="0" err="1"/>
              <a:t>semana</a:t>
            </a:r>
            <a:r>
              <a:rPr lang="en-GB" dirty="0"/>
              <a:t> </a:t>
            </a:r>
            <a:r>
              <a:rPr lang="en-FI" dirty="0"/>
              <a:t>final </a:t>
            </a:r>
            <a:r>
              <a:rPr lang="en-FI" dirty="0" err="1"/>
              <a:t>nos</a:t>
            </a:r>
            <a:r>
              <a:rPr lang="en-FI" dirty="0"/>
              <a:t> </a:t>
            </a:r>
            <a:r>
              <a:rPr lang="en-FI" dirty="0" err="1"/>
              <a:t>adentraremos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</a:t>
            </a:r>
            <a:r>
              <a:rPr lang="en-FI" b="1" dirty="0"/>
              <a:t>Framework MITRE ATT&amp;CK</a:t>
            </a:r>
            <a:r>
              <a:rPr lang="en-FI" dirty="0"/>
              <a:t>, el </a:t>
            </a:r>
            <a:r>
              <a:rPr lang="en-FI" dirty="0" err="1"/>
              <a:t>modelo</a:t>
            </a:r>
            <a:r>
              <a:rPr lang="en-FI" dirty="0"/>
              <a:t> de </a:t>
            </a:r>
            <a:r>
              <a:rPr lang="en-FI" dirty="0" err="1"/>
              <a:t>referencia</a:t>
            </a:r>
            <a:r>
              <a:rPr lang="en-FI" dirty="0"/>
              <a:t> global </a:t>
            </a:r>
            <a:r>
              <a:rPr lang="en-FI" dirty="0" err="1"/>
              <a:t>que</a:t>
            </a:r>
            <a:r>
              <a:rPr lang="en-FI" dirty="0"/>
              <a:t> describe el </a:t>
            </a:r>
            <a:r>
              <a:rPr lang="en-FI" dirty="0" err="1"/>
              <a:t>comportamiento</a:t>
            </a:r>
            <a:r>
              <a:rPr lang="en-FI" dirty="0"/>
              <a:t> real de </a:t>
            </a:r>
            <a:r>
              <a:rPr lang="en-FI" dirty="0" err="1"/>
              <a:t>los</a:t>
            </a:r>
            <a:r>
              <a:rPr lang="en-FI" dirty="0"/>
              <a:t> </a:t>
            </a:r>
            <a:r>
              <a:rPr lang="en-FI" dirty="0" err="1"/>
              <a:t>ciberdelincuentes</a:t>
            </a:r>
            <a:r>
              <a:rPr lang="en-FI" dirty="0"/>
              <a:t>.</a:t>
            </a:r>
          </a:p>
          <a:p>
            <a:r>
              <a:rPr lang="en-FI" dirty="0" err="1"/>
              <a:t>Analizaremos</a:t>
            </a:r>
            <a:r>
              <a:rPr lang="en-FI" dirty="0"/>
              <a:t> </a:t>
            </a:r>
            <a:r>
              <a:rPr lang="en-FI" dirty="0" err="1"/>
              <a:t>minuciosamente</a:t>
            </a:r>
            <a:r>
              <a:rPr lang="en-FI" dirty="0"/>
              <a:t> </a:t>
            </a:r>
            <a:r>
              <a:rPr lang="en-FI" dirty="0" err="1"/>
              <a:t>toda</a:t>
            </a:r>
            <a:r>
              <a:rPr lang="en-FI" dirty="0"/>
              <a:t> la </a:t>
            </a:r>
            <a:r>
              <a:rPr lang="en-FI" dirty="0" err="1"/>
              <a:t>cadena</a:t>
            </a:r>
            <a:r>
              <a:rPr lang="en-FI" dirty="0"/>
              <a:t> de </a:t>
            </a:r>
            <a:r>
              <a:rPr lang="en-FI" dirty="0" err="1"/>
              <a:t>tácticas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utiliza</a:t>
            </a:r>
            <a:r>
              <a:rPr lang="en-FI" dirty="0"/>
              <a:t> un </a:t>
            </a:r>
            <a:r>
              <a:rPr lang="en-FI" dirty="0" err="1"/>
              <a:t>atacante</a:t>
            </a:r>
            <a:r>
              <a:rPr lang="en-FI" dirty="0"/>
              <a:t>: </a:t>
            </a:r>
            <a:r>
              <a:rPr lang="en-FI" dirty="0" err="1"/>
              <a:t>comenzando</a:t>
            </a:r>
            <a:r>
              <a:rPr lang="en-FI" dirty="0"/>
              <a:t> </a:t>
            </a:r>
            <a:r>
              <a:rPr lang="en-FI" dirty="0" err="1"/>
              <a:t>por</a:t>
            </a:r>
            <a:r>
              <a:rPr lang="en-FI" dirty="0"/>
              <a:t> el </a:t>
            </a:r>
            <a:r>
              <a:rPr lang="en-FI" b="1" dirty="0" err="1"/>
              <a:t>Reconocimiento</a:t>
            </a:r>
            <a:r>
              <a:rPr lang="en-FI" dirty="0"/>
              <a:t> y el </a:t>
            </a:r>
            <a:r>
              <a:rPr lang="en-FI" b="1" dirty="0"/>
              <a:t>Desarrollo de </a:t>
            </a:r>
            <a:r>
              <a:rPr lang="en-FI" b="1" dirty="0" err="1"/>
              <a:t>recursos</a:t>
            </a:r>
            <a:r>
              <a:rPr lang="en-FI" dirty="0"/>
              <a:t>, </a:t>
            </a:r>
            <a:r>
              <a:rPr lang="en-FI" dirty="0" err="1"/>
              <a:t>siguiendo</a:t>
            </a:r>
            <a:r>
              <a:rPr lang="en-FI" dirty="0"/>
              <a:t> con el </a:t>
            </a:r>
            <a:r>
              <a:rPr lang="en-FI" b="1" dirty="0" err="1"/>
              <a:t>Acceso</a:t>
            </a:r>
            <a:r>
              <a:rPr lang="en-FI" b="1" dirty="0"/>
              <a:t> </a:t>
            </a:r>
            <a:r>
              <a:rPr lang="en-FI" b="1" dirty="0" err="1"/>
              <a:t>inicial</a:t>
            </a:r>
            <a:r>
              <a:rPr lang="en-FI" dirty="0"/>
              <a:t>, la </a:t>
            </a:r>
            <a:r>
              <a:rPr lang="en-FI" b="1" dirty="0" err="1"/>
              <a:t>Ejecución</a:t>
            </a:r>
            <a:r>
              <a:rPr lang="en-FI" dirty="0"/>
              <a:t>, la </a:t>
            </a:r>
            <a:r>
              <a:rPr lang="en-FI" b="1" dirty="0" err="1"/>
              <a:t>Persistencia</a:t>
            </a:r>
            <a:r>
              <a:rPr lang="en-FI" dirty="0"/>
              <a:t>, el </a:t>
            </a:r>
            <a:r>
              <a:rPr lang="en-FI" b="1" dirty="0" err="1"/>
              <a:t>Escalamiento</a:t>
            </a:r>
            <a:r>
              <a:rPr lang="en-FI" b="1" dirty="0"/>
              <a:t> de </a:t>
            </a:r>
            <a:r>
              <a:rPr lang="en-FI" b="1" dirty="0" err="1"/>
              <a:t>privilegios</a:t>
            </a:r>
            <a:r>
              <a:rPr lang="en-FI" dirty="0"/>
              <a:t> y la </a:t>
            </a:r>
            <a:r>
              <a:rPr lang="en-FI" b="1" dirty="0" err="1"/>
              <a:t>Evasión</a:t>
            </a:r>
            <a:r>
              <a:rPr lang="en-FI" b="1" dirty="0"/>
              <a:t> de </a:t>
            </a:r>
            <a:r>
              <a:rPr lang="en-FI" b="1" dirty="0" err="1"/>
              <a:t>defensas</a:t>
            </a:r>
            <a:r>
              <a:rPr lang="en-FI" dirty="0"/>
              <a:t>. Luego </a:t>
            </a:r>
            <a:r>
              <a:rPr lang="en-FI" dirty="0" err="1"/>
              <a:t>estudiaremos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ejecutan</a:t>
            </a:r>
            <a:r>
              <a:rPr lang="en-FI" dirty="0"/>
              <a:t> el </a:t>
            </a:r>
            <a:r>
              <a:rPr lang="en-FI" b="1" dirty="0" err="1"/>
              <a:t>Acceso</a:t>
            </a:r>
            <a:r>
              <a:rPr lang="en-FI" b="1" dirty="0"/>
              <a:t> a </a:t>
            </a:r>
            <a:r>
              <a:rPr lang="en-FI" b="1" dirty="0" err="1"/>
              <a:t>credenciales</a:t>
            </a:r>
            <a:r>
              <a:rPr lang="en-FI" dirty="0"/>
              <a:t>, el </a:t>
            </a:r>
            <a:r>
              <a:rPr lang="en-FI" b="1" dirty="0" err="1"/>
              <a:t>Descubrimiento</a:t>
            </a:r>
            <a:r>
              <a:rPr lang="en-FI" dirty="0"/>
              <a:t>, el </a:t>
            </a:r>
            <a:r>
              <a:rPr lang="en-FI" b="1" dirty="0" err="1"/>
              <a:t>Movimiento</a:t>
            </a:r>
            <a:r>
              <a:rPr lang="en-FI" b="1" dirty="0"/>
              <a:t> lateral</a:t>
            </a:r>
            <a:r>
              <a:rPr lang="en-FI" dirty="0"/>
              <a:t>, la </a:t>
            </a:r>
            <a:r>
              <a:rPr lang="en-FI" b="1" dirty="0" err="1"/>
              <a:t>Recolección</a:t>
            </a:r>
            <a:r>
              <a:rPr lang="en-FI" dirty="0"/>
              <a:t>, el </a:t>
            </a:r>
            <a:r>
              <a:rPr lang="en-FI" b="1" dirty="0" err="1"/>
              <a:t>Comando</a:t>
            </a:r>
            <a:r>
              <a:rPr lang="en-FI" b="1" dirty="0"/>
              <a:t> y control</a:t>
            </a:r>
            <a:r>
              <a:rPr lang="en-FI" dirty="0"/>
              <a:t>, la </a:t>
            </a:r>
            <a:r>
              <a:rPr lang="en-FI" b="1" dirty="0" err="1"/>
              <a:t>Exfiltración</a:t>
            </a:r>
            <a:r>
              <a:rPr lang="en-FI" dirty="0"/>
              <a:t> y el </a:t>
            </a:r>
            <a:r>
              <a:rPr lang="en-FI" b="1" dirty="0"/>
              <a:t>Impacto</a:t>
            </a:r>
            <a:r>
              <a:rPr lang="en-FI" dirty="0"/>
              <a:t> final </a:t>
            </a:r>
            <a:r>
              <a:rPr lang="en-FI" dirty="0" err="1"/>
              <a:t>sobre</a:t>
            </a:r>
            <a:r>
              <a:rPr lang="en-FI" dirty="0"/>
              <a:t> el </a:t>
            </a:r>
            <a:r>
              <a:rPr lang="en-FI" dirty="0" err="1"/>
              <a:t>sistema</a:t>
            </a:r>
            <a:r>
              <a:rPr lang="en-FI" dirty="0"/>
              <a:t>. Y lo </a:t>
            </a:r>
            <a:r>
              <a:rPr lang="en-FI" dirty="0" err="1"/>
              <a:t>más</a:t>
            </a:r>
            <a:r>
              <a:rPr lang="en-FI" dirty="0"/>
              <a:t> </a:t>
            </a:r>
            <a:r>
              <a:rPr lang="en-FI" dirty="0" err="1"/>
              <a:t>importante</a:t>
            </a:r>
            <a:r>
              <a:rPr lang="en-FI" dirty="0"/>
              <a:t>: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mapear</a:t>
            </a:r>
            <a:r>
              <a:rPr lang="en-FI" dirty="0"/>
              <a:t> </a:t>
            </a:r>
            <a:r>
              <a:rPr lang="en-FI" dirty="0" err="1"/>
              <a:t>mitigaciones</a:t>
            </a:r>
            <a:r>
              <a:rPr lang="en-FI" dirty="0"/>
              <a:t> </a:t>
            </a:r>
            <a:r>
              <a:rPr lang="en-FI" dirty="0" err="1"/>
              <a:t>específicas</a:t>
            </a:r>
            <a:r>
              <a:rPr lang="en-FI" dirty="0"/>
              <a:t> para </a:t>
            </a:r>
            <a:r>
              <a:rPr lang="en-FI" dirty="0" err="1"/>
              <a:t>interceptar</a:t>
            </a:r>
            <a:r>
              <a:rPr lang="en-FI" dirty="0"/>
              <a:t> al </a:t>
            </a:r>
            <a:r>
              <a:rPr lang="en-FI" dirty="0" err="1"/>
              <a:t>atacante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cada</a:t>
            </a:r>
            <a:r>
              <a:rPr lang="en-FI" dirty="0"/>
              <a:t> </a:t>
            </a:r>
            <a:r>
              <a:rPr lang="en-FI" dirty="0" err="1"/>
              <a:t>etapa</a:t>
            </a:r>
            <a:r>
              <a:rPr lang="en-FI" dirty="0"/>
              <a:t>.</a:t>
            </a:r>
          </a:p>
          <a:p>
            <a:endParaRPr lang="en-GB" dirty="0"/>
          </a:p>
          <a:p>
            <a:r>
              <a:rPr lang="en-FI" dirty="0"/>
              <a:t>En la </a:t>
            </a:r>
            <a:r>
              <a:rPr lang="en-FI" dirty="0" err="1"/>
              <a:t>segunda</a:t>
            </a:r>
            <a:r>
              <a:rPr lang="en-FI" dirty="0"/>
              <a:t> </a:t>
            </a:r>
            <a:r>
              <a:rPr lang="en-FI" dirty="0" err="1"/>
              <a:t>parte</a:t>
            </a:r>
            <a:r>
              <a:rPr lang="en-FI" dirty="0"/>
              <a:t>, </a:t>
            </a:r>
            <a:r>
              <a:rPr lang="en-FI" dirty="0" err="1"/>
              <a:t>completaremos</a:t>
            </a:r>
            <a:r>
              <a:rPr lang="en-FI" dirty="0"/>
              <a:t> la </a:t>
            </a:r>
            <a:r>
              <a:rPr lang="en-FI" dirty="0" err="1"/>
              <a:t>transformación</a:t>
            </a:r>
            <a:r>
              <a:rPr lang="en-FI" dirty="0"/>
              <a:t> </a:t>
            </a:r>
            <a:r>
              <a:rPr lang="en-FI" dirty="0" err="1"/>
              <a:t>técnica</a:t>
            </a:r>
            <a:r>
              <a:rPr lang="en-FI" dirty="0"/>
              <a:t> y cultural </a:t>
            </a:r>
            <a:r>
              <a:rPr lang="en-FI" dirty="0" err="1"/>
              <a:t>hacia</a:t>
            </a:r>
            <a:r>
              <a:rPr lang="en-FI" dirty="0"/>
              <a:t> </a:t>
            </a:r>
            <a:r>
              <a:rPr lang="en-FI" dirty="0" err="1"/>
              <a:t>DevSecOps</a:t>
            </a:r>
            <a:r>
              <a:rPr lang="en-FI" dirty="0"/>
              <a:t> </a:t>
            </a:r>
            <a:r>
              <a:rPr lang="en-FI" dirty="0" err="1"/>
              <a:t>mediante</a:t>
            </a:r>
            <a:r>
              <a:rPr lang="en-FI" dirty="0"/>
              <a:t> la </a:t>
            </a:r>
            <a:r>
              <a:rPr lang="en-FI" b="1" dirty="0" err="1"/>
              <a:t>Automatización</a:t>
            </a:r>
            <a:r>
              <a:rPr lang="en-FI" b="1" dirty="0"/>
              <a:t> Integral</a:t>
            </a:r>
            <a:r>
              <a:rPr lang="en-FI" dirty="0"/>
              <a:t>. </a:t>
            </a:r>
            <a:r>
              <a:rPr lang="en-FI" dirty="0" err="1"/>
              <a:t>Aprenderemos</a:t>
            </a:r>
            <a:r>
              <a:rPr lang="en-FI" dirty="0"/>
              <a:t> a </a:t>
            </a:r>
            <a:r>
              <a:rPr lang="en-FI" dirty="0" err="1"/>
              <a:t>diseñar</a:t>
            </a:r>
            <a:r>
              <a:rPr lang="en-FI" dirty="0"/>
              <a:t> la </a:t>
            </a:r>
            <a:r>
              <a:rPr lang="en-FI" dirty="0" err="1"/>
              <a:t>arquitectura</a:t>
            </a:r>
            <a:r>
              <a:rPr lang="en-FI" dirty="0"/>
              <a:t> e </a:t>
            </a:r>
            <a:r>
              <a:rPr lang="en-FI" dirty="0" err="1"/>
              <a:t>integrar</a:t>
            </a:r>
            <a:r>
              <a:rPr lang="en-FI" dirty="0"/>
              <a:t> </a:t>
            </a:r>
            <a:r>
              <a:rPr lang="en-FI" dirty="0" err="1"/>
              <a:t>herramientas</a:t>
            </a:r>
            <a:r>
              <a:rPr lang="en-FI" dirty="0"/>
              <a:t> de </a:t>
            </a:r>
            <a:r>
              <a:rPr lang="en-FI" dirty="0" err="1"/>
              <a:t>análisis</a:t>
            </a:r>
            <a:r>
              <a:rPr lang="en-FI" dirty="0"/>
              <a:t> </a:t>
            </a:r>
            <a:r>
              <a:rPr lang="en-FI" dirty="0" err="1"/>
              <a:t>estático</a:t>
            </a:r>
            <a:r>
              <a:rPr lang="en-FI" dirty="0"/>
              <a:t> (</a:t>
            </a:r>
            <a:r>
              <a:rPr lang="en-FI" b="1" dirty="0"/>
              <a:t>SAST</a:t>
            </a:r>
            <a:r>
              <a:rPr lang="en-FI" dirty="0"/>
              <a:t>), </a:t>
            </a:r>
            <a:r>
              <a:rPr lang="en-FI" dirty="0" err="1"/>
              <a:t>análisis</a:t>
            </a:r>
            <a:r>
              <a:rPr lang="en-FI" dirty="0"/>
              <a:t> </a:t>
            </a:r>
            <a:r>
              <a:rPr lang="en-FI" dirty="0" err="1"/>
              <a:t>dinámico</a:t>
            </a:r>
            <a:r>
              <a:rPr lang="en-FI" dirty="0"/>
              <a:t> (</a:t>
            </a:r>
            <a:r>
              <a:rPr lang="en-FI" b="1" dirty="0"/>
              <a:t>DAST</a:t>
            </a:r>
            <a:r>
              <a:rPr lang="en-FI" dirty="0"/>
              <a:t>) y </a:t>
            </a:r>
            <a:r>
              <a:rPr lang="en-FI" dirty="0" err="1"/>
              <a:t>análisis</a:t>
            </a:r>
            <a:r>
              <a:rPr lang="en-FI" dirty="0"/>
              <a:t> de </a:t>
            </a:r>
            <a:r>
              <a:rPr lang="en-FI" dirty="0" err="1"/>
              <a:t>composición</a:t>
            </a:r>
            <a:r>
              <a:rPr lang="en-FI" dirty="0"/>
              <a:t> de software (</a:t>
            </a:r>
            <a:r>
              <a:rPr lang="en-FI" b="1" dirty="0"/>
              <a:t>SCA</a:t>
            </a:r>
            <a:r>
              <a:rPr lang="en-FI" dirty="0"/>
              <a:t>) </a:t>
            </a:r>
            <a:r>
              <a:rPr lang="en-FI" dirty="0" err="1"/>
              <a:t>directamente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las </a:t>
            </a:r>
            <a:r>
              <a:rPr lang="en-FI" dirty="0" err="1"/>
              <a:t>canalizaciones</a:t>
            </a:r>
            <a:r>
              <a:rPr lang="en-FI" dirty="0"/>
              <a:t> de </a:t>
            </a:r>
            <a:r>
              <a:rPr lang="en-FI" b="1" dirty="0"/>
              <a:t>CI/CD</a:t>
            </a:r>
            <a:r>
              <a:rPr lang="en-FI" dirty="0"/>
              <a:t>, </a:t>
            </a:r>
            <a:r>
              <a:rPr lang="en-FI" dirty="0" err="1"/>
              <a:t>detectando</a:t>
            </a:r>
            <a:r>
              <a:rPr lang="en-FI" dirty="0"/>
              <a:t> </a:t>
            </a:r>
            <a:r>
              <a:rPr lang="en-FI" dirty="0" err="1"/>
              <a:t>fallos</a:t>
            </a:r>
            <a:r>
              <a:rPr lang="en-FI" dirty="0"/>
              <a:t> </a:t>
            </a:r>
            <a:r>
              <a:rPr lang="en-FI" dirty="0" err="1"/>
              <a:t>automáticamente</a:t>
            </a:r>
            <a:r>
              <a:rPr lang="en-FI" dirty="0"/>
              <a:t> antes de </a:t>
            </a:r>
            <a:r>
              <a:rPr lang="en-FI" dirty="0" err="1"/>
              <a:t>cada</a:t>
            </a:r>
            <a:r>
              <a:rPr lang="en-FI" dirty="0"/>
              <a:t> </a:t>
            </a:r>
            <a:r>
              <a:rPr lang="en-GB" i="1" dirty="0" err="1"/>
              <a:t>despliegue</a:t>
            </a:r>
            <a:r>
              <a:rPr lang="en-FI" dirty="0"/>
              <a:t>.</a:t>
            </a:r>
          </a:p>
          <a:p>
            <a:r>
              <a:rPr lang="en-GB" dirty="0"/>
              <a:t>Por </a:t>
            </a:r>
            <a:r>
              <a:rPr lang="en-GB" dirty="0" err="1"/>
              <a:t>último</a:t>
            </a:r>
            <a:r>
              <a:rPr lang="en-FI" dirty="0"/>
              <a:t>, </a:t>
            </a:r>
            <a:r>
              <a:rPr lang="en-FI" dirty="0" err="1"/>
              <a:t>abordaremos</a:t>
            </a:r>
            <a:r>
              <a:rPr lang="en-FI" dirty="0"/>
              <a:t> la </a:t>
            </a:r>
            <a:r>
              <a:rPr lang="en-FI" dirty="0" err="1"/>
              <a:t>gobernanza</a:t>
            </a:r>
            <a:r>
              <a:rPr lang="en-FI" dirty="0"/>
              <a:t> humana y la </a:t>
            </a:r>
            <a:r>
              <a:rPr lang="en-FI" dirty="0" err="1"/>
              <a:t>colaboración</a:t>
            </a:r>
            <a:r>
              <a:rPr lang="en-FI" dirty="0"/>
              <a:t> </a:t>
            </a:r>
            <a:r>
              <a:rPr lang="en-FI" dirty="0" err="1"/>
              <a:t>interdepartamental</a:t>
            </a:r>
            <a:r>
              <a:rPr lang="en-FI" dirty="0"/>
              <a:t>. </a:t>
            </a:r>
            <a:r>
              <a:rPr lang="en-FI" dirty="0" err="1"/>
              <a:t>Descubriremos</a:t>
            </a:r>
            <a:r>
              <a:rPr lang="en-FI" dirty="0"/>
              <a:t> la </a:t>
            </a:r>
            <a:r>
              <a:rPr lang="en-FI" dirty="0" err="1"/>
              <a:t>figura</a:t>
            </a:r>
            <a:r>
              <a:rPr lang="en-FI" dirty="0"/>
              <a:t> clave del </a:t>
            </a:r>
            <a:r>
              <a:rPr lang="en-FI" b="1" dirty="0"/>
              <a:t>Security Champion</a:t>
            </a:r>
            <a:r>
              <a:rPr lang="en-FI" dirty="0"/>
              <a:t>: </a:t>
            </a:r>
            <a:r>
              <a:rPr lang="en-FI" dirty="0" err="1"/>
              <a:t>desarrolladores</a:t>
            </a:r>
            <a:r>
              <a:rPr lang="en-FI" dirty="0"/>
              <a:t> </a:t>
            </a:r>
            <a:r>
              <a:rPr lang="en-FI" dirty="0" err="1"/>
              <a:t>dentro</a:t>
            </a:r>
            <a:r>
              <a:rPr lang="en-FI" dirty="0"/>
              <a:t> de </a:t>
            </a:r>
            <a:r>
              <a:rPr lang="en-FI" dirty="0" err="1"/>
              <a:t>cada</a:t>
            </a:r>
            <a:r>
              <a:rPr lang="en-FI" dirty="0"/>
              <a:t> </a:t>
            </a:r>
            <a:r>
              <a:rPr lang="en-FI" dirty="0" err="1"/>
              <a:t>equipo</a:t>
            </a:r>
            <a:r>
              <a:rPr lang="en-FI" dirty="0"/>
              <a:t> </a:t>
            </a:r>
            <a:r>
              <a:rPr lang="en-FI" dirty="0" err="1"/>
              <a:t>que</a:t>
            </a:r>
            <a:r>
              <a:rPr lang="en-FI" dirty="0"/>
              <a:t> </a:t>
            </a:r>
            <a:r>
              <a:rPr lang="en-FI" dirty="0" err="1"/>
              <a:t>impulsan</a:t>
            </a:r>
            <a:r>
              <a:rPr lang="en-FI" dirty="0"/>
              <a:t> la </a:t>
            </a:r>
            <a:r>
              <a:rPr lang="en-FI" dirty="0" err="1"/>
              <a:t>cultura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desde</a:t>
            </a:r>
            <a:r>
              <a:rPr lang="en-FI" dirty="0"/>
              <a:t> </a:t>
            </a:r>
            <a:r>
              <a:rPr lang="en-FI" dirty="0" err="1"/>
              <a:t>adentro</a:t>
            </a:r>
            <a:r>
              <a:rPr lang="en-FI" dirty="0"/>
              <a:t>. </a:t>
            </a:r>
            <a:r>
              <a:rPr lang="en-FI" dirty="0" err="1"/>
              <a:t>Haremos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síntesis</a:t>
            </a:r>
            <a:r>
              <a:rPr lang="en-FI" dirty="0"/>
              <a:t> </a:t>
            </a:r>
            <a:r>
              <a:rPr lang="en-FI" dirty="0" err="1"/>
              <a:t>integradora</a:t>
            </a:r>
            <a:r>
              <a:rPr lang="en-FI" dirty="0"/>
              <a:t> de </a:t>
            </a:r>
            <a:r>
              <a:rPr lang="en-FI" dirty="0" err="1"/>
              <a:t>todo</a:t>
            </a:r>
            <a:r>
              <a:rPr lang="en-FI" dirty="0"/>
              <a:t> el </a:t>
            </a:r>
            <a:r>
              <a:rPr lang="en-FI" dirty="0" err="1"/>
              <a:t>programa</a:t>
            </a:r>
            <a:r>
              <a:rPr lang="en-FI" dirty="0"/>
              <a:t> para </a:t>
            </a:r>
            <a:r>
              <a:rPr lang="en-FI" dirty="0" err="1"/>
              <a:t>unir</a:t>
            </a:r>
            <a:r>
              <a:rPr lang="en-FI" dirty="0"/>
              <a:t> la </a:t>
            </a:r>
            <a:r>
              <a:rPr lang="en-FI" dirty="0" err="1"/>
              <a:t>teoría</a:t>
            </a:r>
            <a:r>
              <a:rPr lang="en-FI" dirty="0"/>
              <a:t>, las </a:t>
            </a:r>
            <a:r>
              <a:rPr lang="en-FI" dirty="0" err="1"/>
              <a:t>metodologías</a:t>
            </a:r>
            <a:r>
              <a:rPr lang="en-FI" dirty="0"/>
              <a:t> y la </a:t>
            </a:r>
            <a:r>
              <a:rPr lang="en-FI" dirty="0" err="1"/>
              <a:t>automatización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estrategia</a:t>
            </a:r>
            <a:r>
              <a:rPr lang="en-FI" dirty="0"/>
              <a:t> </a:t>
            </a:r>
            <a:r>
              <a:rPr lang="en-FI" dirty="0" err="1"/>
              <a:t>sólida</a:t>
            </a:r>
            <a:r>
              <a:rPr lang="en-FI" dirty="0"/>
              <a:t> de </a:t>
            </a:r>
            <a:r>
              <a:rPr lang="en-FI" dirty="0" err="1"/>
              <a:t>seguridad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software.</a:t>
            </a:r>
          </a:p>
          <a:p>
            <a:endParaRPr lang="en-GB" dirty="0"/>
          </a:p>
          <a:p>
            <a:r>
              <a:rPr lang="en-GB" dirty="0"/>
              <a:t>Nuestro </a:t>
            </a:r>
            <a:r>
              <a:rPr lang="en-GB" dirty="0" err="1"/>
              <a:t>objetivo</a:t>
            </a:r>
            <a:r>
              <a:rPr lang="en-GB" dirty="0"/>
              <a:t> es </a:t>
            </a:r>
            <a:r>
              <a:rPr lang="en-GB" dirty="0" err="1"/>
              <a:t>poder</a:t>
            </a:r>
            <a:r>
              <a:rPr lang="en-GB" dirty="0"/>
              <a:t> </a:t>
            </a:r>
            <a:r>
              <a:rPr lang="en-GB" dirty="0" err="1"/>
              <a:t>proveerles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visión</a:t>
            </a:r>
            <a:r>
              <a:rPr lang="en-FI" dirty="0"/>
              <a:t> de 360 </a:t>
            </a:r>
            <a:r>
              <a:rPr lang="en-FI" dirty="0" err="1"/>
              <a:t>grados</a:t>
            </a:r>
            <a:r>
              <a:rPr lang="en-FI" dirty="0"/>
              <a:t>: </a:t>
            </a:r>
            <a:r>
              <a:rPr lang="en-FI" dirty="0" err="1"/>
              <a:t>sabrás</a:t>
            </a:r>
            <a:r>
              <a:rPr lang="en-FI" dirty="0"/>
              <a:t>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piensa</a:t>
            </a:r>
            <a:r>
              <a:rPr lang="en-FI" dirty="0"/>
              <a:t> </a:t>
            </a:r>
            <a:r>
              <a:rPr lang="en-GB" dirty="0"/>
              <a:t>un</a:t>
            </a:r>
            <a:r>
              <a:rPr lang="en-FI" dirty="0"/>
              <a:t> </a:t>
            </a:r>
            <a:r>
              <a:rPr lang="en-FI" dirty="0" err="1"/>
              <a:t>adversario</a:t>
            </a:r>
            <a:r>
              <a:rPr lang="en-FI" dirty="0"/>
              <a:t>,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automatizar</a:t>
            </a:r>
            <a:r>
              <a:rPr lang="en-FI" dirty="0"/>
              <a:t> </a:t>
            </a:r>
            <a:r>
              <a:rPr lang="en-GB" dirty="0"/>
              <a:t>las</a:t>
            </a:r>
            <a:r>
              <a:rPr lang="en-FI" dirty="0"/>
              <a:t> </a:t>
            </a:r>
            <a:r>
              <a:rPr lang="en-FI" dirty="0" err="1"/>
              <a:t>defensas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el pipeline y </a:t>
            </a:r>
            <a:r>
              <a:rPr lang="en-FI" dirty="0" err="1"/>
              <a:t>cómo</a:t>
            </a:r>
            <a:r>
              <a:rPr lang="en-FI" dirty="0"/>
              <a:t> </a:t>
            </a:r>
            <a:r>
              <a:rPr lang="en-FI" dirty="0" err="1"/>
              <a:t>liderar</a:t>
            </a:r>
            <a:r>
              <a:rPr lang="en-FI" dirty="0"/>
              <a:t> </a:t>
            </a:r>
            <a:r>
              <a:rPr lang="en-FI" dirty="0" err="1"/>
              <a:t>una</a:t>
            </a:r>
            <a:r>
              <a:rPr lang="en-FI" dirty="0"/>
              <a:t> </a:t>
            </a:r>
            <a:r>
              <a:rPr lang="en-FI" dirty="0" err="1"/>
              <a:t>cultura</a:t>
            </a:r>
            <a:r>
              <a:rPr lang="en-FI" dirty="0"/>
              <a:t> de </a:t>
            </a:r>
            <a:r>
              <a:rPr lang="en-FI" dirty="0" err="1"/>
              <a:t>desarrollo</a:t>
            </a:r>
            <a:r>
              <a:rPr lang="en-FI" dirty="0"/>
              <a:t> </a:t>
            </a:r>
            <a:r>
              <a:rPr lang="en-FI" dirty="0" err="1"/>
              <a:t>seguro</a:t>
            </a:r>
            <a:r>
              <a:rPr lang="en-FI" dirty="0"/>
              <a:t> </a:t>
            </a:r>
            <a:r>
              <a:rPr lang="en-FI" dirty="0" err="1"/>
              <a:t>en</a:t>
            </a:r>
            <a:r>
              <a:rPr lang="en-FI" dirty="0"/>
              <a:t> </a:t>
            </a:r>
            <a:r>
              <a:rPr lang="en-GB" dirty="0" err="1"/>
              <a:t>una</a:t>
            </a:r>
            <a:r>
              <a:rPr lang="en-FI" dirty="0"/>
              <a:t> </a:t>
            </a:r>
            <a:r>
              <a:rPr lang="en-FI" dirty="0" err="1"/>
              <a:t>organización</a:t>
            </a:r>
            <a:r>
              <a:rPr lang="en-FI" dirty="0"/>
              <a:t>. </a:t>
            </a:r>
          </a:p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10155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Diapositiva de transición: terminamos el recorrido por el temario y pasamos al calendario académico.</a:t>
            </a:r>
          </a:p>
          <a:p>
            <a:r>
              <a:rPr lang="es-ES" dirty="0"/>
              <a:t>Explicar que a continuación se presenta mes por mes, de agosto a diciembre de 2026, con los temas asignados a cada semana y las instancias de evaluación.</a:t>
            </a:r>
          </a:p>
          <a:p>
            <a:r>
              <a:rPr lang="es-ES" dirty="0"/>
              <a:t>Pedir a los alumnos que registren las fechas de parciales, recuperatorios y examen final, recordando que día y hora se confirman por los canales oficiales de la cátedra.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calendario resume agosto de 2026 y lo uso para ubicarlos en el cronograma del curso antes de entrar en el contenido técnico.</a:t>
            </a:r>
          </a:p>
          <a:p>
            <a:r>
              <a:rPr lang="es-ES" dirty="0"/>
              <a:t>Les comento que abrimos el mes con el módulo de Introducción, que uso como nivelación: repasamos los conceptos base de seguridad en el software y por qué integro la seguridad desde el diseño y no al final del ciclo.</a:t>
            </a:r>
          </a:p>
          <a:p>
            <a:r>
              <a:rPr lang="es-ES" dirty="0"/>
              <a:t>Después avanzamos a Introducción a la Seguridad en el Software y DevSecOps, donde les explico cómo automatizamos los controles de seguridad dentro del pipeline de CI/CD y qué responsabilidad asume cada rol del equipo.</a:t>
            </a:r>
          </a:p>
          <a:p>
            <a:r>
              <a:rPr lang="es-ES" dirty="0"/>
              <a:t>Cierro el recorrido del mes con Arquitectura Zero Trust y Marcos Corporativos (MSSDL): trabajo el principio de 'nunca confiar, siempre verificar' y muestro cómo el ciclo de desarrollo seguro de Microsoft ordena prácticas, requisitos y puntos de control.</a:t>
            </a:r>
          </a:p>
          <a:p>
            <a:r>
              <a:rPr lang="es-ES" dirty="0"/>
              <a:t>Les recuerdo la referencia del 18.07.2026 - Introducción a la Programación Segura como sesión previa que da contexto a estos temas.</a:t>
            </a:r>
          </a:p>
          <a:p>
            <a:r>
              <a:rPr lang="es-ES" dirty="0"/>
              <a:t>Los invito a marcar las fechas en su agenda y a llegar con el entorno de trabajo preparado para las clases prácticas.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septiembre continuamos con Arquitectura Zero Trust y Marcos Corporativos (MSSDL) en la primera semana, con lo que cerramos el Bloque 1.</a:t>
            </a:r>
          </a:p>
          <a:p>
            <a:r>
              <a:rPr lang="es-ES" dirty="0"/>
              <a:t>Del 07 al 11 de septiembre dicto el Bloque 2: les presento el Universo OWASP y la gestión de vulnerabilidades, junto con los controles proactivos y la defensa en profundidad.</a:t>
            </a:r>
          </a:p>
          <a:p>
            <a:r>
              <a:rPr lang="es-ES" dirty="0"/>
              <a:t>A partir del 14 comenzamos el Bloque 3 con los fundamentos del modelado y la metodología VAST, y del 21 al 25 desarrollo la metodología PASTA completa.</a:t>
            </a:r>
          </a:p>
          <a:p>
            <a:r>
              <a:rPr lang="es-ES" dirty="0"/>
              <a:t>Les señalo el Primer Parcial marcado en el mes: la semana indicada es orientativa, la fecha y la hora exactas las confirmo por los canales oficiales de la cátedra y el examen no está disponible toda la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octubre concentro el Bloque 4: trabajamos el modelo STRIDE en dos partes (S, T, R y luego I, D, E) junto con la metodología TRIKE.</a:t>
            </a:r>
          </a:p>
          <a:p>
            <a:r>
              <a:rPr lang="es-ES" dirty="0"/>
              <a:t>Luego avanzamos al Bloque 5, donde les presento la clasificación cualitativa DREAD y el framework CVSS v4.0, y después CVSS v4.0 avanzado, OCTAVE y los enfoques híbridos (QTMM).</a:t>
            </a:r>
          </a:p>
          <a:p>
            <a:r>
              <a:rPr lang="es-ES" dirty="0"/>
              <a:t>Les marco en el calendario el Primer Parcial y el Período de Recuperatorio.</a:t>
            </a:r>
          </a:p>
          <a:p>
            <a:r>
              <a:rPr lang="es-ES" dirty="0"/>
              <a:t>Les repito la aclaración: la semana señalada no implica que el examen esté disponible toda la semana; la fecha y la hora las confirmo desde la cátedra.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noviembre desarrollamos el Bloque 6: les presento el framework MITRE ATT&amp;CK desde la perspectiva del adversario y mapeamos las tácticas a mitigaciones concretas en el código.</a:t>
            </a:r>
          </a:p>
          <a:p>
            <a:r>
              <a:rPr lang="es-ES" dirty="0"/>
              <a:t>En la segunda parte del mes trabajo la automatización integral y la gobernanza DevSecOps: SAST, DAST y SCA en pipelines de CI/CD, además del rol de los Security Champions.</a:t>
            </a:r>
          </a:p>
          <a:p>
            <a:r>
              <a:rPr lang="es-ES" dirty="0"/>
              <a:t>Les indico el Segundo Parcial y el Período de Recuperatorio previstos para este mes.</a:t>
            </a:r>
          </a:p>
          <a:p>
            <a:r>
              <a:rPr lang="es-ES" dirty="0"/>
              <a:t>Les recuerdo que la fecha y la hora de las evaluaciones las comunico oportunamente; la semana marcada es solo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663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 diciembre cierro el cronograma: aquí ubicamos el Examen Final.</a:t>
            </a:r>
          </a:p>
          <a:p>
            <a:r>
              <a:rPr lang="es-ES" dirty="0"/>
              <a:t>Aprovecho para sintetizar con ustedes todo el recorrido: partimos de los fundamentos y la gobernanza del desarrollo seguro y llegamos al modelado de amenazas, la cuantificación del riesgo y la automatización de la seguridad.</a:t>
            </a:r>
          </a:p>
          <a:p>
            <a:r>
              <a:rPr lang="es-ES" dirty="0"/>
              <a:t>Les reitero que la fecha y la hora del final las publico por los canales oficiales y que la semana marcada es orientativa.</a:t>
            </a:r>
          </a:p>
          <a:p>
            <a:r>
              <a:rPr lang="es-ES" dirty="0"/>
              <a:t>Cierro abriendo el espacio a consultas y les anticipo la modalidad de estudio y los materiales de la cátedra.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FF47D-6730-4F81-B57D-96D424E0B887}" type="slidenum">
              <a:rPr lang="en-FI" smtClean="0"/>
              <a:t>18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0959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E307-6752-360C-C6A5-010B952AD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7924E-C93A-0049-39D0-F486ABD58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E89D6-5F52-7484-CAE3-636C572C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080EF-07EC-BF54-8CAF-10DDA083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C60F-BB80-3EA5-A5A0-CF9BA442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9201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EF29-8B3D-329F-1EA2-D845C71F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57D3-BB68-DF4E-3EF8-401F8EED3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680D3-CA3A-05DE-4F06-96D18761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1EA93-30ED-26F1-93E0-23354512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2208E-C694-0236-C1A0-E236FAE9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313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1B4E-CF63-CE5C-128E-0B2D08FC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F61CE-CBB3-0C42-55D5-7694440B1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EA2E8-AE87-3680-2850-9D4FD61A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4E4C4-B69B-4763-B988-62D2C385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4DD14-490F-2759-3231-EC6593DD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6102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A01-48F1-EE18-F157-1781D45D7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34E70-DBED-885C-4EDF-57B237A57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2C464-EA17-3DC0-2682-01A1C1BD7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70C32-4716-00D3-8A21-E0452ABC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DA054-2A55-7A31-0AE8-44ECF0AA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49F96-FA3F-11CC-7280-32F618AF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4722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B5E4-9E49-E7DD-BBE2-8CAD74CF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BAA84-D194-9450-D2DD-C842D4016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BBD46-5FDD-270A-9FDD-45BB727DB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6566D-A374-29EA-07F5-D7CD52BB2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75D58-C77D-4F80-57CB-FAE465FF2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3B6F1-359A-5DD0-5E49-69467010C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4DD6D-D880-D1A9-4811-ECDE91AB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9C930B-797D-64E2-5016-88A2740C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5532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38D7-3F24-E1B7-54E7-F8FABF75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E8C1E-2FB1-3084-2871-639A3789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2539F-34D8-9650-A6AA-D559A486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B3B83-E352-C33F-0EFA-58ECD5C8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558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CE3D6-E3E2-6810-6B56-F8C5F6F6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7980D-8B41-AA09-F241-9729D888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C2A13-AB59-B8F9-792D-346B23AD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3072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71A-20D1-8E5C-B235-81730134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BD40-9196-B4C9-943C-0D977E2F5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0A9E3-9542-F973-7634-B26A252E9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F430-C2DA-C0F7-3C09-F38F1D13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B4B51-66D0-14BA-8811-693E2189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E51DA-F624-3FBB-89EA-05D2AB74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6949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7923-0061-D508-4F9F-E79DC7A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226C2-7565-51EB-3502-8A47027DF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464E-3BC7-B75B-8467-5FA980D7C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57824-CF72-C5F2-56DA-DC1B06DA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3759F-7D0F-86B5-BD70-3EEEA3AE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5FEFB-8731-854B-C021-FD6B295C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932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DB37-7D10-14B1-3813-EF4CA010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59901-6921-F9C0-8FEC-5A8B929C0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0979E-AB45-D72B-B1E1-573E6526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EF4D1-5B5A-F434-E930-6DDDDE3E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148AD-ADD3-0659-D8AE-80FC87BD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3538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3803E-7EC2-4C5A-30DB-78D08472C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EB645-7754-2069-79BC-BE0E361CB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93901-14BC-814A-AB8E-401DE265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6C45B-8A76-06C1-A69F-4A427D54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4FA5-4D42-3F23-8081-ED792CB4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736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E983A-5D32-0D13-A8FC-1B66488B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202E7-6E62-64B6-92D8-FF2DBB180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5134A-46DE-6BD8-DDB1-9AF7CB218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8ABF-2D0E-4D67-B9C8-4F2659016EC7}" type="datetimeFigureOut">
              <a:rPr lang="en-FI" smtClean="0"/>
              <a:t>17/08/2026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6179-8DFC-738C-D3AF-08A0A8812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911D-98E1-803C-109C-BB84F31C7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1EA85-C319-4314-9210-B1D2E44A468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3874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9CA0F7-66EC-EB67-CE1B-CE4F70ABF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8BCB9B-C35D-52A7-0A0C-829F45392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sz="5000" b="1" noProof="0" dirty="0">
                <a:latin typeface="Consolas" panose="020B0609020204030204" pitchFamily="49" charset="0"/>
              </a:rPr>
              <a:t>Introducción a la Programación Segura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D61165F-47F1-3063-06DF-4B501B6DC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noProof="0" dirty="0"/>
          </a:p>
          <a:p>
            <a:endParaRPr lang="es-AR" noProof="0" dirty="0"/>
          </a:p>
          <a:p>
            <a:pPr algn="r"/>
            <a:r>
              <a:rPr lang="es-AR" noProof="0" dirty="0">
                <a:latin typeface="Consolas" panose="020B0609020204030204" pitchFamily="49" charset="0"/>
              </a:rPr>
              <a:t>Ing. Roxana Quiroga Sollinger</a:t>
            </a:r>
          </a:p>
        </p:txBody>
      </p:sp>
    </p:spTree>
    <p:extLst>
      <p:ext uri="{BB962C8B-B14F-4D97-AF65-F5344CB8AC3E}">
        <p14:creationId xmlns:p14="http://schemas.microsoft.com/office/powerpoint/2010/main" val="27979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5"/>
    </mc:Choice>
    <mc:Fallback xmlns="">
      <p:transition spd="slow" advTm="4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CONTENIDOS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00000"/>
            <a:ext cx="1000000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s-AR" sz="2200" b="1" noProof="0" dirty="0">
                <a:solidFill>
                  <a:srgbClr val="12324F"/>
                </a:solidFill>
                <a:latin typeface="Consolas"/>
              </a:rPr>
              <a:t>01  </a:t>
            </a:r>
            <a:r>
              <a:rPr lang="es-AR" sz="2200" noProof="0" dirty="0">
                <a:solidFill>
                  <a:srgbClr val="5A6570"/>
                </a:solidFill>
                <a:latin typeface="Consolas"/>
              </a:rPr>
              <a:t>&gt; </a:t>
            </a:r>
            <a:r>
              <a:rPr lang="es-AR" sz="2200" noProof="0" dirty="0">
                <a:solidFill>
                  <a:srgbClr val="1A1A1A"/>
                </a:solidFill>
                <a:latin typeface="Consolas"/>
              </a:rPr>
              <a:t>Introducción</a:t>
            </a:r>
          </a:p>
          <a:p>
            <a:pPr>
              <a:spcAft>
                <a:spcPts val="1400"/>
              </a:spcAft>
            </a:pPr>
            <a:r>
              <a:rPr lang="es-AR" sz="2200" b="1" noProof="0" dirty="0">
                <a:solidFill>
                  <a:srgbClr val="12324F"/>
                </a:solidFill>
                <a:latin typeface="Consolas"/>
              </a:rPr>
              <a:t>02  </a:t>
            </a:r>
            <a:r>
              <a:rPr lang="es-AR" sz="2200" noProof="0" dirty="0">
                <a:solidFill>
                  <a:srgbClr val="5A6570"/>
                </a:solidFill>
                <a:latin typeface="Consolas"/>
              </a:rPr>
              <a:t>&gt; </a:t>
            </a:r>
            <a:r>
              <a:rPr lang="es-AR" sz="2200" noProof="0" dirty="0">
                <a:solidFill>
                  <a:srgbClr val="1A1A1A"/>
                </a:solidFill>
                <a:latin typeface="Consolas"/>
              </a:rPr>
              <a:t>Temario</a:t>
            </a:r>
          </a:p>
          <a:p>
            <a:pPr>
              <a:spcAft>
                <a:spcPts val="1400"/>
              </a:spcAft>
            </a:pPr>
            <a:r>
              <a:rPr lang="es-AR" sz="2200" b="1" noProof="0" dirty="0">
                <a:solidFill>
                  <a:srgbClr val="12324F"/>
                </a:solidFill>
                <a:latin typeface="Consolas"/>
              </a:rPr>
              <a:t>03  </a:t>
            </a:r>
            <a:r>
              <a:rPr lang="es-AR" sz="2200" noProof="0" dirty="0">
                <a:solidFill>
                  <a:srgbClr val="5A6570"/>
                </a:solidFill>
                <a:latin typeface="Consolas"/>
              </a:rPr>
              <a:t>&gt; </a:t>
            </a:r>
            <a:r>
              <a:rPr lang="es-AR" sz="2200" noProof="0" dirty="0">
                <a:solidFill>
                  <a:srgbClr val="1A1A1A"/>
                </a:solidFill>
                <a:latin typeface="Consolas"/>
              </a:rPr>
              <a:t>Calendario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3A3C8-2A69-5F00-B740-126B4ED01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ction Title"/>
          <p:cNvSpPr txBox="1"/>
          <p:nvPr/>
        </p:nvSpPr>
        <p:spPr>
          <a:xfrm>
            <a:off x="457200" y="2900000"/>
            <a:ext cx="9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Introducción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8B7BC-6CBA-9362-986B-C981EB12395D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07586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BC9CD3-3BB9-1015-24F7-EAA5077C1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8629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00"/>
            <a:ext cx="112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3100" b="1" noProof="0" dirty="0">
                <a:solidFill>
                  <a:srgbClr val="12324F"/>
                </a:solidFill>
                <a:latin typeface="Consolas"/>
              </a:rPr>
              <a:t>Introducción a la Programación Segura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820000"/>
            <a:ext cx="1000000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1800" b="0" noProof="0" dirty="0">
                <a:solidFill>
                  <a:srgbClr val="5A6570"/>
                </a:solidFill>
                <a:latin typeface="Consolas"/>
              </a:rPr>
              <a:t>Ciclo de vida de desarrollo del software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noProof="0" dirty="0">
                <a:solidFill>
                  <a:srgbClr val="5A6570"/>
                </a:solidFill>
                <a:latin typeface="Consolas"/>
              </a:rPr>
              <a:t>Metodologías existentes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noProof="0" dirty="0">
                <a:solidFill>
                  <a:srgbClr val="5A6570"/>
                </a:solidFill>
                <a:latin typeface="Consolas"/>
              </a:rPr>
              <a:t>Técnicas de mitigación de la programación insegura</a:t>
            </a:r>
            <a:endParaRPr lang="es-AR" sz="1800" b="0" noProof="0" dirty="0">
              <a:solidFill>
                <a:srgbClr val="5A6570"/>
              </a:solidFill>
              <a:latin typeface="Consola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AR" sz="1800" b="0" noProof="0" dirty="0">
              <a:solidFill>
                <a:srgbClr val="5A6570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860000"/>
            <a:ext cx="3519200" cy="308775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57200" y="286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757200" y="318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200" y="3860000"/>
            <a:ext cx="29592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AR" sz="1700" b="1" noProof="0" dirty="0">
                <a:solidFill>
                  <a:srgbClr val="12324F"/>
                </a:solidFill>
                <a:latin typeface="Consolas"/>
              </a:rPr>
              <a:t>Lineamientos para el Ciclo de Vida SD</a:t>
            </a:r>
          </a:p>
          <a:p>
            <a:r>
              <a:rPr lang="es-AR" sz="1200" noProof="0" dirty="0">
                <a:solidFill>
                  <a:srgbClr val="5A6570"/>
                </a:solidFill>
                <a:latin typeface="Consolas"/>
              </a:rPr>
              <a:t>El objetivo central es desplazar la seguridad a las etapas tempranas del desarrollo y mantenerla como un proceso continuo y automatizado.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6400" y="2859999"/>
            <a:ext cx="3519200" cy="308775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4336400" y="286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4636400" y="318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400" y="3860000"/>
            <a:ext cx="2959200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AR" sz="1700" b="1" noProof="0" dirty="0">
                <a:solidFill>
                  <a:srgbClr val="12324F"/>
                </a:solidFill>
                <a:latin typeface="Consolas"/>
              </a:rPr>
              <a:t>Metodologías de Análisis, Modelado de Amenazas y Riesgo</a:t>
            </a:r>
          </a:p>
          <a:p>
            <a:r>
              <a:rPr lang="es-AR" sz="1200" noProof="0" dirty="0">
                <a:solidFill>
                  <a:srgbClr val="5A6570"/>
                </a:solidFill>
                <a:latin typeface="Consolas"/>
              </a:rPr>
              <a:t>Para identificar vulnerabilidades antes de que lleguen a producción, se estructuran metodologías específicas para cada nivel de abstracción.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5600" y="2859999"/>
            <a:ext cx="3519200" cy="308775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215600" y="286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8515600" y="318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5600" y="3860000"/>
            <a:ext cx="295920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AR" sz="1700" b="1" noProof="0" dirty="0">
                <a:solidFill>
                  <a:srgbClr val="12324F"/>
                </a:solidFill>
                <a:latin typeface="Consolas"/>
              </a:rPr>
              <a:t>Técnicas y Controles de Mitigación</a:t>
            </a:r>
          </a:p>
          <a:p>
            <a:r>
              <a:rPr lang="es-AR" sz="1200" noProof="0" dirty="0">
                <a:solidFill>
                  <a:srgbClr val="5A6570"/>
                </a:solidFill>
                <a:latin typeface="Consolas"/>
              </a:rPr>
              <a:t>Las medidas de defensa deben aplicarse bajo el principio de Defensa en Profundidad (múltiples capas de seguridad).</a:t>
            </a:r>
          </a:p>
        </p:txBody>
      </p:sp>
    </p:spTree>
    <p:extLst>
      <p:ext uri="{BB962C8B-B14F-4D97-AF65-F5344CB8AC3E}">
        <p14:creationId xmlns:p14="http://schemas.microsoft.com/office/powerpoint/2010/main" val="85742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0199-DAB1-7F1B-ABEC-05ACE0FB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22EA0-E346-DB91-0A50-D253C2D0C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ction Title">
            <a:extLst>
              <a:ext uri="{FF2B5EF4-FFF2-40B4-BE49-F238E27FC236}">
                <a16:creationId xmlns:a16="http://schemas.microsoft.com/office/drawing/2014/main" id="{E44B629D-8180-4476-19DC-9C1F12BD0104}"/>
              </a:ext>
            </a:extLst>
          </p:cNvPr>
          <p:cNvSpPr txBox="1"/>
          <p:nvPr/>
        </p:nvSpPr>
        <p:spPr>
          <a:xfrm>
            <a:off x="457200" y="2900000"/>
            <a:ext cx="90000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Temario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BFAD6-E9DC-E277-5009-6181CA5DDE68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49779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AEE775-E453-77E9-BB2E-259971239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00"/>
            <a:ext cx="11200000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3100" b="1" noProof="0" dirty="0">
                <a:solidFill>
                  <a:srgbClr val="12324F"/>
                </a:solidFill>
                <a:latin typeface="Consolas"/>
              </a:rPr>
              <a:t>Temario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01"/>
          <p:cNvSpPr/>
          <p:nvPr/>
        </p:nvSpPr>
        <p:spPr>
          <a:xfrm>
            <a:off x="457200" y="200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01"/>
          <p:cNvSpPr/>
          <p:nvPr/>
        </p:nvSpPr>
        <p:spPr>
          <a:xfrm>
            <a:off x="457200" y="200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Num 01"/>
          <p:cNvSpPr/>
          <p:nvPr/>
        </p:nvSpPr>
        <p:spPr>
          <a:xfrm>
            <a:off x="757200" y="232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34" name="Card 02"/>
          <p:cNvSpPr/>
          <p:nvPr/>
        </p:nvSpPr>
        <p:spPr>
          <a:xfrm>
            <a:off x="4336400" y="200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02"/>
          <p:cNvSpPr/>
          <p:nvPr/>
        </p:nvSpPr>
        <p:spPr>
          <a:xfrm>
            <a:off x="4336400" y="200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Num 02"/>
          <p:cNvSpPr/>
          <p:nvPr/>
        </p:nvSpPr>
        <p:spPr>
          <a:xfrm>
            <a:off x="4636400" y="232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37" name="Text 02"/>
          <p:cNvSpPr txBox="1"/>
          <p:nvPr/>
        </p:nvSpPr>
        <p:spPr>
          <a:xfrm>
            <a:off x="4636400" y="300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Ecosistema OWASP y Protección Proactiva</a:t>
            </a:r>
            <a:endParaRPr lang="es-AR" sz="1100" noProof="0" dirty="0">
              <a:solidFill>
                <a:srgbClr val="5A6570"/>
              </a:solidFill>
              <a:latin typeface="Consolas"/>
            </a:endParaRPr>
          </a:p>
        </p:txBody>
      </p:sp>
      <p:sp>
        <p:nvSpPr>
          <p:cNvPr id="38" name="Card 03"/>
          <p:cNvSpPr/>
          <p:nvPr/>
        </p:nvSpPr>
        <p:spPr>
          <a:xfrm>
            <a:off x="8215600" y="200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9" name="Bar 03"/>
          <p:cNvSpPr/>
          <p:nvPr/>
        </p:nvSpPr>
        <p:spPr>
          <a:xfrm>
            <a:off x="8215600" y="200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0" name="Num 03"/>
          <p:cNvSpPr/>
          <p:nvPr/>
        </p:nvSpPr>
        <p:spPr>
          <a:xfrm>
            <a:off x="8515600" y="232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41" name="Text 03"/>
          <p:cNvSpPr txBox="1"/>
          <p:nvPr/>
        </p:nvSpPr>
        <p:spPr>
          <a:xfrm>
            <a:off x="8515600" y="300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Metodologías de Modelado de Amenazas (Threat </a:t>
            </a:r>
            <a:r>
              <a:rPr lang="es-AR" sz="1600" b="1" noProof="0" dirty="0" err="1">
                <a:solidFill>
                  <a:srgbClr val="12324F"/>
                </a:solidFill>
                <a:latin typeface="Consolas"/>
              </a:rPr>
              <a:t>Modeling</a:t>
            </a: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)</a:t>
            </a:r>
          </a:p>
        </p:txBody>
      </p:sp>
      <p:sp>
        <p:nvSpPr>
          <p:cNvPr id="42" name="Card 04"/>
          <p:cNvSpPr/>
          <p:nvPr/>
        </p:nvSpPr>
        <p:spPr>
          <a:xfrm>
            <a:off x="457200" y="451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3" name="Bar 04"/>
          <p:cNvSpPr/>
          <p:nvPr/>
        </p:nvSpPr>
        <p:spPr>
          <a:xfrm>
            <a:off x="457200" y="451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4" name="Num 04"/>
          <p:cNvSpPr/>
          <p:nvPr/>
        </p:nvSpPr>
        <p:spPr>
          <a:xfrm>
            <a:off x="757200" y="483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45" name="Text 04"/>
          <p:cNvSpPr txBox="1"/>
          <p:nvPr/>
        </p:nvSpPr>
        <p:spPr>
          <a:xfrm>
            <a:off x="757200" y="551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Taxonomía de Amenazas (STRIDE) y Modelos Alternativos</a:t>
            </a:r>
          </a:p>
        </p:txBody>
      </p:sp>
      <p:sp>
        <p:nvSpPr>
          <p:cNvPr id="46" name="Card 05"/>
          <p:cNvSpPr/>
          <p:nvPr/>
        </p:nvSpPr>
        <p:spPr>
          <a:xfrm>
            <a:off x="4336400" y="451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7" name="Bar 05"/>
          <p:cNvSpPr/>
          <p:nvPr/>
        </p:nvSpPr>
        <p:spPr>
          <a:xfrm>
            <a:off x="4336400" y="451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48" name="Num 05"/>
          <p:cNvSpPr/>
          <p:nvPr/>
        </p:nvSpPr>
        <p:spPr>
          <a:xfrm>
            <a:off x="4636400" y="483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49" name="Text 05"/>
          <p:cNvSpPr txBox="1"/>
          <p:nvPr/>
        </p:nvSpPr>
        <p:spPr>
          <a:xfrm>
            <a:off x="4636400" y="551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Cuantificación del Riesgo y Métricas de Severidad</a:t>
            </a:r>
          </a:p>
        </p:txBody>
      </p:sp>
      <p:sp>
        <p:nvSpPr>
          <p:cNvPr id="50" name="Card 06"/>
          <p:cNvSpPr/>
          <p:nvPr/>
        </p:nvSpPr>
        <p:spPr>
          <a:xfrm>
            <a:off x="8215600" y="4510000"/>
            <a:ext cx="3519200" cy="2050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1EC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1" name="Bar 06"/>
          <p:cNvSpPr/>
          <p:nvPr/>
        </p:nvSpPr>
        <p:spPr>
          <a:xfrm>
            <a:off x="8215600" y="4510000"/>
            <a:ext cx="35192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52" name="Num 06"/>
          <p:cNvSpPr/>
          <p:nvPr/>
        </p:nvSpPr>
        <p:spPr>
          <a:xfrm>
            <a:off x="8515600" y="4830000"/>
            <a:ext cx="520000" cy="52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AR" sz="1800" b="1" noProof="0" dirty="0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53" name="Text 06"/>
          <p:cNvSpPr txBox="1"/>
          <p:nvPr/>
        </p:nvSpPr>
        <p:spPr>
          <a:xfrm>
            <a:off x="8515600" y="551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Tácticas de Ataque y Automatización en el Ciclo de Vida</a:t>
            </a:r>
          </a:p>
        </p:txBody>
      </p:sp>
      <p:sp>
        <p:nvSpPr>
          <p:cNvPr id="13" name="Text 02">
            <a:extLst>
              <a:ext uri="{FF2B5EF4-FFF2-40B4-BE49-F238E27FC236}">
                <a16:creationId xmlns:a16="http://schemas.microsoft.com/office/drawing/2014/main" id="{606C78A0-1CFC-0E53-EF70-5B7799BB5AB9}"/>
              </a:ext>
            </a:extLst>
          </p:cNvPr>
          <p:cNvSpPr txBox="1"/>
          <p:nvPr/>
        </p:nvSpPr>
        <p:spPr>
          <a:xfrm>
            <a:off x="757200" y="3000000"/>
            <a:ext cx="29592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AR" sz="1600" b="1" noProof="0" dirty="0">
                <a:solidFill>
                  <a:srgbClr val="12324F"/>
                </a:solidFill>
                <a:latin typeface="Consolas"/>
              </a:rPr>
              <a:t>Introducción, Gobernanza y el Ciclo de Desarrollo Seguro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D0B9FB-D907-0114-A55D-A6273BE158B0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343423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92D48-D3FD-4B74-9071-7A44DF6F3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1: Introducción, Gobernanza y el Ciclo de Desarrollo Seguro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79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dirty="0">
                <a:solidFill>
                  <a:srgbClr val="12324F"/>
                </a:solidFill>
                <a:latin typeface="Consolas"/>
              </a:rPr>
              <a:t>24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.08.2026 – 28.08.2026 . Introducción a la Seguridad en el Software y </a:t>
            </a:r>
            <a:r>
              <a:rPr lang="es-AR" sz="1400" b="1" noProof="0" dirty="0" err="1">
                <a:solidFill>
                  <a:srgbClr val="12324F"/>
                </a:solidFill>
                <a:latin typeface="Consolas"/>
              </a:rPr>
              <a:t>DevSecOps</a:t>
            </a:r>
            <a:endParaRPr lang="es-AR" sz="1400" b="1" noProof="0" dirty="0">
              <a:solidFill>
                <a:srgbClr val="12324F"/>
              </a:solidFill>
              <a:latin typeface="Consolas"/>
            </a:endParaRP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Fundamentos de Seguridad en el Software: el costo de la inseguridad y por qué falla el software.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Evolución del SDLC tradicional con seguridad hacia metodologías ágiles y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DevSecOps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Filosofía y pilares de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DevSecOps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: Cultura, Automatización, Medición y Compartición (CAMS). La seguridad como un proceso continuo.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dirty="0">
                <a:solidFill>
                  <a:srgbClr val="12324F"/>
                </a:solidFill>
                <a:latin typeface="Consolas"/>
              </a:rPr>
              <a:t>31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.08.2026 – </a:t>
            </a:r>
            <a:r>
              <a:rPr lang="es-AR" sz="1400" b="1" dirty="0">
                <a:solidFill>
                  <a:srgbClr val="12324F"/>
                </a:solidFill>
                <a:latin typeface="Consolas"/>
              </a:rPr>
              <a:t>04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.09.2026 · Arquitectura Zero Trust y Marcos Corporativos (MSSDL)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Arquitectura y Gobernación de Confianza Cero (Zero Trust): verificación explícita, acceso de menor privilegio y asunción de brecha (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assume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breach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). Aplicación a nivel de código y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APIs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Marcos institucionales: el ciclo MSSDL (Microsoft Security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Development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Lifecycle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Análisis teórico de las fases obligatorias del MSSDL: Requerimientos, Diseño, Codificación, Verificación, Lanzamiento y Respuesta.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04757-F5D2-F37A-76C8-EC58F615425C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369758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E3EE99-AD17-4F7D-B30D-1ADCD349D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2: Ecosistema OWASP y Protección Proactiva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79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2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07.09.2026 – </a:t>
            </a:r>
            <a:r>
              <a:rPr lang="es-AR" sz="1400" b="1" dirty="0">
                <a:solidFill>
                  <a:srgbClr val="12324F"/>
                </a:solidFill>
                <a:latin typeface="Consolas"/>
              </a:rPr>
              <a:t>11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.09.2026 · El Universo OWASP y Gestión de Vulnerabilidades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Proyectos, aplicaciones y protocolos dedicados a determinar y combatir las causas que hacen que el software sea inseguro.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La comunidad colaborativa OWASP: filosofía, estructura y recursos gratuitos globales.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2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07.09.2026 – 11.09.2026 · Controles Proactivos y Defensa en Profundidad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Protección proactiva de OWASP: teoría sobre la defensa en profundidad, validación de entradas, codificación de salidas y manejo seguro de datos.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Gestión de la identidad, autenticación y criptografía desde la perspectiva del desarrollo seguro.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C330F-E151-4FCB-8B4E-EAC0E13655E4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03216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52050-7A37-4019-AA9E-F424D6D5D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3: Metodologías de Modelado de Amenazas (Threat </a:t>
            </a:r>
            <a:r>
              <a:rPr lang="es-AR" sz="2600" b="1" noProof="0" dirty="0" err="1">
                <a:solidFill>
                  <a:srgbClr val="12324F"/>
                </a:solidFill>
                <a:latin typeface="Consolas"/>
              </a:rPr>
              <a:t>Modeling</a:t>
            </a:r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)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52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14.09.2026 – 18.09.2026 · Fundamentos del Modelado y Metodología VAST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Modelado de amenazas: metodologías existentes que garantizan la programación segura mediante la identificación de vulnerabilidades.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Modelo de amenaza de aplicación (perspectiva de desarrollo/arquitectura) vs. modelo de amenaza operacional (perspectiva de infraestructura).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Introducción a VAST (Visual, Agile, and Simple Threat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modeling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): pilares teóricos e integración en flujos ágiles.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21.09.2026 – 25.09.2026 · Metodología PASTA (Proceso Completo)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Introducción a PASTA (Process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for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Attack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Simulation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and Threat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Analysis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 como marco orientado al riesgo del negocio.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1: definición de objetivos comerciales y de negocio.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2: definición de alcance técnico (superficie de ataque y dependencias).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3: descomposición de la aplicación (flujos de datos y fronteras de confianza).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4: analizar amenazas (inteligencia de amenazas y agentes).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5: análisis de vulnerabilidades (debilidades en diseño y código).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6: análisis de ataque (árboles de ataque y vectores de explotación).</a:t>
            </a:r>
          </a:p>
          <a:p>
            <a:pPr marL="200025" indent="-200025">
              <a:spcAft>
                <a:spcPts val="2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Fase 7: análisis de riesgo e impacto (impacto financiero y operativo).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92922-A10D-4BEF-B014-78D2CB5A904C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079976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E7DD4-DE0E-4FC3-B1C5-37019583A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4: Taxonomía de Amenazas (STRIDE) y Modelos Alternativos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52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13.10.2026 – 16.10.2026 · El Modelo STRIDE (S, T, R)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Introducción a STRIDE y su relación con las propiedades de la información (CIA Triad + AAA).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Suplantación / Engaño (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Spoofing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Tampering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/ Contaminación (Alteración de datos).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Repudio (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Repudiation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): Trazas de auditoría y registros (logs) seguros.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13.10.2026 – </a:t>
            </a:r>
            <a:r>
              <a:rPr lang="es-AR" sz="1400" b="1" dirty="0">
                <a:solidFill>
                  <a:srgbClr val="12324F"/>
                </a:solidFill>
                <a:latin typeface="Consolas"/>
              </a:rPr>
              <a:t>16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.10.2026 · El Modelo STRIDE (I, D, E) y Metodología TRIKE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Información (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Information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Disclosure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/ Difusión de información).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Denial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of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Service (Negación de servicio).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Elevation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of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Privilege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(Elevación de privilegio).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Metodología TRIKE: Identificando activos y definiendo requerimientos, creando diagramas de flujo de datos, identificando y mitigando amenazas y riesgos, validando el modelo.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CF618-D946-4B96-99AA-B1DB997CA3D6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57353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19150-2E24-47EE-A35B-186F7D856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5: Cuantificación del Riesgo y Métricas de Severidad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52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dirty="0">
                <a:solidFill>
                  <a:srgbClr val="12324F"/>
                </a:solidFill>
                <a:latin typeface="Consolas"/>
              </a:rPr>
              <a:t>19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.10.2026 – 23.10.2026 · Clasificación Cualitativa (DREAD) y Framework CVSS v4.0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Metodología DREAD: Potencial de daño, Reproductibilidad,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Explotabilidad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, Usuarios afectados y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Descubribilidad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Introducción a CVSS (Common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Vulnerability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Scoring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System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): Historia y evolución.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Métricas de base (Base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Metrics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) y la Escala cualitativa de severidad de la puntuación CVSS v.4.0.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dirty="0">
                <a:solidFill>
                  <a:srgbClr val="12324F"/>
                </a:solidFill>
                <a:latin typeface="Consolas"/>
              </a:rPr>
              <a:t>26.10.2026 – 30.10.2026 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· CVSS v4.0 Avanzado, OCTAVE y Enfoques Híbridos (QTMM)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Anatomía de la Cadena de vector (Vector String) y análisis de Métricas de amenaza, Métricas de ambiente y Métricas suplementarias en CVSS v4.0.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Metodología OCTAVE: Fase 1 (Construir perfiles de activos basados en la amenaza), Fase 2 (Identificar vulnerabilidades de infraestructura) y Fase 3 (Desarrollar planes y estrategias de seguridad).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QTMM (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Quantitative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Threat </a:t>
            </a:r>
            <a:r>
              <a:rPr lang="es-AR" sz="1100" noProof="0" dirty="0" err="1">
                <a:solidFill>
                  <a:srgbClr val="5A6570"/>
                </a:solidFill>
                <a:latin typeface="Consolas"/>
              </a:rPr>
              <a:t>Modeling</a:t>
            </a: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 Method): Metodología híbrida que confluye STRIDE, árboles de ataque y CVSS.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7AF95-1A2B-4024-896B-C2DDB17E6C65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633751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BF64C-687F-481F-981D-DD36C0A30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57200" y="640000"/>
            <a:ext cx="9600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AR" sz="2600" b="1" noProof="0" dirty="0">
                <a:solidFill>
                  <a:srgbClr val="12324F"/>
                </a:solidFill>
                <a:latin typeface="Consolas"/>
              </a:rPr>
              <a:t>Bloque 6: Tácticas de Ataque y Automatización en el Ciclo de Vida</a:t>
            </a:r>
          </a:p>
        </p:txBody>
      </p:sp>
      <p:sp>
        <p:nvSpPr>
          <p:cNvPr id="8" name="Accent Bar"/>
          <p:cNvSpPr/>
          <p:nvPr/>
        </p:nvSpPr>
        <p:spPr>
          <a:xfrm>
            <a:off x="457200" y="1520000"/>
            <a:ext cx="2600000" cy="52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Card Semana 1"/>
          <p:cNvSpPr/>
          <p:nvPr/>
        </p:nvSpPr>
        <p:spPr>
          <a:xfrm>
            <a:off x="4572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1" name="Bar Semana 1"/>
          <p:cNvSpPr/>
          <p:nvPr/>
        </p:nvSpPr>
        <p:spPr>
          <a:xfrm>
            <a:off x="4572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2" name="Text Semana 1"/>
          <p:cNvSpPr txBox="1"/>
          <p:nvPr/>
        </p:nvSpPr>
        <p:spPr>
          <a:xfrm>
            <a:off x="7072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dirty="0">
                <a:solidFill>
                  <a:srgbClr val="12324F"/>
                </a:solidFill>
                <a:latin typeface="Consolas"/>
              </a:rPr>
              <a:t>02.11.2026 – 06.2026</a:t>
            </a: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: Framework MITRE ATT&amp;CK (La Perspectiva del Adversario)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Introducción a MITRE ATT&amp;CK como modelo basado en el comportamiento real del atacante.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Análisis teórico de la cadena de tácticas: Reconocimiento, Desarrollo de recursos, Acceso inicial, Ejecución, Persistencia, Escalamiento de privilegios, Evasión de defensa, Acceso de credenciales, Descubrimiento, Movimiento lateral, Recolección, Comando y control, Exfiltración e Impacto. Mapeo de mitigaciones desde el código.</a:t>
            </a:r>
          </a:p>
        </p:txBody>
      </p:sp>
      <p:sp>
        <p:nvSpPr>
          <p:cNvPr id="34" name="Card Semana 2"/>
          <p:cNvSpPr/>
          <p:nvPr/>
        </p:nvSpPr>
        <p:spPr>
          <a:xfrm>
            <a:off x="6234800" y="2050000"/>
            <a:ext cx="5500000" cy="3560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9050">
            <a:solidFill>
              <a:srgbClr val="C3CCD6"/>
            </a:solidFill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5" name="Bar Semana 2"/>
          <p:cNvSpPr/>
          <p:nvPr/>
        </p:nvSpPr>
        <p:spPr>
          <a:xfrm>
            <a:off x="6234800" y="2050000"/>
            <a:ext cx="5500000" cy="90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6" name="Text Semana 2"/>
          <p:cNvSpPr txBox="1"/>
          <p:nvPr/>
        </p:nvSpPr>
        <p:spPr>
          <a:xfrm>
            <a:off x="6484800" y="2290000"/>
            <a:ext cx="5000000" cy="4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lang="es-AR" sz="1400" b="1" noProof="0" dirty="0">
                <a:solidFill>
                  <a:srgbClr val="12324F"/>
                </a:solidFill>
                <a:latin typeface="Consolas"/>
              </a:rPr>
              <a:t>09.11.2026 – 13.2026: Automatización Integral y Gobernanza </a:t>
            </a:r>
            <a:r>
              <a:rPr lang="es-AR" sz="1400" b="1" noProof="0" dirty="0" err="1">
                <a:solidFill>
                  <a:srgbClr val="12324F"/>
                </a:solidFill>
                <a:latin typeface="Consolas"/>
              </a:rPr>
              <a:t>DevSecOps</a:t>
            </a:r>
            <a:endParaRPr lang="es-AR" sz="1400" b="1" noProof="0" dirty="0">
              <a:solidFill>
                <a:srgbClr val="12324F"/>
              </a:solidFill>
              <a:latin typeface="Consolas"/>
            </a:endParaRP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Automatización integral de la seguridad: Conceptos y arquitectura de herramientas SAST, DAST y SCA en pipelines de CI/CD.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AR" sz="1100" noProof="0" dirty="0">
                <a:solidFill>
                  <a:srgbClr val="5A6570"/>
                </a:solidFill>
                <a:latin typeface="Consolas"/>
              </a:rPr>
              <a:t>Colaboración interdepartamental, gobernanza de seguridad de software y el rol de los Security Champions. Síntesis final del curso.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85916-9DAF-4D69-82B1-F70DE9E78427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31811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F24C-2ECD-2451-97CE-9BCDC64C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D1927-5098-D56C-8D77-DEE79FAEB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ction Title">
            <a:extLst>
              <a:ext uri="{FF2B5EF4-FFF2-40B4-BE49-F238E27FC236}">
                <a16:creationId xmlns:a16="http://schemas.microsoft.com/office/drawing/2014/main" id="{E041A537-EC1C-A3DB-F629-AEBA59BF425B}"/>
              </a:ext>
            </a:extLst>
          </p:cNvPr>
          <p:cNvSpPr txBox="1"/>
          <p:nvPr/>
        </p:nvSpPr>
        <p:spPr>
          <a:xfrm>
            <a:off x="457200" y="2900000"/>
            <a:ext cx="90000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Calendario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B2D17-CAE9-1C0F-A5F6-E3E38516D2FF}"/>
              </a:ext>
            </a:extLst>
          </p:cNvPr>
          <p:cNvSpPr txBox="1"/>
          <p:nvPr/>
        </p:nvSpPr>
        <p:spPr>
          <a:xfrm>
            <a:off x="457200" y="320000"/>
            <a:ext cx="51539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  <p:extLst>
      <p:ext uri="{BB962C8B-B14F-4D97-AF65-F5344CB8AC3E}">
        <p14:creationId xmlns:p14="http://schemas.microsoft.com/office/powerpoint/2010/main" val="2704360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AGOSTO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879018"/>
              </p:ext>
            </p:extLst>
          </p:nvPr>
        </p:nvGraphicFramePr>
        <p:xfrm>
          <a:off x="457200" y="2400000"/>
          <a:ext cx="11277595" cy="40979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LUN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MAR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JUE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VIE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SAB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DOM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Event 18-21"/>
          <p:cNvSpPr/>
          <p:nvPr/>
        </p:nvSpPr>
        <p:spPr>
          <a:xfrm>
            <a:off x="2068285" y="4683998"/>
            <a:ext cx="6444340" cy="604666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Introducción</a:t>
            </a:r>
          </a:p>
        </p:txBody>
      </p:sp>
      <p:sp>
        <p:nvSpPr>
          <p:cNvPr id="8" name="Event 18-21">
            <a:extLst>
              <a:ext uri="{FF2B5EF4-FFF2-40B4-BE49-F238E27FC236}">
                <a16:creationId xmlns:a16="http://schemas.microsoft.com/office/drawing/2014/main" id="{9386241E-E1DF-1742-C424-F1113E4E1B2C}"/>
              </a:ext>
            </a:extLst>
          </p:cNvPr>
          <p:cNvSpPr/>
          <p:nvPr/>
        </p:nvSpPr>
        <p:spPr>
          <a:xfrm>
            <a:off x="457199" y="5288664"/>
            <a:ext cx="8055425" cy="604666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ES" sz="1100" b="1" noProof="0">
                <a:solidFill>
                  <a:srgbClr val="12324F"/>
                </a:solidFill>
                <a:latin typeface="Consolas"/>
              </a:rPr>
              <a:t>Introducción a la Seguridad en el Software y DevSecOps</a:t>
            </a:r>
            <a:endParaRPr lang="es-AR" sz="1100" b="1" noProof="0" dirty="0">
              <a:solidFill>
                <a:srgbClr val="12324F"/>
              </a:solidFill>
              <a:latin typeface="Consolas"/>
            </a:endParaRPr>
          </a:p>
        </p:txBody>
      </p:sp>
      <p:sp>
        <p:nvSpPr>
          <p:cNvPr id="10" name="Event 18-21">
            <a:extLst>
              <a:ext uri="{FF2B5EF4-FFF2-40B4-BE49-F238E27FC236}">
                <a16:creationId xmlns:a16="http://schemas.microsoft.com/office/drawing/2014/main" id="{34B7AA72-63DE-ECDB-B903-F52AA3A7BB71}"/>
              </a:ext>
            </a:extLst>
          </p:cNvPr>
          <p:cNvSpPr/>
          <p:nvPr/>
        </p:nvSpPr>
        <p:spPr>
          <a:xfrm>
            <a:off x="457199" y="5893330"/>
            <a:ext cx="8055425" cy="604666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Arquitectura Zero Trust y Marcos Corporativos (MSSDL)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D9DCE-0F26-9F2B-F8C5-777C4F6DAB9A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SEPTIEMBRE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57890"/>
              </p:ext>
            </p:extLst>
          </p:nvPr>
        </p:nvGraphicFramePr>
        <p:xfrm>
          <a:off x="457200" y="2400000"/>
          <a:ext cx="11277595" cy="409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LUN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MAR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JUE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VIE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SAB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DOM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Event 18-21">
            <a:extLst>
              <a:ext uri="{FF2B5EF4-FFF2-40B4-BE49-F238E27FC236}">
                <a16:creationId xmlns:a16="http://schemas.microsoft.com/office/drawing/2014/main" id="{64DE8938-903B-A7E7-B761-96D0A1813B5A}"/>
              </a:ext>
            </a:extLst>
          </p:cNvPr>
          <p:cNvSpPr/>
          <p:nvPr/>
        </p:nvSpPr>
        <p:spPr>
          <a:xfrm>
            <a:off x="457200" y="2869574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Arquitectura Zero Trust y Marcos Corporativos (MSSDL)</a:t>
            </a:r>
          </a:p>
        </p:txBody>
      </p:sp>
      <p:sp>
        <p:nvSpPr>
          <p:cNvPr id="9" name="Event 18-21">
            <a:extLst>
              <a:ext uri="{FF2B5EF4-FFF2-40B4-BE49-F238E27FC236}">
                <a16:creationId xmlns:a16="http://schemas.microsoft.com/office/drawing/2014/main" id="{8A84D353-9B8E-1A88-B56E-E0A2EB6C49EB}"/>
              </a:ext>
            </a:extLst>
          </p:cNvPr>
          <p:cNvSpPr/>
          <p:nvPr/>
        </p:nvSpPr>
        <p:spPr>
          <a:xfrm>
            <a:off x="457200" y="3595254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ES" sz="1100" b="1" noProof="0" dirty="0">
                <a:solidFill>
                  <a:srgbClr val="12324F"/>
                </a:solidFill>
                <a:latin typeface="Consolas"/>
              </a:rPr>
              <a:t>El Universo OWASP y Gestión de Vulnerabilidades,</a:t>
            </a:r>
          </a:p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 Controles Proactivos y Defensa en Profundidad</a:t>
            </a:r>
          </a:p>
        </p:txBody>
      </p:sp>
      <p:sp>
        <p:nvSpPr>
          <p:cNvPr id="11" name="Event 18-21">
            <a:extLst>
              <a:ext uri="{FF2B5EF4-FFF2-40B4-BE49-F238E27FC236}">
                <a16:creationId xmlns:a16="http://schemas.microsoft.com/office/drawing/2014/main" id="{C17D21D0-A3C1-6CD0-B0DE-F86D10DC25E4}"/>
              </a:ext>
            </a:extLst>
          </p:cNvPr>
          <p:cNvSpPr/>
          <p:nvPr/>
        </p:nvSpPr>
        <p:spPr>
          <a:xfrm>
            <a:off x="457200" y="4320934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Fundamentos del Modelado y Metodología VAST</a:t>
            </a:r>
          </a:p>
        </p:txBody>
      </p:sp>
      <p:sp>
        <p:nvSpPr>
          <p:cNvPr id="13" name="Event 18-21">
            <a:extLst>
              <a:ext uri="{FF2B5EF4-FFF2-40B4-BE49-F238E27FC236}">
                <a16:creationId xmlns:a16="http://schemas.microsoft.com/office/drawing/2014/main" id="{823790AF-ADFB-CB7B-757E-13FFED8DBF91}"/>
              </a:ext>
            </a:extLst>
          </p:cNvPr>
          <p:cNvSpPr/>
          <p:nvPr/>
        </p:nvSpPr>
        <p:spPr>
          <a:xfrm>
            <a:off x="457200" y="5046614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Metodología PASTA (Proceso Completo)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F61FE2-D2D5-BD35-49DB-7F2D789585D0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17" name="Event 18-21">
            <a:extLst>
              <a:ext uri="{FF2B5EF4-FFF2-40B4-BE49-F238E27FC236}">
                <a16:creationId xmlns:a16="http://schemas.microsoft.com/office/drawing/2014/main" id="{694639F8-1FA2-07B9-0D33-110A5BCC2C69}"/>
              </a:ext>
            </a:extLst>
          </p:cNvPr>
          <p:cNvSpPr/>
          <p:nvPr/>
        </p:nvSpPr>
        <p:spPr>
          <a:xfrm>
            <a:off x="465362" y="5773186"/>
            <a:ext cx="8055425" cy="715289"/>
          </a:xfrm>
          <a:prstGeom prst="roundRect">
            <a:avLst>
              <a:gd name="adj" fmla="val 1200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Primer Parcial (*)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AC8A6-F46A-47B3-E276-6008CEA73FEC}"/>
              </a:ext>
            </a:extLst>
          </p:cNvPr>
          <p:cNvSpPr txBox="1"/>
          <p:nvPr/>
        </p:nvSpPr>
        <p:spPr>
          <a:xfrm>
            <a:off x="457199" y="6545957"/>
            <a:ext cx="55054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600" noProof="0" dirty="0">
                <a:latin typeface="Consolas" panose="020B0609020204030204" pitchFamily="49" charset="0"/>
              </a:rPr>
              <a:t>(*) Fecha y hora a definir. La semana seleccionada no indica que el examen estará disponible durante toda la semana.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OCTUBRE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59783"/>
              </p:ext>
            </p:extLst>
          </p:nvPr>
        </p:nvGraphicFramePr>
        <p:xfrm>
          <a:off x="457200" y="2400000"/>
          <a:ext cx="11277595" cy="409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LUN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MAR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JUE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VIE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SAB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DOM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31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Event 18-21">
            <a:extLst>
              <a:ext uri="{FF2B5EF4-FFF2-40B4-BE49-F238E27FC236}">
                <a16:creationId xmlns:a16="http://schemas.microsoft.com/office/drawing/2014/main" id="{FCEF356C-72AD-E3FD-1C43-59134331784D}"/>
              </a:ext>
            </a:extLst>
          </p:cNvPr>
          <p:cNvSpPr/>
          <p:nvPr/>
        </p:nvSpPr>
        <p:spPr>
          <a:xfrm>
            <a:off x="2066544" y="4339208"/>
            <a:ext cx="6446081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El Modelo STRIDE (S, T, R)</a:t>
            </a:r>
            <a:r>
              <a:rPr lang="es-AR" sz="1100" b="1" dirty="0">
                <a:solidFill>
                  <a:srgbClr val="12324F"/>
                </a:solidFill>
                <a:latin typeface="Consolas"/>
              </a:rPr>
              <a:t>, El Modelo STRIDE (I, D, E) </a:t>
            </a:r>
          </a:p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y Metodología TRIKE</a:t>
            </a:r>
          </a:p>
        </p:txBody>
      </p:sp>
      <p:sp>
        <p:nvSpPr>
          <p:cNvPr id="11" name="Event 18-21">
            <a:extLst>
              <a:ext uri="{FF2B5EF4-FFF2-40B4-BE49-F238E27FC236}">
                <a16:creationId xmlns:a16="http://schemas.microsoft.com/office/drawing/2014/main" id="{9709E374-6503-E354-BDD6-F21D95C01C82}"/>
              </a:ext>
            </a:extLst>
          </p:cNvPr>
          <p:cNvSpPr/>
          <p:nvPr/>
        </p:nvSpPr>
        <p:spPr>
          <a:xfrm>
            <a:off x="457200" y="5055642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Clasificación Cualitativa (DREAD) y Framework CVSS v4.0</a:t>
            </a:r>
          </a:p>
        </p:txBody>
      </p:sp>
      <p:sp>
        <p:nvSpPr>
          <p:cNvPr id="13" name="Event 18-21">
            <a:extLst>
              <a:ext uri="{FF2B5EF4-FFF2-40B4-BE49-F238E27FC236}">
                <a16:creationId xmlns:a16="http://schemas.microsoft.com/office/drawing/2014/main" id="{3006657C-27D3-B316-CB21-CDB100A60BE0}"/>
              </a:ext>
            </a:extLst>
          </p:cNvPr>
          <p:cNvSpPr/>
          <p:nvPr/>
        </p:nvSpPr>
        <p:spPr>
          <a:xfrm>
            <a:off x="457200" y="5782504"/>
            <a:ext cx="8055425" cy="715289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CVSS v4.0 Avanzado, OCTAVE y Enfoques Híbridos (QTMM)</a:t>
            </a:r>
          </a:p>
        </p:txBody>
      </p:sp>
      <p:sp>
        <p:nvSpPr>
          <p:cNvPr id="15" name="Event 18-21">
            <a:extLst>
              <a:ext uri="{FF2B5EF4-FFF2-40B4-BE49-F238E27FC236}">
                <a16:creationId xmlns:a16="http://schemas.microsoft.com/office/drawing/2014/main" id="{B580B129-2280-7432-6799-40F16788B95C}"/>
              </a:ext>
            </a:extLst>
          </p:cNvPr>
          <p:cNvSpPr/>
          <p:nvPr/>
        </p:nvSpPr>
        <p:spPr>
          <a:xfrm>
            <a:off x="457199" y="3600573"/>
            <a:ext cx="8055425" cy="715289"/>
          </a:xfrm>
          <a:prstGeom prst="roundRect">
            <a:avLst>
              <a:gd name="adj" fmla="val 12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Período de Recuperatorio (*)</a:t>
            </a:r>
          </a:p>
        </p:txBody>
      </p:sp>
      <p:sp>
        <p:nvSpPr>
          <p:cNvPr id="17" name="Event 18-21">
            <a:extLst>
              <a:ext uri="{FF2B5EF4-FFF2-40B4-BE49-F238E27FC236}">
                <a16:creationId xmlns:a16="http://schemas.microsoft.com/office/drawing/2014/main" id="{4EA23FFD-5D6D-4AEB-B477-1219BDDE7E4F}"/>
              </a:ext>
            </a:extLst>
          </p:cNvPr>
          <p:cNvSpPr/>
          <p:nvPr/>
        </p:nvSpPr>
        <p:spPr>
          <a:xfrm>
            <a:off x="457199" y="2878927"/>
            <a:ext cx="8055425" cy="715289"/>
          </a:xfrm>
          <a:prstGeom prst="roundRect">
            <a:avLst>
              <a:gd name="adj" fmla="val 1200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Primer Parcial (*)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02F77-26E3-2E18-817F-4ABA5D0EA122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87DA25-5B54-F120-68DE-A2BAA66A3FE3}"/>
              </a:ext>
            </a:extLst>
          </p:cNvPr>
          <p:cNvSpPr txBox="1"/>
          <p:nvPr/>
        </p:nvSpPr>
        <p:spPr>
          <a:xfrm>
            <a:off x="457199" y="6545957"/>
            <a:ext cx="55054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600" noProof="0" dirty="0">
                <a:latin typeface="Consolas" panose="020B0609020204030204" pitchFamily="49" charset="0"/>
              </a:rPr>
              <a:t>(*) Fecha y hora a definir. La semana seleccionada no indica que el examen estará disponible durante toda la semana.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NOVIEMBRE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721380"/>
              </p:ext>
            </p:extLst>
          </p:nvPr>
        </p:nvGraphicFramePr>
        <p:xfrm>
          <a:off x="457200" y="2400000"/>
          <a:ext cx="11277595" cy="40979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LUN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MAR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JUE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VIE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SAB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DOM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666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Event 18-21">
            <a:extLst>
              <a:ext uri="{FF2B5EF4-FFF2-40B4-BE49-F238E27FC236}">
                <a16:creationId xmlns:a16="http://schemas.microsoft.com/office/drawing/2014/main" id="{7BA04618-91D7-550B-DF27-56AD792FF01F}"/>
              </a:ext>
            </a:extLst>
          </p:cNvPr>
          <p:cNvSpPr/>
          <p:nvPr/>
        </p:nvSpPr>
        <p:spPr>
          <a:xfrm>
            <a:off x="457200" y="3456868"/>
            <a:ext cx="8055425" cy="610165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dirty="0">
                <a:solidFill>
                  <a:srgbClr val="12324F"/>
                </a:solidFill>
                <a:latin typeface="Consolas"/>
              </a:rPr>
              <a:t>Framework MITRE ATT&amp;CK (La Perspectiva del Adversario)</a:t>
            </a:r>
            <a:endParaRPr lang="es-AR" sz="1100" b="1" noProof="0" dirty="0">
              <a:solidFill>
                <a:srgbClr val="12324F"/>
              </a:solidFill>
              <a:latin typeface="Consolas"/>
            </a:endParaRPr>
          </a:p>
        </p:txBody>
      </p:sp>
      <p:sp>
        <p:nvSpPr>
          <p:cNvPr id="23" name="Event 18-21">
            <a:extLst>
              <a:ext uri="{FF2B5EF4-FFF2-40B4-BE49-F238E27FC236}">
                <a16:creationId xmlns:a16="http://schemas.microsoft.com/office/drawing/2014/main" id="{C4F1FFD4-9D1D-3287-AEFC-842E845DD8C3}"/>
              </a:ext>
            </a:extLst>
          </p:cNvPr>
          <p:cNvSpPr/>
          <p:nvPr/>
        </p:nvSpPr>
        <p:spPr>
          <a:xfrm>
            <a:off x="2066544" y="5287363"/>
            <a:ext cx="6446079" cy="610165"/>
          </a:xfrm>
          <a:prstGeom prst="roundRect">
            <a:avLst>
              <a:gd name="adj" fmla="val 12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Período de Recuperatorio(*)</a:t>
            </a:r>
          </a:p>
        </p:txBody>
      </p:sp>
      <p:sp>
        <p:nvSpPr>
          <p:cNvPr id="25" name="Event 18-21">
            <a:extLst>
              <a:ext uri="{FF2B5EF4-FFF2-40B4-BE49-F238E27FC236}">
                <a16:creationId xmlns:a16="http://schemas.microsoft.com/office/drawing/2014/main" id="{0A8ADB4F-AD5B-0309-805B-0B19120678F5}"/>
              </a:ext>
            </a:extLst>
          </p:cNvPr>
          <p:cNvSpPr/>
          <p:nvPr/>
        </p:nvSpPr>
        <p:spPr>
          <a:xfrm>
            <a:off x="457198" y="4686895"/>
            <a:ext cx="8055425" cy="610165"/>
          </a:xfrm>
          <a:prstGeom prst="roundRect">
            <a:avLst>
              <a:gd name="adj" fmla="val 1200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Segundo Parcial (*)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18B748-C655-3CBE-AA14-ABBDB7DE0724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F0153C-20B1-F6CE-D7F4-C3DB840682B3}"/>
              </a:ext>
            </a:extLst>
          </p:cNvPr>
          <p:cNvSpPr txBox="1"/>
          <p:nvPr/>
        </p:nvSpPr>
        <p:spPr>
          <a:xfrm>
            <a:off x="457199" y="6545957"/>
            <a:ext cx="55054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600" noProof="0" dirty="0">
                <a:latin typeface="Consolas" panose="020B0609020204030204" pitchFamily="49" charset="0"/>
              </a:rPr>
              <a:t>(*) Fecha y hora a definir. La semana seleccionada no indica que el examen estará disponible durante toda la semana.</a:t>
            </a:r>
          </a:p>
        </p:txBody>
      </p:sp>
      <p:sp>
        <p:nvSpPr>
          <p:cNvPr id="6" name="Event 18-21">
            <a:extLst>
              <a:ext uri="{FF2B5EF4-FFF2-40B4-BE49-F238E27FC236}">
                <a16:creationId xmlns:a16="http://schemas.microsoft.com/office/drawing/2014/main" id="{D8D615EB-1409-5181-6ED1-3C96921FF8D6}"/>
              </a:ext>
            </a:extLst>
          </p:cNvPr>
          <p:cNvSpPr/>
          <p:nvPr/>
        </p:nvSpPr>
        <p:spPr>
          <a:xfrm>
            <a:off x="457197" y="4081316"/>
            <a:ext cx="8055425" cy="610165"/>
          </a:xfrm>
          <a:prstGeom prst="roundRect">
            <a:avLst>
              <a:gd name="adj" fmla="val 12000"/>
            </a:avLst>
          </a:prstGeom>
          <a:solidFill>
            <a:srgbClr val="12324F">
              <a:alpha val="18000"/>
            </a:srgbClr>
          </a:solidFill>
          <a:ln w="19050">
            <a:solidFill>
              <a:srgbClr val="12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12324F"/>
                </a:solidFill>
                <a:latin typeface="Consolas"/>
              </a:rPr>
              <a:t>Automatización Integral y Gobernanza </a:t>
            </a:r>
            <a:r>
              <a:rPr lang="es-ES" sz="1100" b="1" dirty="0" err="1">
                <a:solidFill>
                  <a:srgbClr val="12324F"/>
                </a:solidFill>
                <a:latin typeface="Consolas"/>
              </a:rPr>
              <a:t>DevSecOps</a:t>
            </a:r>
            <a:r>
              <a:rPr lang="es-ES" sz="1100" b="1" dirty="0">
                <a:solidFill>
                  <a:srgbClr val="12324F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00"/>
            <a:ext cx="9000000" cy="7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4000" b="1" noProof="0" dirty="0">
                <a:solidFill>
                  <a:srgbClr val="12324F"/>
                </a:solidFill>
                <a:latin typeface="Consolas"/>
              </a:rPr>
              <a:t>DICIEMBRE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372462"/>
              </p:ext>
            </p:extLst>
          </p:nvPr>
        </p:nvGraphicFramePr>
        <p:xfrm>
          <a:off x="457200" y="2400000"/>
          <a:ext cx="11277595" cy="409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LUN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MAR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MIE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JUE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VIE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SAB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noProof="0" dirty="0">
                          <a:solidFill>
                            <a:srgbClr val="1F4E79"/>
                          </a:solidFill>
                          <a:latin typeface="Consolas"/>
                        </a:rPr>
                        <a:t>DOM</a:t>
                      </a:r>
                    </a:p>
                  </a:txBody>
                  <a:tcPr marL="100584" marR="45720" marT="27432" marB="27432" anchor="ctr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0" noProof="0" dirty="0">
                          <a:solidFill>
                            <a:srgbClr val="5A6570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600"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sz="1600" b="1" noProof="0" dirty="0">
                          <a:solidFill>
                            <a:srgbClr val="1A1A1A"/>
                          </a:solidFill>
                          <a:latin typeface="Consolas"/>
                        </a:rPr>
                        <a:t>31</a:t>
                      </a:r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noProof="0" dirty="0"/>
                    </a:p>
                  </a:txBody>
                  <a:tcPr marL="100584" marR="45720" marT="27432" marB="27432">
                    <a:lnL w="9525" cap="flat">
                      <a:solidFill>
                        <a:srgbClr val="C3CCD6"/>
                      </a:solidFill>
                    </a:lnL>
                    <a:lnR w="9525" cap="flat">
                      <a:solidFill>
                        <a:srgbClr val="C3CCD6"/>
                      </a:solidFill>
                    </a:lnR>
                    <a:lnT w="9525" cap="flat">
                      <a:solidFill>
                        <a:srgbClr val="C3CCD6"/>
                      </a:solidFill>
                    </a:lnT>
                    <a:lnB w="9525" cap="flat">
                      <a:solidFill>
                        <a:srgbClr val="C3CCD6"/>
                      </a:solidFill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Event 18-21">
            <a:extLst>
              <a:ext uri="{FF2B5EF4-FFF2-40B4-BE49-F238E27FC236}">
                <a16:creationId xmlns:a16="http://schemas.microsoft.com/office/drawing/2014/main" id="{D51D260C-5C44-8527-552D-B2695DCDCF44}"/>
              </a:ext>
            </a:extLst>
          </p:cNvPr>
          <p:cNvSpPr/>
          <p:nvPr/>
        </p:nvSpPr>
        <p:spPr>
          <a:xfrm>
            <a:off x="457200" y="3595041"/>
            <a:ext cx="8055425" cy="724475"/>
          </a:xfrm>
          <a:prstGeom prst="roundRect">
            <a:avLst>
              <a:gd name="adj" fmla="val 12000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1100" b="1" noProof="0" dirty="0">
                <a:solidFill>
                  <a:srgbClr val="12324F"/>
                </a:solidFill>
                <a:latin typeface="Consolas"/>
              </a:rPr>
              <a:t>Examen Final (*)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B8BA9-C945-33DD-A9F5-23073770A3F8}"/>
              </a:ext>
            </a:extLst>
          </p:cNvPr>
          <p:cNvSpPr txBox="1"/>
          <p:nvPr/>
        </p:nvSpPr>
        <p:spPr>
          <a:xfrm>
            <a:off x="457200" y="320000"/>
            <a:ext cx="9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AR" sz="1400" noProof="0" dirty="0">
                <a:solidFill>
                  <a:srgbClr val="2E5E8C"/>
                </a:solidFill>
                <a:latin typeface="Consolas"/>
              </a:rPr>
              <a:t>18.07.2026 – Introducción a la Programación Segura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084DE-BC5C-86B6-87F2-1D78F1FBE71E}"/>
              </a:ext>
            </a:extLst>
          </p:cNvPr>
          <p:cNvSpPr txBox="1"/>
          <p:nvPr/>
        </p:nvSpPr>
        <p:spPr>
          <a:xfrm>
            <a:off x="457199" y="6545957"/>
            <a:ext cx="55054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600" noProof="0" dirty="0">
                <a:latin typeface="Consolas" panose="020B0609020204030204" pitchFamily="49" charset="0"/>
              </a:rPr>
              <a:t>(*) Fecha y hora a definir. La semana seleccionada no indica que el examen estará disponible durante toda la semana.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5407</TotalTime>
  <Words>5647</Words>
  <Application>Microsoft Office PowerPoint</Application>
  <PresentationFormat>Widescreen</PresentationFormat>
  <Paragraphs>481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Introducción a la Programación Segura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Roxana Quiroga Sollinger</dc:creator>
  <cp:lastModifiedBy>Roxana Quiroga Sollinger</cp:lastModifiedBy>
  <cp:revision>35</cp:revision>
  <cp:lastPrinted>2026-08-17T18:48:12Z</cp:lastPrinted>
  <dcterms:created xsi:type="dcterms:W3CDTF">2026-05-10T12:53:03Z</dcterms:created>
  <dcterms:modified xsi:type="dcterms:W3CDTF">2026-08-17T19:05:05Z</dcterms:modified>
</cp:coreProperties>
</file>