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1" roundtripDataSignature="AMtx7mh5kdABaG2gcKwJvxg6eEn6XqYQz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83F6A6F-06C8-4D1A-ABC7-433DCE45A8D4}">
  <a:tblStyle styleId="{083F6A6F-06C8-4D1A-ABC7-433DCE45A8D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F6A1BAB8-95AE-46C7-A7E8-77DEBBE2C8D1}"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customschemas.google.com/relationships/presentationmetadata" Target="metadata"/><Relationship Id="rId30" Type="http://schemas.openxmlformats.org/officeDocument/2006/relationships/slide" Target="slides/slide2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t/>
            </a:r>
            <a:endParaRPr>
              <a:solidFill>
                <a:schemeClr val="dk1"/>
              </a:solidFill>
            </a:endParaRPr>
          </a:p>
        </p:txBody>
      </p:sp>
      <p:sp>
        <p:nvSpPr>
          <p:cNvPr id="58" name="Google Shape;58;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s">
                <a:solidFill>
                  <a:schemeClr val="dk1"/>
                </a:solidFill>
              </a:rPr>
              <a:t>Hola a todos, bienvenidos a esta 6ta clase de Gestión de Servicios de Información.</a:t>
            </a:r>
            <a:endParaRPr>
              <a:solidFill>
                <a:schemeClr val="dk1"/>
              </a:solidFill>
            </a:endParaRPr>
          </a:p>
          <a:p>
            <a:pPr indent="0" lvl="0" marL="0" rtl="0" algn="l">
              <a:lnSpc>
                <a:spcPct val="115000"/>
              </a:lnSpc>
              <a:spcBef>
                <a:spcPts val="1200"/>
              </a:spcBef>
              <a:spcAft>
                <a:spcPts val="1200"/>
              </a:spcAft>
              <a:buSzPts val="1100"/>
              <a:buNone/>
            </a:pPr>
            <a:r>
              <a:rPr lang="es">
                <a:solidFill>
                  <a:schemeClr val="dk1"/>
                </a:solidFill>
              </a:rPr>
              <a:t>En esta clase estaremos hablado principalmente de ITIL pero desde una perspectiva mucho más práctica dando ejemplo, detallando herramientas para finalmente incluso ejemplificar flujos de las prácticas más importantes.</a:t>
            </a:r>
            <a:endParaRPr/>
          </a:p>
        </p:txBody>
      </p:sp>
      <p:sp>
        <p:nvSpPr>
          <p:cNvPr id="64" name="Google Shape;64;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s">
                <a:solidFill>
                  <a:schemeClr val="dk1"/>
                </a:solidFill>
              </a:rPr>
              <a:t>Primero: recuerden que ITIL es una </a:t>
            </a:r>
            <a:r>
              <a:rPr b="1" lang="es">
                <a:solidFill>
                  <a:schemeClr val="dk1"/>
                </a:solidFill>
              </a:rPr>
              <a:t>guía de buenas prácticas para gestionar servicios de TI</a:t>
            </a:r>
            <a:r>
              <a:rPr lang="e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¿Cuál es el cambio grande en ITIL 4 respecto a versiones anteriores? </a:t>
            </a:r>
            <a:r>
              <a:rPr b="1" lang="es">
                <a:solidFill>
                  <a:schemeClr val="dk1"/>
                </a:solidFill>
              </a:rPr>
              <a:t>La adaptación al mundo moderno</a:t>
            </a:r>
            <a:r>
              <a:rPr lang="es">
                <a:solidFill>
                  <a:schemeClr val="dk1"/>
                </a:solidFill>
              </a:rPr>
              <a:t>: DevOps, Agile, nube, cambios rápidos, usuarios exigentes.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Ya no pensamos solo en procesos rígidos, sino en </a:t>
            </a:r>
            <a:r>
              <a:rPr b="1" lang="es">
                <a:solidFill>
                  <a:schemeClr val="dk1"/>
                </a:solidFill>
              </a:rPr>
              <a:t>crear valor de manera flexible</a:t>
            </a:r>
            <a:r>
              <a:rPr lang="e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Y la gran novedad de ITIL 4 es el </a:t>
            </a:r>
            <a:r>
              <a:rPr b="1" lang="es">
                <a:solidFill>
                  <a:schemeClr val="dk1"/>
                </a:solidFill>
              </a:rPr>
              <a:t>Service Value System (SVS)</a:t>
            </a:r>
            <a:r>
              <a:rPr lang="es">
                <a:solidFill>
                  <a:schemeClr val="dk1"/>
                </a:solidFill>
              </a:rPr>
              <a:t>: un marco que integra </a:t>
            </a:r>
            <a:r>
              <a:rPr b="1" lang="es">
                <a:solidFill>
                  <a:schemeClr val="dk1"/>
                </a:solidFill>
              </a:rPr>
              <a:t>gobierno, prácticas, principios, y mejora continua</a:t>
            </a:r>
            <a:r>
              <a:rPr lang="e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sz="1300">
                <a:solidFill>
                  <a:schemeClr val="dk1"/>
                </a:solidFill>
              </a:rPr>
              <a:t>Imaginen una gran máquina o ecosistema. El input son las </a:t>
            </a:r>
            <a:r>
              <a:rPr b="1" lang="es" sz="1300">
                <a:solidFill>
                  <a:schemeClr val="dk1"/>
                </a:solidFill>
              </a:rPr>
              <a:t>oportunidades</a:t>
            </a:r>
            <a:r>
              <a:rPr lang="es" sz="1300">
                <a:solidFill>
                  <a:schemeClr val="dk1"/>
                </a:solidFill>
              </a:rPr>
              <a:t> o </a:t>
            </a:r>
            <a:r>
              <a:rPr b="1" lang="es" sz="1300">
                <a:solidFill>
                  <a:schemeClr val="dk1"/>
                </a:solidFill>
              </a:rPr>
              <a:t>demandas</a:t>
            </a:r>
            <a:r>
              <a:rPr lang="es" sz="1300">
                <a:solidFill>
                  <a:schemeClr val="dk1"/>
                </a:solidFill>
              </a:rPr>
              <a:t> que recibimos del negocio.</a:t>
            </a:r>
            <a:br>
              <a:rPr lang="es" sz="1300">
                <a:solidFill>
                  <a:schemeClr val="dk1"/>
                </a:solidFill>
              </a:rPr>
            </a:br>
            <a:r>
              <a:rPr lang="es" sz="1300">
                <a:solidFill>
                  <a:schemeClr val="dk1"/>
                </a:solidFill>
              </a:rPr>
              <a:t> Pasan a través de </a:t>
            </a:r>
            <a:r>
              <a:rPr b="1" lang="es" sz="1300">
                <a:solidFill>
                  <a:schemeClr val="dk1"/>
                </a:solidFill>
              </a:rPr>
              <a:t>principios rectores</a:t>
            </a:r>
            <a:r>
              <a:rPr lang="es" sz="1300">
                <a:solidFill>
                  <a:schemeClr val="dk1"/>
                </a:solidFill>
              </a:rPr>
              <a:t>, </a:t>
            </a:r>
            <a:r>
              <a:rPr b="1" lang="es" sz="1300">
                <a:solidFill>
                  <a:schemeClr val="dk1"/>
                </a:solidFill>
              </a:rPr>
              <a:t>gobierno</a:t>
            </a:r>
            <a:r>
              <a:rPr lang="es" sz="1300">
                <a:solidFill>
                  <a:schemeClr val="dk1"/>
                </a:solidFill>
              </a:rPr>
              <a:t>, </a:t>
            </a:r>
            <a:r>
              <a:rPr b="1" lang="es" sz="1300">
                <a:solidFill>
                  <a:schemeClr val="dk1"/>
                </a:solidFill>
              </a:rPr>
              <a:t>mejora continua</a:t>
            </a:r>
            <a:r>
              <a:rPr lang="es" sz="1300">
                <a:solidFill>
                  <a:schemeClr val="dk1"/>
                </a:solidFill>
              </a:rPr>
              <a:t> y </a:t>
            </a:r>
            <a:r>
              <a:rPr b="1" lang="es" sz="1300">
                <a:solidFill>
                  <a:schemeClr val="dk1"/>
                </a:solidFill>
              </a:rPr>
              <a:t>prácticas</a:t>
            </a:r>
            <a:r>
              <a:rPr lang="es" sz="1300">
                <a:solidFill>
                  <a:schemeClr val="dk1"/>
                </a:solidFill>
              </a:rPr>
              <a:t> bien aplicadas, usando actividades coordinadas como en la </a:t>
            </a:r>
            <a:r>
              <a:rPr b="1" lang="es" sz="1300">
                <a:solidFill>
                  <a:schemeClr val="dk1"/>
                </a:solidFill>
              </a:rPr>
              <a:t>cadena de valor</a:t>
            </a:r>
            <a:r>
              <a:rPr lang="es" sz="1300">
                <a:solidFill>
                  <a:schemeClr val="dk1"/>
                </a:solidFill>
              </a:rPr>
              <a:t>...</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sz="1300">
                <a:solidFill>
                  <a:schemeClr val="dk1"/>
                </a:solidFill>
              </a:rPr>
              <a:t>...y el output que generamos es </a:t>
            </a:r>
            <a:r>
              <a:rPr b="1" lang="es" sz="1300">
                <a:solidFill>
                  <a:schemeClr val="dk1"/>
                </a:solidFill>
              </a:rPr>
              <a:t>valor</a:t>
            </a:r>
            <a:r>
              <a:rPr lang="es" sz="1300">
                <a:solidFill>
                  <a:schemeClr val="dk1"/>
                </a:solidFill>
              </a:rPr>
              <a:t>: servicios que ayudan a que el negocio cumpla sus objetivos.</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highlight>
                  <a:schemeClr val="accent4"/>
                </a:highlight>
              </a:rPr>
              <a:t>El SVS nos recuerda que </a:t>
            </a:r>
            <a:r>
              <a:rPr b="1" lang="es">
                <a:solidFill>
                  <a:schemeClr val="dk1"/>
                </a:solidFill>
                <a:highlight>
                  <a:schemeClr val="accent4"/>
                </a:highlight>
              </a:rPr>
              <a:t>no existe una práctica aislada</a:t>
            </a:r>
            <a:r>
              <a:rPr lang="es">
                <a:solidFill>
                  <a:schemeClr val="dk1"/>
                </a:solidFill>
                <a:highlight>
                  <a:schemeClr val="accent4"/>
                </a:highlight>
              </a:rPr>
              <a:t>: todo debe alinearse para entregar valor de verdad, no solo para “cumplir procesos”.**"</a:t>
            </a:r>
            <a:endParaRPr>
              <a:solidFill>
                <a:schemeClr val="dk1"/>
              </a:solidFill>
              <a:highlight>
                <a:schemeClr val="accent4"/>
              </a:highlight>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En vez de memorizar 26 procesos como antes, ahora usamos prácticas modulares, adaptables según cada organización y cada situación.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s">
                <a:solidFill>
                  <a:schemeClr val="dk1"/>
                </a:solidFill>
                <a:highlight>
                  <a:schemeClr val="accent4"/>
                </a:highlight>
              </a:rPr>
              <a:t>¿Cómo? Aplicando sentido común estructurado, no burocracia.</a:t>
            </a:r>
            <a:endParaRPr b="1">
              <a:solidFill>
                <a:schemeClr val="dk1"/>
              </a:solidFill>
              <a:highlight>
                <a:schemeClr val="accent4"/>
              </a:highlight>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Hoy vamos a ver cómo bajarlo a tierra en ejemplos reales, que es donde realmente tiene sentido."</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s">
                <a:solidFill>
                  <a:schemeClr val="dk1"/>
                </a:solidFill>
              </a:rPr>
              <a:t>ITIL 4 no nos pide que sigamos recetas de cocina</a:t>
            </a:r>
            <a:r>
              <a:rPr lang="es">
                <a:solidFill>
                  <a:schemeClr val="dk1"/>
                </a:solidFill>
              </a:rPr>
              <a:t>. Nos da </a:t>
            </a:r>
            <a:r>
              <a:rPr b="1" lang="es">
                <a:solidFill>
                  <a:schemeClr val="dk1"/>
                </a:solidFill>
              </a:rPr>
              <a:t>ingredientes</a:t>
            </a:r>
            <a:r>
              <a:rPr lang="es">
                <a:solidFill>
                  <a:schemeClr val="dk1"/>
                </a:solidFill>
              </a:rPr>
              <a:t>. Cada organización cocina su propio plato de servicios."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b="1">
              <a:solidFill>
                <a:schemeClr val="dk1"/>
              </a:solidFill>
            </a:endParaRPr>
          </a:p>
          <a:p>
            <a:pPr indent="0" lvl="0" marL="0" rtl="0" algn="l">
              <a:lnSpc>
                <a:spcPct val="115000"/>
              </a:lnSpc>
              <a:spcBef>
                <a:spcPts val="1200"/>
              </a:spcBef>
              <a:spcAft>
                <a:spcPts val="0"/>
              </a:spcAft>
              <a:buSzPts val="1100"/>
              <a:buNone/>
            </a:pPr>
            <a:r>
              <a:rPr lang="es">
                <a:solidFill>
                  <a:schemeClr val="dk1"/>
                </a:solidFill>
              </a:rPr>
              <a:t>Con el tiempo, </a:t>
            </a:r>
            <a:r>
              <a:rPr b="1" lang="es">
                <a:solidFill>
                  <a:schemeClr val="dk1"/>
                </a:solidFill>
              </a:rPr>
              <a:t>ITIL se formalizó tanto</a:t>
            </a:r>
            <a:r>
              <a:rPr lang="es">
                <a:solidFill>
                  <a:schemeClr val="dk1"/>
                </a:solidFill>
              </a:rPr>
              <a:t>, con procesos definidos, roles, flujos de trabajo y una terminología común, que empezó a usarse </a:t>
            </a:r>
            <a:r>
              <a:rPr b="1" lang="es">
                <a:solidFill>
                  <a:schemeClr val="dk1"/>
                </a:solidFill>
              </a:rPr>
              <a:t>como si fuera una metodología</a:t>
            </a:r>
            <a:r>
              <a:rPr lang="es">
                <a:solidFill>
                  <a:schemeClr val="dk1"/>
                </a:solidFill>
              </a:rPr>
              <a:t>, aunque </a:t>
            </a:r>
            <a:r>
              <a:rPr b="1" lang="es">
                <a:solidFill>
                  <a:schemeClr val="dk1"/>
                </a:solidFill>
              </a:rPr>
              <a:t>técnicamente no lo es</a:t>
            </a:r>
            <a:r>
              <a:rPr lang="e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SzPts val="1100"/>
              <a:buNone/>
            </a:pPr>
            <a:r>
              <a:rPr lang="es">
                <a:solidFill>
                  <a:schemeClr val="dk1"/>
                </a:solidFill>
              </a:rPr>
              <a:t>Valor : En ITIL, </a:t>
            </a:r>
            <a:r>
              <a:rPr b="1" lang="es">
                <a:solidFill>
                  <a:schemeClr val="dk1"/>
                </a:solidFill>
              </a:rPr>
              <a:t>el valor para el cliente</a:t>
            </a:r>
            <a:r>
              <a:rPr lang="es">
                <a:solidFill>
                  <a:schemeClr val="dk1"/>
                </a:solidFill>
              </a:rPr>
              <a:t> es uno de los conceptos centrales y se define como:</a:t>
            </a:r>
            <a:endParaRPr>
              <a:solidFill>
                <a:schemeClr val="dk1"/>
              </a:solidFill>
            </a:endParaRPr>
          </a:p>
          <a:p>
            <a:pPr indent="0" lvl="0" marL="381000" marR="381000" rtl="0" algn="l">
              <a:lnSpc>
                <a:spcPct val="115000"/>
              </a:lnSpc>
              <a:spcBef>
                <a:spcPts val="1200"/>
              </a:spcBef>
              <a:spcAft>
                <a:spcPts val="0"/>
              </a:spcAft>
              <a:buSzPts val="1100"/>
              <a:buNone/>
            </a:pPr>
            <a:r>
              <a:rPr b="1" lang="es">
                <a:solidFill>
                  <a:schemeClr val="dk1"/>
                </a:solidFill>
              </a:rPr>
              <a:t>"La percepción de los beneficios, utilidad y la importancia relativa de algo." El valor siempre se co-crea entre el proveedor de servicios y el cliente, a través de la interacción y el uso del servicio.</a:t>
            </a:r>
            <a:endParaRPr b="1">
              <a:solidFill>
                <a:schemeClr val="dk1"/>
              </a:solidFill>
            </a:endParaRPr>
          </a:p>
          <a:p>
            <a:pPr indent="0" lvl="0" marL="0" rtl="0" algn="l">
              <a:lnSpc>
                <a:spcPct val="115000"/>
              </a:lnSpc>
              <a:spcBef>
                <a:spcPts val="1200"/>
              </a:spcBef>
              <a:spcAft>
                <a:spcPts val="0"/>
              </a:spcAft>
              <a:buSzPts val="1100"/>
              <a:buNone/>
            </a:pPr>
            <a:r>
              <a:rPr lang="es">
                <a:solidFill>
                  <a:schemeClr val="dk1"/>
                </a:solidFill>
              </a:rPr>
              <a:t>Cuando se creó a finales de los años 80 en el Reino Unido, ITIL consistía literalmente en </a:t>
            </a:r>
            <a:r>
              <a:rPr b="1" lang="es">
                <a:solidFill>
                  <a:schemeClr val="dk1"/>
                </a:solidFill>
              </a:rPr>
              <a:t>una colección de libros</a:t>
            </a:r>
            <a:r>
              <a:rPr lang="es">
                <a:solidFill>
                  <a:schemeClr val="dk1"/>
                </a:solidFill>
              </a:rPr>
              <a:t> (una “librería”) que documentaban las </a:t>
            </a:r>
            <a:r>
              <a:rPr b="1" lang="es">
                <a:solidFill>
                  <a:schemeClr val="dk1"/>
                </a:solidFill>
              </a:rPr>
              <a:t>mejores prácticas para gestionar servicios de TI</a:t>
            </a:r>
            <a:r>
              <a:rPr lang="es">
                <a:solidFill>
                  <a:schemeClr val="dk1"/>
                </a:solidFill>
              </a:rPr>
              <a:t> dentro de organizaciones gubernamentales.</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1200"/>
              </a:spcAft>
              <a:buSzPts val="1100"/>
              <a:buNone/>
            </a:pPr>
            <a:r>
              <a:t/>
            </a:r>
            <a:endParaRPr>
              <a:solidFill>
                <a:schemeClr val="dk1"/>
              </a:solidFill>
            </a:endParaRPr>
          </a:p>
        </p:txBody>
      </p:sp>
      <p:sp>
        <p:nvSpPr>
          <p:cNvPr id="72" name="Google Shape;7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04eb0169a4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s">
                <a:solidFill>
                  <a:schemeClr val="dk1"/>
                </a:solidFill>
              </a:rPr>
              <a:t>Primero: recuerden que ITIL es una </a:t>
            </a:r>
            <a:r>
              <a:rPr b="1" lang="es">
                <a:solidFill>
                  <a:schemeClr val="dk1"/>
                </a:solidFill>
              </a:rPr>
              <a:t>guía de buenas prácticas para gestionar servicios de TI</a:t>
            </a:r>
            <a:r>
              <a:rPr lang="e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¿Cuál es el cambio grande en ITIL 4 respecto a versiones anteriores? </a:t>
            </a:r>
            <a:r>
              <a:rPr b="1" lang="es">
                <a:solidFill>
                  <a:schemeClr val="dk1"/>
                </a:solidFill>
              </a:rPr>
              <a:t>La adaptación al mundo moderno</a:t>
            </a:r>
            <a:r>
              <a:rPr lang="es">
                <a:solidFill>
                  <a:schemeClr val="dk1"/>
                </a:solidFill>
              </a:rPr>
              <a:t>: DevOps, Agile, nube, cambios rápidos, usuarios exigentes.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Ya no pensamos solo en procesos rígidos, sino en </a:t>
            </a:r>
            <a:r>
              <a:rPr b="1" lang="es">
                <a:solidFill>
                  <a:schemeClr val="dk1"/>
                </a:solidFill>
              </a:rPr>
              <a:t>crear valor de manera flexible</a:t>
            </a:r>
            <a:r>
              <a:rPr lang="e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Y la gran novedad de ITIL 4 es el </a:t>
            </a:r>
            <a:r>
              <a:rPr b="1" lang="es">
                <a:solidFill>
                  <a:schemeClr val="dk1"/>
                </a:solidFill>
              </a:rPr>
              <a:t>Service Value System (SVS)</a:t>
            </a:r>
            <a:r>
              <a:rPr lang="es">
                <a:solidFill>
                  <a:schemeClr val="dk1"/>
                </a:solidFill>
              </a:rPr>
              <a:t>: un marco que integra </a:t>
            </a:r>
            <a:r>
              <a:rPr b="1" lang="es">
                <a:solidFill>
                  <a:schemeClr val="dk1"/>
                </a:solidFill>
              </a:rPr>
              <a:t>gobierno, prácticas, principios, y mejora continua</a:t>
            </a:r>
            <a:r>
              <a:rPr lang="e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Imaginen una gran máquina o ecosistema. El input son las </a:t>
            </a:r>
            <a:r>
              <a:rPr b="1" lang="es">
                <a:solidFill>
                  <a:schemeClr val="dk1"/>
                </a:solidFill>
              </a:rPr>
              <a:t>oportunidades</a:t>
            </a:r>
            <a:r>
              <a:rPr lang="es">
                <a:solidFill>
                  <a:schemeClr val="dk1"/>
                </a:solidFill>
              </a:rPr>
              <a:t> o </a:t>
            </a:r>
            <a:r>
              <a:rPr b="1" lang="es">
                <a:solidFill>
                  <a:schemeClr val="dk1"/>
                </a:solidFill>
              </a:rPr>
              <a:t>demandas</a:t>
            </a:r>
            <a:r>
              <a:rPr lang="es">
                <a:solidFill>
                  <a:schemeClr val="dk1"/>
                </a:solidFill>
              </a:rPr>
              <a:t> que recibimos del negocio.</a:t>
            </a:r>
            <a:br>
              <a:rPr lang="es">
                <a:solidFill>
                  <a:schemeClr val="dk1"/>
                </a:solidFill>
              </a:rPr>
            </a:br>
            <a:r>
              <a:rPr lang="es">
                <a:solidFill>
                  <a:schemeClr val="dk1"/>
                </a:solidFill>
              </a:rPr>
              <a:t> Pasan a través de </a:t>
            </a:r>
            <a:r>
              <a:rPr b="1" lang="es">
                <a:solidFill>
                  <a:schemeClr val="dk1"/>
                </a:solidFill>
              </a:rPr>
              <a:t>principios rectores</a:t>
            </a:r>
            <a:r>
              <a:rPr lang="es">
                <a:solidFill>
                  <a:schemeClr val="dk1"/>
                </a:solidFill>
              </a:rPr>
              <a:t>, </a:t>
            </a:r>
            <a:r>
              <a:rPr b="1" lang="es">
                <a:solidFill>
                  <a:schemeClr val="dk1"/>
                </a:solidFill>
              </a:rPr>
              <a:t>gobierno</a:t>
            </a:r>
            <a:r>
              <a:rPr lang="es">
                <a:solidFill>
                  <a:schemeClr val="dk1"/>
                </a:solidFill>
              </a:rPr>
              <a:t>, </a:t>
            </a:r>
            <a:r>
              <a:rPr b="1" lang="es">
                <a:solidFill>
                  <a:schemeClr val="dk1"/>
                </a:solidFill>
              </a:rPr>
              <a:t>mejora continua</a:t>
            </a:r>
            <a:r>
              <a:rPr lang="es">
                <a:solidFill>
                  <a:schemeClr val="dk1"/>
                </a:solidFill>
              </a:rPr>
              <a:t> y </a:t>
            </a:r>
            <a:r>
              <a:rPr b="1" lang="es">
                <a:solidFill>
                  <a:schemeClr val="dk1"/>
                </a:solidFill>
              </a:rPr>
              <a:t>prácticas</a:t>
            </a:r>
            <a:r>
              <a:rPr lang="es">
                <a:solidFill>
                  <a:schemeClr val="dk1"/>
                </a:solidFill>
              </a:rPr>
              <a:t> bien aplicadas, usando actividades coordinadas como en la </a:t>
            </a:r>
            <a:r>
              <a:rPr b="1" lang="es">
                <a:solidFill>
                  <a:schemeClr val="dk1"/>
                </a:solidFill>
              </a:rPr>
              <a:t>cadena de valor</a:t>
            </a:r>
            <a:r>
              <a:rPr lang="e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...y el output que generamos es </a:t>
            </a:r>
            <a:r>
              <a:rPr b="1" lang="es">
                <a:solidFill>
                  <a:schemeClr val="dk1"/>
                </a:solidFill>
              </a:rPr>
              <a:t>valor</a:t>
            </a:r>
            <a:r>
              <a:rPr lang="es">
                <a:solidFill>
                  <a:schemeClr val="dk1"/>
                </a:solidFill>
              </a:rPr>
              <a:t>: servicios que ayudan a que el negocio cumpla sus objetivos.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El SVS nos recuerda que </a:t>
            </a:r>
            <a:r>
              <a:rPr b="1" lang="es">
                <a:solidFill>
                  <a:schemeClr val="dk1"/>
                </a:solidFill>
              </a:rPr>
              <a:t>no existe una práctica aislada</a:t>
            </a:r>
            <a:r>
              <a:rPr lang="es">
                <a:solidFill>
                  <a:schemeClr val="dk1"/>
                </a:solidFill>
              </a:rPr>
              <a:t>: todo debe alinearse para entregar valor de verdad, no solo para “cumplir procesos”.**"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En vez de memorizar 26 procesos como antes, ahora usamos prácticas modulares, adaptables según cada organización y cada situación.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¿Cómo? Aplicando </a:t>
            </a:r>
            <a:r>
              <a:rPr b="1" lang="es">
                <a:solidFill>
                  <a:schemeClr val="dk1"/>
                </a:solidFill>
              </a:rPr>
              <a:t>sentido común estructurado</a:t>
            </a:r>
            <a:r>
              <a:rPr lang="es">
                <a:solidFill>
                  <a:schemeClr val="dk1"/>
                </a:solidFill>
              </a:rPr>
              <a:t>, no burocracia.</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Hoy vamos a ver cómo bajarlo a tierra en ejemplos reales, que es donde realmente tiene sentido."</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s">
                <a:solidFill>
                  <a:schemeClr val="dk1"/>
                </a:solidFill>
              </a:rPr>
              <a:t>ITIL 4 no nos pide que sigamos recetas de cocina</a:t>
            </a:r>
            <a:r>
              <a:rPr lang="es">
                <a:solidFill>
                  <a:schemeClr val="dk1"/>
                </a:solidFill>
              </a:rPr>
              <a:t>. Nos da </a:t>
            </a:r>
            <a:r>
              <a:rPr b="1" lang="es">
                <a:solidFill>
                  <a:schemeClr val="dk1"/>
                </a:solidFill>
              </a:rPr>
              <a:t>ingredientes</a:t>
            </a:r>
            <a:r>
              <a:rPr lang="es">
                <a:solidFill>
                  <a:schemeClr val="dk1"/>
                </a:solidFill>
              </a:rPr>
              <a:t>. Cada organización cocina su propio plato de servicios."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b="1">
              <a:solidFill>
                <a:schemeClr val="dk1"/>
              </a:solidFill>
            </a:endParaRPr>
          </a:p>
          <a:p>
            <a:pPr indent="0" lvl="0" marL="0" rtl="0" algn="l">
              <a:lnSpc>
                <a:spcPct val="115000"/>
              </a:lnSpc>
              <a:spcBef>
                <a:spcPts val="1200"/>
              </a:spcBef>
              <a:spcAft>
                <a:spcPts val="0"/>
              </a:spcAft>
              <a:buSzPts val="1100"/>
              <a:buNone/>
            </a:pPr>
            <a:r>
              <a:rPr lang="es">
                <a:solidFill>
                  <a:schemeClr val="dk1"/>
                </a:solidFill>
              </a:rPr>
              <a:t>Con el tiempo, </a:t>
            </a:r>
            <a:r>
              <a:rPr b="1" lang="es">
                <a:solidFill>
                  <a:schemeClr val="dk1"/>
                </a:solidFill>
              </a:rPr>
              <a:t>ITIL se formalizó tanto</a:t>
            </a:r>
            <a:r>
              <a:rPr lang="es">
                <a:solidFill>
                  <a:schemeClr val="dk1"/>
                </a:solidFill>
              </a:rPr>
              <a:t>, con procesos definidos, roles, flujos de trabajo y una terminología común, que empezó a usarse </a:t>
            </a:r>
            <a:r>
              <a:rPr b="1" lang="es">
                <a:solidFill>
                  <a:schemeClr val="dk1"/>
                </a:solidFill>
              </a:rPr>
              <a:t>como si fuera una metodología</a:t>
            </a:r>
            <a:r>
              <a:rPr lang="es">
                <a:solidFill>
                  <a:schemeClr val="dk1"/>
                </a:solidFill>
              </a:rPr>
              <a:t>, aunque </a:t>
            </a:r>
            <a:r>
              <a:rPr b="1" lang="es">
                <a:solidFill>
                  <a:schemeClr val="dk1"/>
                </a:solidFill>
              </a:rPr>
              <a:t>técnicamente no lo es</a:t>
            </a:r>
            <a:r>
              <a:rPr lang="e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SzPts val="1100"/>
              <a:buNone/>
            </a:pPr>
            <a:r>
              <a:rPr lang="es">
                <a:solidFill>
                  <a:schemeClr val="dk1"/>
                </a:solidFill>
              </a:rPr>
              <a:t>Valor : En ITIL, </a:t>
            </a:r>
            <a:r>
              <a:rPr b="1" lang="es">
                <a:solidFill>
                  <a:schemeClr val="dk1"/>
                </a:solidFill>
              </a:rPr>
              <a:t>el valor para el cliente</a:t>
            </a:r>
            <a:r>
              <a:rPr lang="es">
                <a:solidFill>
                  <a:schemeClr val="dk1"/>
                </a:solidFill>
              </a:rPr>
              <a:t> es uno de los conceptos centrales y se define como:</a:t>
            </a:r>
            <a:endParaRPr>
              <a:solidFill>
                <a:schemeClr val="dk1"/>
              </a:solidFill>
            </a:endParaRPr>
          </a:p>
          <a:p>
            <a:pPr indent="0" lvl="0" marL="381000" marR="381000" rtl="0" algn="l">
              <a:lnSpc>
                <a:spcPct val="115000"/>
              </a:lnSpc>
              <a:spcBef>
                <a:spcPts val="1200"/>
              </a:spcBef>
              <a:spcAft>
                <a:spcPts val="0"/>
              </a:spcAft>
              <a:buSzPts val="1100"/>
              <a:buNone/>
            </a:pPr>
            <a:r>
              <a:rPr b="1" lang="es">
                <a:solidFill>
                  <a:schemeClr val="dk1"/>
                </a:solidFill>
              </a:rPr>
              <a:t>"La percepción de los beneficios, utilidad y la importancia relativa de algo." El valor siempre se co-crea entre el proveedor de servicios y el cliente, a través de la interacción y el uso del servicio.</a:t>
            </a:r>
            <a:endParaRPr b="1">
              <a:solidFill>
                <a:schemeClr val="dk1"/>
              </a:solidFill>
            </a:endParaRPr>
          </a:p>
          <a:p>
            <a:pPr indent="0" lvl="0" marL="0" rtl="0" algn="l">
              <a:lnSpc>
                <a:spcPct val="115000"/>
              </a:lnSpc>
              <a:spcBef>
                <a:spcPts val="1200"/>
              </a:spcBef>
              <a:spcAft>
                <a:spcPts val="0"/>
              </a:spcAft>
              <a:buSzPts val="1100"/>
              <a:buNone/>
            </a:pPr>
            <a:r>
              <a:rPr lang="es">
                <a:solidFill>
                  <a:schemeClr val="dk1"/>
                </a:solidFill>
              </a:rPr>
              <a:t>Cuando se creó a finales de los años 80 en el Reino Unido, ITIL consistía literalmente en </a:t>
            </a:r>
            <a:r>
              <a:rPr b="1" lang="es">
                <a:solidFill>
                  <a:schemeClr val="dk1"/>
                </a:solidFill>
              </a:rPr>
              <a:t>una colección de libros</a:t>
            </a:r>
            <a:r>
              <a:rPr lang="es">
                <a:solidFill>
                  <a:schemeClr val="dk1"/>
                </a:solidFill>
              </a:rPr>
              <a:t> (una “librería”) que documentaban las </a:t>
            </a:r>
            <a:r>
              <a:rPr b="1" lang="es">
                <a:solidFill>
                  <a:schemeClr val="dk1"/>
                </a:solidFill>
              </a:rPr>
              <a:t>mejores prácticas para gestionar servicios de TI</a:t>
            </a:r>
            <a:r>
              <a:rPr lang="es">
                <a:solidFill>
                  <a:schemeClr val="dk1"/>
                </a:solidFill>
              </a:rPr>
              <a:t> dentro de organizaciones gubernamentales.</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1200"/>
              </a:spcAft>
              <a:buSzPts val="1100"/>
              <a:buNone/>
            </a:pPr>
            <a:r>
              <a:t/>
            </a:r>
            <a:endParaRPr>
              <a:solidFill>
                <a:schemeClr val="dk1"/>
              </a:solidFill>
            </a:endParaRPr>
          </a:p>
        </p:txBody>
      </p:sp>
      <p:sp>
        <p:nvSpPr>
          <p:cNvPr id="82" name="Google Shape;82;g304eb0169a4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SzPts val="1100"/>
              <a:buNone/>
            </a:pPr>
            <a:r>
              <a:rPr lang="es">
                <a:solidFill>
                  <a:schemeClr val="dk1"/>
                </a:solidFill>
              </a:rPr>
              <a:t>"A partir de ahora, trabajamos con ejemplos reales. importa </a:t>
            </a:r>
            <a:r>
              <a:rPr b="1" lang="es">
                <a:solidFill>
                  <a:schemeClr val="dk1"/>
                </a:solidFill>
              </a:rPr>
              <a:t>cómo aplicamos los conceptos para mejorar servicios concretos</a:t>
            </a:r>
            <a:r>
              <a:rPr lang="es">
                <a:solidFill>
                  <a:schemeClr val="dk1"/>
                </a:solidFill>
              </a:rPr>
              <a:t>."</a:t>
            </a:r>
            <a:endParaRPr>
              <a:solidFill>
                <a:schemeClr val="dk1"/>
              </a:solidFill>
            </a:endParaRPr>
          </a:p>
          <a:p>
            <a:pPr indent="0" lvl="0" marL="381000" marR="381000" rtl="0" algn="l">
              <a:lnSpc>
                <a:spcPct val="115000"/>
              </a:lnSpc>
              <a:spcBef>
                <a:spcPts val="1200"/>
              </a:spcBef>
              <a:spcAft>
                <a:spcPts val="0"/>
              </a:spcAft>
              <a:buSzPts val="1100"/>
              <a:buNone/>
            </a:pPr>
            <a:r>
              <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SzPts val="1100"/>
              <a:buNone/>
            </a:pPr>
            <a:r>
              <a:t/>
            </a:r>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p>
          <a:p>
            <a:pPr indent="0" lvl="0" marL="0" rtl="0" algn="l">
              <a:lnSpc>
                <a:spcPct val="115000"/>
              </a:lnSpc>
              <a:spcBef>
                <a:spcPts val="1200"/>
              </a:spcBef>
              <a:spcAft>
                <a:spcPts val="1200"/>
              </a:spcAft>
              <a:buSzPts val="1100"/>
              <a:buNone/>
            </a:pPr>
            <a:r>
              <a:t/>
            </a:r>
            <a:endParaRPr/>
          </a:p>
        </p:txBody>
      </p:sp>
      <p:sp>
        <p:nvSpPr>
          <p:cNvPr id="93" name="Google Shape;93;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04eb0169a4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SzPts val="1100"/>
              <a:buNone/>
            </a:pPr>
            <a:r>
              <a:rPr lang="es">
                <a:solidFill>
                  <a:schemeClr val="dk1"/>
                </a:solidFill>
              </a:rPr>
              <a:t>"A partir de ahora, trabajamos con ejemplos reales. importa </a:t>
            </a:r>
            <a:r>
              <a:rPr b="1" lang="es">
                <a:solidFill>
                  <a:schemeClr val="dk1"/>
                </a:solidFill>
              </a:rPr>
              <a:t>cómo aplicamos los conceptos para mejorar servicios concretos</a:t>
            </a:r>
            <a:r>
              <a:rPr lang="es">
                <a:solidFill>
                  <a:schemeClr val="dk1"/>
                </a:solidFill>
              </a:rPr>
              <a:t>."</a:t>
            </a:r>
            <a:endParaRPr>
              <a:solidFill>
                <a:schemeClr val="dk1"/>
              </a:solidFill>
            </a:endParaRPr>
          </a:p>
          <a:p>
            <a:pPr indent="0" lvl="0" marL="0" rtl="0" algn="l">
              <a:lnSpc>
                <a:spcPct val="115000"/>
              </a:lnSpc>
              <a:spcBef>
                <a:spcPts val="1200"/>
              </a:spcBef>
              <a:spcAft>
                <a:spcPts val="0"/>
              </a:spcAft>
              <a:buSzPts val="1100"/>
              <a:buNone/>
            </a:pPr>
            <a:r>
              <a:rPr lang="es">
                <a:solidFill>
                  <a:schemeClr val="dk1"/>
                </a:solidFill>
              </a:rPr>
              <a:t>"</a:t>
            </a:r>
            <a:r>
              <a:rPr b="1" lang="es">
                <a:solidFill>
                  <a:schemeClr val="dk1"/>
                </a:solidFill>
              </a:rPr>
              <a:t>Vamos a ver el primer caso práctico: cómo una empresa mediana mejoró su servicio de soporte de TI usando conceptos de ITIL 4.</a:t>
            </a:r>
            <a:endParaRPr b="1">
              <a:solidFill>
                <a:schemeClr val="dk1"/>
              </a:solidFill>
            </a:endParaRPr>
          </a:p>
          <a:p>
            <a:pPr indent="0" lvl="0" marL="0" rtl="0" algn="l">
              <a:lnSpc>
                <a:spcPct val="115000"/>
              </a:lnSpc>
              <a:spcBef>
                <a:spcPts val="1200"/>
              </a:spcBef>
              <a:spcAft>
                <a:spcPts val="0"/>
              </a:spcAft>
              <a:buSzPts val="1100"/>
              <a:buNone/>
            </a:pPr>
            <a:r>
              <a:rPr lang="es">
                <a:solidFill>
                  <a:schemeClr val="dk1"/>
                </a:solidFill>
              </a:rPr>
              <a:t>Tenían una mesa de ayuda que atendía a 500 usuarios internos. El problema: los incidentes críticos (caídas de sistemas, problemas de acceso) tardaban más de 8 horas en resolverse. Esto generaba quejas de todas las áreas.</a:t>
            </a:r>
            <a:endParaRPr>
              <a:solidFill>
                <a:schemeClr val="dk1"/>
              </a:solidFill>
            </a:endParaRPr>
          </a:p>
          <a:p>
            <a:pPr indent="0" lvl="0" marL="0" rtl="0" algn="l">
              <a:lnSpc>
                <a:spcPct val="115000"/>
              </a:lnSpc>
              <a:spcBef>
                <a:spcPts val="1200"/>
              </a:spcBef>
              <a:spcAft>
                <a:spcPts val="0"/>
              </a:spcAft>
              <a:buSzPts val="1100"/>
              <a:buNone/>
            </a:pPr>
            <a:r>
              <a:rPr lang="es">
                <a:solidFill>
                  <a:schemeClr val="dk1"/>
                </a:solidFill>
              </a:rPr>
              <a:t>Qué se hizo? Se enfocaron en algunas actividades de la </a:t>
            </a:r>
            <a:r>
              <a:rPr b="1" lang="es">
                <a:solidFill>
                  <a:schemeClr val="dk1"/>
                </a:solidFill>
              </a:rPr>
              <a:t>cadena de valor</a:t>
            </a:r>
            <a:r>
              <a:rPr lang="es">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s">
                <a:solidFill>
                  <a:schemeClr val="dk1"/>
                </a:solidFill>
              </a:rPr>
              <a:t>Primero, </a:t>
            </a:r>
            <a:r>
              <a:rPr i="1" lang="es">
                <a:solidFill>
                  <a:schemeClr val="dk1"/>
                </a:solidFill>
              </a:rPr>
              <a:t>Engage</a:t>
            </a:r>
            <a:r>
              <a:rPr lang="es">
                <a:solidFill>
                  <a:schemeClr val="dk1"/>
                </a:solidFill>
              </a:rPr>
              <a:t>: escuchar el feedback real de los usuarios.</a:t>
            </a:r>
            <a:br>
              <a:rPr lang="e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Luego, </a:t>
            </a:r>
            <a:r>
              <a:rPr i="1" lang="es">
                <a:solidFill>
                  <a:schemeClr val="dk1"/>
                </a:solidFill>
              </a:rPr>
              <a:t>Deliver &amp; Support</a:t>
            </a:r>
            <a:r>
              <a:rPr lang="es">
                <a:solidFill>
                  <a:schemeClr val="dk1"/>
                </a:solidFill>
              </a:rPr>
              <a:t>: mejorar la resolución de incidentes.</a:t>
            </a:r>
            <a:br>
              <a:rPr lang="e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Finalmente, </a:t>
            </a:r>
            <a:r>
              <a:rPr i="1" lang="es">
                <a:solidFill>
                  <a:schemeClr val="dk1"/>
                </a:solidFill>
              </a:rPr>
              <a:t>Improve</a:t>
            </a:r>
            <a:r>
              <a:rPr lang="es">
                <a:solidFill>
                  <a:schemeClr val="dk1"/>
                </a:solidFill>
              </a:rPr>
              <a:t>: no quedarse quietos, sino revisar y corregir mensualmente.</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381000" marR="381000" rtl="0" algn="l">
              <a:lnSpc>
                <a:spcPct val="115000"/>
              </a:lnSpc>
              <a:spcBef>
                <a:spcPts val="1200"/>
              </a:spcBef>
              <a:spcAft>
                <a:spcPts val="0"/>
              </a:spcAft>
              <a:buSzPts val="1100"/>
              <a:buNone/>
            </a:pPr>
            <a:r>
              <a:t/>
            </a:r>
            <a:endParaRPr>
              <a:solidFill>
                <a:schemeClr val="dk1"/>
              </a:solidFill>
            </a:endParaRPr>
          </a:p>
          <a:p>
            <a:pPr indent="0" lvl="0" marL="381000" marR="38100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p>
          <a:p>
            <a:pPr indent="0" lvl="0" marL="0" rtl="0" algn="l">
              <a:lnSpc>
                <a:spcPct val="115000"/>
              </a:lnSpc>
              <a:spcBef>
                <a:spcPts val="1200"/>
              </a:spcBef>
              <a:spcAft>
                <a:spcPts val="1200"/>
              </a:spcAft>
              <a:buSzPts val="1100"/>
              <a:buNone/>
            </a:pPr>
            <a:r>
              <a:t/>
            </a:r>
            <a:endParaRPr/>
          </a:p>
        </p:txBody>
      </p:sp>
      <p:sp>
        <p:nvSpPr>
          <p:cNvPr id="103" name="Google Shape;103;g304eb0169a4_0_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04eb0169a4_0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s">
                <a:solidFill>
                  <a:schemeClr val="dk1"/>
                </a:solidFill>
              </a:rPr>
              <a:t>Se aplicaron prácticas concretas: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s">
                <a:solidFill>
                  <a:schemeClr val="dk1"/>
                </a:solidFill>
              </a:rPr>
              <a:t>La </a:t>
            </a:r>
            <a:r>
              <a:rPr i="1" lang="es">
                <a:solidFill>
                  <a:schemeClr val="dk1"/>
                </a:solidFill>
              </a:rPr>
              <a:t>gestión de incidentes</a:t>
            </a:r>
            <a:r>
              <a:rPr lang="es">
                <a:solidFill>
                  <a:schemeClr val="dk1"/>
                </a:solidFill>
              </a:rPr>
              <a:t> mejoró la clasificación y el escalamiento.</a:t>
            </a:r>
            <a:br>
              <a:rPr lang="e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La </a:t>
            </a:r>
            <a:r>
              <a:rPr i="1" lang="es">
                <a:solidFill>
                  <a:schemeClr val="dk1"/>
                </a:solidFill>
              </a:rPr>
              <a:t>gestión de problemas</a:t>
            </a:r>
            <a:r>
              <a:rPr lang="es">
                <a:solidFill>
                  <a:schemeClr val="dk1"/>
                </a:solidFill>
              </a:rPr>
              <a:t> ayudó a identificar las causas repetitivas.</a:t>
            </a:r>
            <a:br>
              <a:rPr lang="e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Se creó una </a:t>
            </a:r>
            <a:r>
              <a:rPr i="1" lang="es">
                <a:solidFill>
                  <a:schemeClr val="dk1"/>
                </a:solidFill>
              </a:rPr>
              <a:t>base de conocimiento</a:t>
            </a:r>
            <a:r>
              <a:rPr lang="es">
                <a:solidFill>
                  <a:schemeClr val="dk1"/>
                </a:solidFill>
              </a:rPr>
              <a:t>, para que los agentes resolvieran más rápido.</a:t>
            </a:r>
            <a:br>
              <a:rPr lang="es">
                <a:solidFill>
                  <a:schemeClr val="dk1"/>
                </a:solidFill>
              </a:rPr>
            </a:br>
            <a:endParaRPr>
              <a:solidFill>
                <a:schemeClr val="dk1"/>
              </a:solidFill>
            </a:endParaRPr>
          </a:p>
          <a:p>
            <a:pPr indent="0" lvl="0" marL="0" rtl="0" algn="l">
              <a:lnSpc>
                <a:spcPct val="115000"/>
              </a:lnSpc>
              <a:spcBef>
                <a:spcPts val="1200"/>
              </a:spcBef>
              <a:spcAft>
                <a:spcPts val="0"/>
              </a:spcAft>
              <a:buNone/>
            </a:pPr>
            <a:r>
              <a:rPr lang="es">
                <a:solidFill>
                  <a:schemeClr val="dk1"/>
                </a:solidFill>
              </a:rPr>
              <a:t>Todo esto se apoyó en componentes del SVS: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s">
                <a:solidFill>
                  <a:schemeClr val="dk1"/>
                </a:solidFill>
              </a:rPr>
              <a:t>Principios como </a:t>
            </a:r>
            <a:r>
              <a:rPr i="1" lang="es">
                <a:solidFill>
                  <a:schemeClr val="dk1"/>
                </a:solidFill>
              </a:rPr>
              <a:t>centrarse en el valor</a:t>
            </a:r>
            <a:r>
              <a:rPr lang="es">
                <a:solidFill>
                  <a:schemeClr val="dk1"/>
                </a:solidFill>
              </a:rPr>
              <a:t> y </a:t>
            </a:r>
            <a:r>
              <a:rPr i="1" lang="es">
                <a:solidFill>
                  <a:schemeClr val="dk1"/>
                </a:solidFill>
              </a:rPr>
              <a:t>colaborar visiblemente</a:t>
            </a:r>
            <a:r>
              <a:rPr lang="es">
                <a:solidFill>
                  <a:schemeClr val="dk1"/>
                </a:solidFill>
              </a:rPr>
              <a:t> (por ejemplo, agentes publicaban tips útiles que todos podían ver).</a:t>
            </a:r>
            <a:br>
              <a:rPr lang="e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Y mucha </a:t>
            </a:r>
            <a:r>
              <a:rPr i="1" lang="es">
                <a:solidFill>
                  <a:schemeClr val="dk1"/>
                </a:solidFill>
              </a:rPr>
              <a:t>mejora continua</a:t>
            </a:r>
            <a:r>
              <a:rPr lang="es">
                <a:solidFill>
                  <a:schemeClr val="dk1"/>
                </a:solidFill>
              </a:rPr>
              <a:t>: revisando qué funcionaba y qué no, sin grandes proyectos, sino pequeños ajustes mensuales.</a:t>
            </a:r>
            <a:br>
              <a:rPr lang="es">
                <a:solidFill>
                  <a:schemeClr val="dk1"/>
                </a:solidFill>
              </a:rPr>
            </a:br>
            <a:endParaRPr>
              <a:solidFill>
                <a:schemeClr val="dk1"/>
              </a:solidFill>
            </a:endParaRPr>
          </a:p>
          <a:p>
            <a:pPr indent="0" lvl="0" marL="0" rtl="0" algn="l">
              <a:lnSpc>
                <a:spcPct val="115000"/>
              </a:lnSpc>
              <a:spcBef>
                <a:spcPts val="1200"/>
              </a:spcBef>
              <a:spcAft>
                <a:spcPts val="0"/>
              </a:spcAft>
              <a:buNone/>
            </a:pPr>
            <a:r>
              <a:rPr lang="es">
                <a:solidFill>
                  <a:schemeClr val="dk1"/>
                </a:solidFill>
              </a:rPr>
              <a:t>El resultado fue muy claro: el tiempo de resolución bajó un 30% y la satisfacción de usuarios subió un 25%.</a:t>
            </a:r>
            <a:endParaRPr>
              <a:solidFill>
                <a:schemeClr val="dk1"/>
              </a:solidFill>
            </a:endParaRPr>
          </a:p>
          <a:p>
            <a:pPr indent="0" lvl="0" marL="0" rtl="0" algn="l">
              <a:lnSpc>
                <a:spcPct val="115000"/>
              </a:lnSpc>
              <a:spcBef>
                <a:spcPts val="1200"/>
              </a:spcBef>
              <a:spcAft>
                <a:spcPts val="0"/>
              </a:spcAft>
              <a:buNone/>
            </a:pPr>
            <a:r>
              <a:rPr lang="es">
                <a:solidFill>
                  <a:schemeClr val="dk1"/>
                </a:solidFill>
              </a:rPr>
              <a:t>Además, cambió la percepción de TI dentro de la empresa: </a:t>
            </a:r>
            <a:r>
              <a:rPr b="1" lang="es">
                <a:solidFill>
                  <a:schemeClr val="dk1"/>
                </a:solidFill>
              </a:rPr>
              <a:t>de ser un “área que retrasa” a ser un socio estratégico.</a:t>
            </a:r>
            <a:endParaRPr b="1">
              <a:solidFill>
                <a:schemeClr val="dk1"/>
              </a:solidFill>
            </a:endParaRPr>
          </a:p>
          <a:p>
            <a:pPr indent="0" lvl="0" marL="0" rtl="0" algn="l">
              <a:lnSpc>
                <a:spcPct val="115000"/>
              </a:lnSpc>
              <a:spcBef>
                <a:spcPts val="1200"/>
              </a:spcBef>
              <a:spcAft>
                <a:spcPts val="0"/>
              </a:spcAft>
              <a:buNone/>
            </a:pPr>
            <a:r>
              <a:rPr lang="es">
                <a:solidFill>
                  <a:schemeClr val="dk1"/>
                </a:solidFill>
              </a:rPr>
              <a:t>Este ejemplo muestra que ITIL aplicado bien </a:t>
            </a:r>
            <a:r>
              <a:rPr b="1" lang="es">
                <a:solidFill>
                  <a:schemeClr val="dk1"/>
                </a:solidFill>
              </a:rPr>
              <a:t>no es burocracia</a:t>
            </a:r>
            <a:r>
              <a:rPr lang="es">
                <a:solidFill>
                  <a:schemeClr val="dk1"/>
                </a:solidFill>
              </a:rPr>
              <a:t>: es sentido común aplicado de manera organizada para crear valor tangible."</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381000" marR="381000" rtl="0" algn="l">
              <a:lnSpc>
                <a:spcPct val="115000"/>
              </a:lnSpc>
              <a:spcBef>
                <a:spcPts val="1200"/>
              </a:spcBef>
              <a:spcAft>
                <a:spcPts val="0"/>
              </a:spcAft>
              <a:buSzPts val="1100"/>
              <a:buNone/>
            </a:pPr>
            <a:r>
              <a:t/>
            </a:r>
            <a:endParaRPr>
              <a:solidFill>
                <a:schemeClr val="dk1"/>
              </a:solidFill>
            </a:endParaRPr>
          </a:p>
          <a:p>
            <a:pPr indent="0" lvl="0" marL="381000" marR="38100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p>
          <a:p>
            <a:pPr indent="0" lvl="0" marL="0" rtl="0" algn="l">
              <a:lnSpc>
                <a:spcPct val="115000"/>
              </a:lnSpc>
              <a:spcBef>
                <a:spcPts val="1200"/>
              </a:spcBef>
              <a:spcAft>
                <a:spcPts val="1200"/>
              </a:spcAft>
              <a:buSzPts val="1100"/>
              <a:buNone/>
            </a:pPr>
            <a:r>
              <a:t/>
            </a:r>
            <a:endParaRPr/>
          </a:p>
        </p:txBody>
      </p:sp>
      <p:sp>
        <p:nvSpPr>
          <p:cNvPr id="113" name="Google Shape;113;g304eb0169a4_0_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04eb0169a4_0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s">
                <a:solidFill>
                  <a:schemeClr val="dk1"/>
                </a:solidFill>
              </a:rPr>
              <a:t>En este segundo caso vamos a ver cómo ITIL también se aplica al lanzar nuevos servicios, no solo a mantener los existentes.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Una empresa de retail decide lanzar un nuevo sistema de pedidos online. Antes los pedidos eran manuales, y querían moverse rápido con una solución en la nube (usaron AWS).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La </a:t>
            </a:r>
            <a:r>
              <a:rPr b="1" lang="es">
                <a:solidFill>
                  <a:schemeClr val="dk1"/>
                </a:solidFill>
              </a:rPr>
              <a:t>demanda del negocio</a:t>
            </a:r>
            <a:r>
              <a:rPr lang="es">
                <a:solidFill>
                  <a:schemeClr val="dk1"/>
                </a:solidFill>
              </a:rPr>
              <a:t> era clara: rapidez, buena experiencia de usuario y capacidad de escalar en fechas pico como Black Friday.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Se aplicaron distintas </a:t>
            </a:r>
            <a:r>
              <a:rPr b="1" lang="es">
                <a:solidFill>
                  <a:schemeClr val="dk1"/>
                </a:solidFill>
              </a:rPr>
              <a:t>actividades de la cadena de valor</a:t>
            </a:r>
            <a:r>
              <a:rPr lang="es">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i="1" lang="es">
                <a:solidFill>
                  <a:schemeClr val="dk1"/>
                </a:solidFill>
              </a:rPr>
              <a:t>Plan</a:t>
            </a:r>
            <a:r>
              <a:rPr lang="es">
                <a:solidFill>
                  <a:schemeClr val="dk1"/>
                </a:solidFill>
              </a:rPr>
              <a:t>: se diseñó una arquitectura escalable.</a:t>
            </a:r>
            <a:br>
              <a:rPr lang="e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i="1" lang="es">
                <a:solidFill>
                  <a:schemeClr val="dk1"/>
                </a:solidFill>
              </a:rPr>
              <a:t>Design &amp; Transition</a:t>
            </a:r>
            <a:r>
              <a:rPr lang="es">
                <a:solidFill>
                  <a:schemeClr val="dk1"/>
                </a:solidFill>
              </a:rPr>
              <a:t>: construcción, pruebas y control de cambios.</a:t>
            </a:r>
            <a:br>
              <a:rPr lang="e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i="1" lang="es">
                <a:solidFill>
                  <a:schemeClr val="dk1"/>
                </a:solidFill>
              </a:rPr>
              <a:t>Engage</a:t>
            </a:r>
            <a:r>
              <a:rPr lang="es">
                <a:solidFill>
                  <a:schemeClr val="dk1"/>
                </a:solidFill>
              </a:rPr>
              <a:t>: se trabajó con usuarios beta desde el principio.</a:t>
            </a:r>
            <a:br>
              <a:rPr lang="e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i="1" lang="es">
                <a:solidFill>
                  <a:schemeClr val="dk1"/>
                </a:solidFill>
              </a:rPr>
              <a:t>Obtain/Build</a:t>
            </a:r>
            <a:r>
              <a:rPr lang="es">
                <a:solidFill>
                  <a:schemeClr val="dk1"/>
                </a:solidFill>
              </a:rPr>
              <a:t>: se desarrolló en un entorno cloud con CI/CD.</a:t>
            </a:r>
            <a:br>
              <a:rPr lang="e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i="1" lang="es">
                <a:solidFill>
                  <a:schemeClr val="dk1"/>
                </a:solidFill>
              </a:rPr>
              <a:t>Deliver &amp; Support</a:t>
            </a:r>
            <a:r>
              <a:rPr lang="es">
                <a:solidFill>
                  <a:schemeClr val="dk1"/>
                </a:solidFill>
              </a:rPr>
              <a:t>: se preparó soporte y monitoreo desde el día uno.</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381000" marR="381000" rtl="0" algn="l">
              <a:lnSpc>
                <a:spcPct val="115000"/>
              </a:lnSpc>
              <a:spcBef>
                <a:spcPts val="1200"/>
              </a:spcBef>
              <a:spcAft>
                <a:spcPts val="0"/>
              </a:spcAft>
              <a:buSzPts val="1100"/>
              <a:buNone/>
            </a:pPr>
            <a:r>
              <a:t/>
            </a:r>
            <a:endParaRPr>
              <a:solidFill>
                <a:schemeClr val="dk1"/>
              </a:solidFill>
            </a:endParaRPr>
          </a:p>
          <a:p>
            <a:pPr indent="0" lvl="0" marL="381000" marR="38100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p>
          <a:p>
            <a:pPr indent="0" lvl="0" marL="0" rtl="0" algn="l">
              <a:lnSpc>
                <a:spcPct val="115000"/>
              </a:lnSpc>
              <a:spcBef>
                <a:spcPts val="1200"/>
              </a:spcBef>
              <a:spcAft>
                <a:spcPts val="1200"/>
              </a:spcAft>
              <a:buSzPts val="1100"/>
              <a:buNone/>
            </a:pPr>
            <a:r>
              <a:t/>
            </a:r>
            <a:endParaRPr/>
          </a:p>
        </p:txBody>
      </p:sp>
      <p:sp>
        <p:nvSpPr>
          <p:cNvPr id="123" name="Google Shape;123;g304eb0169a4_0_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04eb0169a4_0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s">
                <a:solidFill>
                  <a:schemeClr val="dk1"/>
                </a:solidFill>
              </a:rPr>
              <a:t>ITIL brindó prácticas específicas: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i="1" lang="es">
                <a:solidFill>
                  <a:schemeClr val="dk1"/>
                </a:solidFill>
              </a:rPr>
              <a:t>Gestión del cambio</a:t>
            </a:r>
            <a:r>
              <a:rPr lang="es">
                <a:solidFill>
                  <a:schemeClr val="dk1"/>
                </a:solidFill>
              </a:rPr>
              <a:t> para controlar los despliegues.</a:t>
            </a:r>
            <a:br>
              <a:rPr lang="e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i="1" lang="es">
                <a:solidFill>
                  <a:schemeClr val="dk1"/>
                </a:solidFill>
              </a:rPr>
              <a:t>Gestión de disponibilidad</a:t>
            </a:r>
            <a:r>
              <a:rPr lang="es">
                <a:solidFill>
                  <a:schemeClr val="dk1"/>
                </a:solidFill>
              </a:rPr>
              <a:t> para asegurar uptime.</a:t>
            </a:r>
            <a:br>
              <a:rPr lang="e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i="1" lang="es">
                <a:solidFill>
                  <a:schemeClr val="dk1"/>
                </a:solidFill>
              </a:rPr>
              <a:t>Gestión de relaciones con proveedores</a:t>
            </a:r>
            <a:r>
              <a:rPr lang="es">
                <a:solidFill>
                  <a:schemeClr val="dk1"/>
                </a:solidFill>
              </a:rPr>
              <a:t> (AWS, software de terceros).</a:t>
            </a:r>
            <a:br>
              <a:rPr lang="e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i="1" lang="es">
                <a:solidFill>
                  <a:schemeClr val="dk1"/>
                </a:solidFill>
              </a:rPr>
              <a:t>Despliegue y versiones</a:t>
            </a:r>
            <a:r>
              <a:rPr lang="es">
                <a:solidFill>
                  <a:schemeClr val="dk1"/>
                </a:solidFill>
              </a:rPr>
              <a:t> con ambientes seguros de rollback.</a:t>
            </a:r>
            <a:br>
              <a:rPr lang="es">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Desde el punto de vista del </a:t>
            </a:r>
            <a:r>
              <a:rPr b="1" lang="es">
                <a:solidFill>
                  <a:schemeClr val="dk1"/>
                </a:solidFill>
              </a:rPr>
              <a:t>SVS</a:t>
            </a:r>
            <a:r>
              <a:rPr lang="es">
                <a:solidFill>
                  <a:schemeClr val="dk1"/>
                </a:solidFill>
              </a:rPr>
              <a:t>, hubo una buena gobernanza, con un comité de go-live, y una mejora continua posterior con feedback real de usuarios.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¿Resultado? El servicio se lanzó en 60 días (antes de lo previsto), el cliente final lo valoró mucho mejor, y la infraestructura quedó lista para escalar.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Este caso demuestra que </a:t>
            </a:r>
            <a:r>
              <a:rPr b="1" lang="es">
                <a:solidFill>
                  <a:schemeClr val="dk1"/>
                </a:solidFill>
              </a:rPr>
              <a:t>ITIL no es un freno para innovar</a:t>
            </a:r>
            <a:r>
              <a:rPr lang="es">
                <a:solidFill>
                  <a:schemeClr val="dk1"/>
                </a:solidFill>
              </a:rPr>
              <a:t>: bien usado, acelera el delivery y asegura calidad desde el inicio."</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381000" marR="381000" rtl="0" algn="l">
              <a:lnSpc>
                <a:spcPct val="115000"/>
              </a:lnSpc>
              <a:spcBef>
                <a:spcPts val="1200"/>
              </a:spcBef>
              <a:spcAft>
                <a:spcPts val="0"/>
              </a:spcAft>
              <a:buSzPts val="1100"/>
              <a:buNone/>
            </a:pPr>
            <a:r>
              <a:t/>
            </a:r>
            <a:endParaRPr>
              <a:solidFill>
                <a:schemeClr val="dk1"/>
              </a:solidFill>
            </a:endParaRPr>
          </a:p>
          <a:p>
            <a:pPr indent="0" lvl="0" marL="381000" marR="38100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p>
          <a:p>
            <a:pPr indent="0" lvl="0" marL="0" rtl="0" algn="l">
              <a:lnSpc>
                <a:spcPct val="115000"/>
              </a:lnSpc>
              <a:spcBef>
                <a:spcPts val="1200"/>
              </a:spcBef>
              <a:spcAft>
                <a:spcPts val="1200"/>
              </a:spcAft>
              <a:buSzPts val="1100"/>
              <a:buNone/>
            </a:pPr>
            <a:r>
              <a:t/>
            </a:r>
            <a:endParaRPr/>
          </a:p>
        </p:txBody>
      </p:sp>
      <p:sp>
        <p:nvSpPr>
          <p:cNvPr id="133" name="Google Shape;133;g304eb0169a4_0_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56d56908d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s">
                <a:solidFill>
                  <a:schemeClr val="dk1"/>
                </a:solidFill>
              </a:rPr>
              <a:t>"</a:t>
            </a:r>
            <a:r>
              <a:rPr b="1" lang="es">
                <a:solidFill>
                  <a:schemeClr val="dk1"/>
                </a:solidFill>
              </a:rPr>
              <a:t>Vamos con el tercer caso, muy típico del entorno actual: una fintech que lanza nuevas funciones cada semana.</a:t>
            </a:r>
            <a:endParaRPr b="1">
              <a:solidFill>
                <a:schemeClr val="dk1"/>
              </a:solidFill>
            </a:endParaRPr>
          </a:p>
          <a:p>
            <a:pPr indent="0" lvl="0" marL="0" rtl="0" algn="l">
              <a:lnSpc>
                <a:spcPct val="115000"/>
              </a:lnSpc>
              <a:spcBef>
                <a:spcPts val="1200"/>
              </a:spcBef>
              <a:spcAft>
                <a:spcPts val="0"/>
              </a:spcAft>
              <a:buNone/>
            </a:pPr>
            <a:r>
              <a:rPr lang="es">
                <a:solidFill>
                  <a:schemeClr val="dk1"/>
                </a:solidFill>
              </a:rPr>
              <a:t>El ritmo es acelerado, pero empezaron a tener problemas: caídas de servicio y errores luego de cambios urgentes sin control.</a:t>
            </a:r>
            <a:endParaRPr>
              <a:solidFill>
                <a:schemeClr val="dk1"/>
              </a:solidFill>
            </a:endParaRPr>
          </a:p>
          <a:p>
            <a:pPr indent="0" lvl="0" marL="0" rtl="0" algn="l">
              <a:lnSpc>
                <a:spcPct val="115000"/>
              </a:lnSpc>
              <a:spcBef>
                <a:spcPts val="1200"/>
              </a:spcBef>
              <a:spcAft>
                <a:spcPts val="0"/>
              </a:spcAft>
              <a:buNone/>
            </a:pPr>
            <a:r>
              <a:rPr lang="es">
                <a:solidFill>
                  <a:schemeClr val="dk1"/>
                </a:solidFill>
              </a:rPr>
              <a:t>¿Qué se hizo? Se aplicó la práctica de </a:t>
            </a:r>
            <a:r>
              <a:rPr i="1" lang="es">
                <a:solidFill>
                  <a:schemeClr val="dk1"/>
                </a:solidFill>
              </a:rPr>
              <a:t>Gestión de Cambios</a:t>
            </a:r>
            <a:r>
              <a:rPr lang="es">
                <a:solidFill>
                  <a:schemeClr val="dk1"/>
                </a:solidFill>
              </a:rPr>
              <a:t>, pero no de forma rígida:</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s">
                <a:solidFill>
                  <a:schemeClr val="dk1"/>
                </a:solidFill>
              </a:rPr>
              <a:t>Se definieron tipos de cambio: </a:t>
            </a:r>
            <a:r>
              <a:rPr b="1" lang="es">
                <a:solidFill>
                  <a:schemeClr val="dk1"/>
                </a:solidFill>
              </a:rPr>
              <a:t>estándar</a:t>
            </a:r>
            <a:r>
              <a:rPr lang="es">
                <a:solidFill>
                  <a:schemeClr val="dk1"/>
                </a:solidFill>
              </a:rPr>
              <a:t>, </a:t>
            </a:r>
            <a:r>
              <a:rPr b="1" lang="es">
                <a:solidFill>
                  <a:schemeClr val="dk1"/>
                </a:solidFill>
              </a:rPr>
              <a:t>normal</a:t>
            </a:r>
            <a:r>
              <a:rPr lang="es">
                <a:solidFill>
                  <a:schemeClr val="dk1"/>
                </a:solidFill>
              </a:rPr>
              <a:t> y </a:t>
            </a:r>
            <a:r>
              <a:rPr b="1" lang="es">
                <a:solidFill>
                  <a:schemeClr val="dk1"/>
                </a:solidFill>
              </a:rPr>
              <a:t>emergencia</a:t>
            </a:r>
            <a:r>
              <a:rPr lang="es">
                <a:solidFill>
                  <a:schemeClr val="dk1"/>
                </a:solidFill>
              </a:rPr>
              <a:t>.</a:t>
            </a:r>
            <a:br>
              <a:rPr lang="e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Se automatizó el despliegue con validación (CI/CD).</a:t>
            </a:r>
            <a:br>
              <a:rPr lang="es">
                <a:solidFill>
                  <a:schemeClr val="dk1"/>
                </a:solidFill>
              </a:rPr>
            </a:br>
            <a:br>
              <a:rPr lang="es">
                <a:solidFill>
                  <a:schemeClr val="dk1"/>
                </a:solidFill>
              </a:rPr>
            </a:br>
            <a:endParaRPr>
              <a:solidFill>
                <a:schemeClr val="dk1"/>
              </a:solidFill>
            </a:endParaRPr>
          </a:p>
          <a:p>
            <a:pPr indent="0" lvl="0" marL="0" rtl="0" algn="l">
              <a:lnSpc>
                <a:spcPct val="115000"/>
              </a:lnSpc>
              <a:spcBef>
                <a:spcPts val="1200"/>
              </a:spcBef>
              <a:spcAft>
                <a:spcPts val="0"/>
              </a:spcAft>
              <a:buNone/>
            </a:pPr>
            <a:r>
              <a:t/>
            </a:r>
            <a:endParaRPr b="1">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381000" marR="381000" rtl="0" algn="l">
              <a:lnSpc>
                <a:spcPct val="115000"/>
              </a:lnSpc>
              <a:spcBef>
                <a:spcPts val="1200"/>
              </a:spcBef>
              <a:spcAft>
                <a:spcPts val="0"/>
              </a:spcAft>
              <a:buSzPts val="1100"/>
              <a:buNone/>
            </a:pPr>
            <a:r>
              <a:t/>
            </a:r>
            <a:endParaRPr>
              <a:solidFill>
                <a:schemeClr val="dk1"/>
              </a:solidFill>
            </a:endParaRPr>
          </a:p>
          <a:p>
            <a:pPr indent="0" lvl="0" marL="381000" marR="38100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p>
          <a:p>
            <a:pPr indent="0" lvl="0" marL="0" rtl="0" algn="l">
              <a:lnSpc>
                <a:spcPct val="115000"/>
              </a:lnSpc>
              <a:spcBef>
                <a:spcPts val="1200"/>
              </a:spcBef>
              <a:spcAft>
                <a:spcPts val="1200"/>
              </a:spcAft>
              <a:buSzPts val="1100"/>
              <a:buNone/>
            </a:pPr>
            <a:r>
              <a:t/>
            </a:r>
            <a:endParaRPr/>
          </a:p>
        </p:txBody>
      </p:sp>
      <p:sp>
        <p:nvSpPr>
          <p:cNvPr id="143" name="Google Shape;143;g356d56908db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56d56908db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s">
                <a:solidFill>
                  <a:schemeClr val="dk1"/>
                </a:solidFill>
              </a:rPr>
              <a:t>“En este caso, vemos cómo una fintech moderna enfrentaba un desafío común: querían desplegar nuevas funcionalidades todas las semanas, pero eso venía acompañado de errores frecuentes en producción, que impactaban a los usuarios y generaban reclamos.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Frente a esto, </a:t>
            </a:r>
            <a:r>
              <a:rPr b="1" lang="es">
                <a:solidFill>
                  <a:schemeClr val="dk1"/>
                </a:solidFill>
              </a:rPr>
              <a:t>aplicaron prácticas ITIL de forma ágil</a:t>
            </a:r>
            <a:r>
              <a:rPr lang="es">
                <a:solidFill>
                  <a:schemeClr val="dk1"/>
                </a:solidFill>
              </a:rPr>
              <a:t>, sin frenar la innovación.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Primero, con </a:t>
            </a:r>
            <a:r>
              <a:rPr b="1" lang="es">
                <a:solidFill>
                  <a:schemeClr val="dk1"/>
                </a:solidFill>
              </a:rPr>
              <a:t>Gestión de Cambios</a:t>
            </a:r>
            <a:r>
              <a:rPr lang="es">
                <a:solidFill>
                  <a:schemeClr val="dk1"/>
                </a:solidFill>
              </a:rPr>
              <a:t>, definieron tres tipos de cambio: estándar (rápido y seguro), normal (requiere análisis) y emergencia (con protocolos post-mortem).</a:t>
            </a:r>
            <a:br>
              <a:rPr lang="es">
                <a:solidFill>
                  <a:schemeClr val="dk1"/>
                </a:solidFill>
              </a:rPr>
            </a:br>
            <a:r>
              <a:rPr lang="es">
                <a:solidFill>
                  <a:schemeClr val="dk1"/>
                </a:solidFill>
              </a:rPr>
              <a:t> Esto les permitió </a:t>
            </a:r>
            <a:r>
              <a:rPr b="1" lang="es">
                <a:solidFill>
                  <a:schemeClr val="dk1"/>
                </a:solidFill>
              </a:rPr>
              <a:t>ordenar la demanda y priorizar mejor</a:t>
            </a:r>
            <a:r>
              <a:rPr lang="es">
                <a:solidFill>
                  <a:schemeClr val="dk1"/>
                </a:solidFill>
              </a:rPr>
              <a:t>, sin bloquear al equipo técnico.</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Luego, la </a:t>
            </a:r>
            <a:r>
              <a:rPr b="1" lang="es">
                <a:solidFill>
                  <a:schemeClr val="dk1"/>
                </a:solidFill>
              </a:rPr>
              <a:t>Gestión de Despliegue</a:t>
            </a:r>
            <a:r>
              <a:rPr lang="es">
                <a:solidFill>
                  <a:schemeClr val="dk1"/>
                </a:solidFill>
              </a:rPr>
              <a:t> se reforzó con automatización en los pipelines (CI/CD), validando los cambios antes de llegar a producción.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La </a:t>
            </a:r>
            <a:r>
              <a:rPr b="1" lang="es">
                <a:solidFill>
                  <a:schemeClr val="dk1"/>
                </a:solidFill>
              </a:rPr>
              <a:t>Gestión de Incidentes</a:t>
            </a:r>
            <a:r>
              <a:rPr lang="es">
                <a:solidFill>
                  <a:schemeClr val="dk1"/>
                </a:solidFill>
              </a:rPr>
              <a:t> también se integró: cuando algo fallaba, podían rastrear el cambio que lo provocó, lo que redujo el tiempo de resolución.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Y con </a:t>
            </a:r>
            <a:r>
              <a:rPr b="1" lang="es">
                <a:solidFill>
                  <a:schemeClr val="dk1"/>
                </a:solidFill>
              </a:rPr>
              <a:t>Gestión del Conocimiento</a:t>
            </a:r>
            <a:r>
              <a:rPr lang="es">
                <a:solidFill>
                  <a:schemeClr val="dk1"/>
                </a:solidFill>
              </a:rPr>
              <a:t>, empezaron a registrar lecciones aprendidas en una wiki interna: esto ayudó a evitar repetir errores y permitió que nuevos integrantes se capaciten más rápido.</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Este caso demuestra que ITIL no tiene por qué ser lento o burocrático. Al contrario, </a:t>
            </a:r>
            <a:r>
              <a:rPr b="1" lang="es">
                <a:solidFill>
                  <a:schemeClr val="dk1"/>
                </a:solidFill>
              </a:rPr>
              <a:t>bien aplicado acelera, ordena y reduce riesgos</a:t>
            </a:r>
            <a:r>
              <a:rPr lang="es">
                <a:solidFill>
                  <a:schemeClr val="dk1"/>
                </a:solidFill>
              </a:rPr>
              <a:t>, incluso en entornos ágiles como las fintech.”</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381000" marR="381000" rtl="0" algn="l">
              <a:lnSpc>
                <a:spcPct val="115000"/>
              </a:lnSpc>
              <a:spcBef>
                <a:spcPts val="1200"/>
              </a:spcBef>
              <a:spcAft>
                <a:spcPts val="0"/>
              </a:spcAft>
              <a:buSzPts val="1100"/>
              <a:buNone/>
            </a:pPr>
            <a:r>
              <a:t/>
            </a:r>
            <a:endParaRPr>
              <a:solidFill>
                <a:schemeClr val="dk1"/>
              </a:solidFill>
            </a:endParaRPr>
          </a:p>
          <a:p>
            <a:pPr indent="0" lvl="0" marL="381000" marR="38100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p>
          <a:p>
            <a:pPr indent="0" lvl="0" marL="0" rtl="0" algn="l">
              <a:lnSpc>
                <a:spcPct val="115000"/>
              </a:lnSpc>
              <a:spcBef>
                <a:spcPts val="1200"/>
              </a:spcBef>
              <a:spcAft>
                <a:spcPts val="1200"/>
              </a:spcAft>
              <a:buSzPts val="1100"/>
              <a:buNone/>
            </a:pPr>
            <a:r>
              <a:t/>
            </a:r>
            <a:endParaRPr/>
          </a:p>
        </p:txBody>
      </p:sp>
      <p:sp>
        <p:nvSpPr>
          <p:cNvPr id="153" name="Google Shape;153;g356d56908db_0_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56d56908db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es">
                <a:solidFill>
                  <a:schemeClr val="dk1"/>
                </a:solidFill>
              </a:rPr>
              <a:t>“Este caso representa un escenario muy común: un área de soporte desbordada por tickets repetitivos — consultas por contraseñas, accesos, bloqueos, errores conocidos — donde los usuarios no tenían respuestas rápidas y los analistas no podían enfocarse en incidentes complejos.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Entonces surge la oportunidad de mejorar la experiencia con dos estrategias complementarias: un </a:t>
            </a:r>
            <a:r>
              <a:rPr b="1" lang="es">
                <a:solidFill>
                  <a:schemeClr val="dk1"/>
                </a:solidFill>
              </a:rPr>
              <a:t>chatbot de atención inmediata</a:t>
            </a:r>
            <a:r>
              <a:rPr lang="es">
                <a:solidFill>
                  <a:schemeClr val="dk1"/>
                </a:solidFill>
              </a:rPr>
              <a:t> y un </a:t>
            </a:r>
            <a:r>
              <a:rPr b="1" lang="es">
                <a:solidFill>
                  <a:schemeClr val="dk1"/>
                </a:solidFill>
              </a:rPr>
              <a:t>portal de autoservicio con base de conocimiento</a:t>
            </a:r>
            <a:r>
              <a:rPr lang="es">
                <a:solidFill>
                  <a:schemeClr val="dk1"/>
                </a:solidFill>
              </a:rPr>
              <a:t>.</a:t>
            </a:r>
            <a:endParaRPr>
              <a:solidFill>
                <a:schemeClr val="dk1"/>
              </a:solidFill>
            </a:endParaRPr>
          </a:p>
          <a:p>
            <a:pPr indent="0" lvl="0" marL="45720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b="1">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381000" marR="381000" rtl="0" algn="l">
              <a:lnSpc>
                <a:spcPct val="115000"/>
              </a:lnSpc>
              <a:spcBef>
                <a:spcPts val="1200"/>
              </a:spcBef>
              <a:spcAft>
                <a:spcPts val="0"/>
              </a:spcAft>
              <a:buSzPts val="1100"/>
              <a:buNone/>
            </a:pPr>
            <a:r>
              <a:t/>
            </a:r>
            <a:endParaRPr>
              <a:solidFill>
                <a:schemeClr val="dk1"/>
              </a:solidFill>
            </a:endParaRPr>
          </a:p>
          <a:p>
            <a:pPr indent="0" lvl="0" marL="381000" marR="38100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p>
          <a:p>
            <a:pPr indent="0" lvl="0" marL="0" rtl="0" algn="l">
              <a:lnSpc>
                <a:spcPct val="115000"/>
              </a:lnSpc>
              <a:spcBef>
                <a:spcPts val="1200"/>
              </a:spcBef>
              <a:spcAft>
                <a:spcPts val="1200"/>
              </a:spcAft>
              <a:buSzPts val="1100"/>
              <a:buNone/>
            </a:pPr>
            <a:r>
              <a:t/>
            </a:r>
            <a:endParaRPr/>
          </a:p>
        </p:txBody>
      </p:sp>
      <p:sp>
        <p:nvSpPr>
          <p:cNvPr id="163" name="Google Shape;163;g356d56908db_0_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56d56908db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rPr lang="es">
                <a:solidFill>
                  <a:schemeClr val="dk1"/>
                </a:solidFill>
              </a:rPr>
              <a:t>P</a:t>
            </a:r>
            <a:r>
              <a:rPr b="1" lang="es">
                <a:solidFill>
                  <a:schemeClr val="dk1"/>
                </a:solidFill>
              </a:rPr>
              <a:t>rácticas ITIL</a:t>
            </a:r>
            <a:r>
              <a:rPr lang="es">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s">
                <a:solidFill>
                  <a:schemeClr val="dk1"/>
                </a:solidFill>
              </a:rPr>
              <a:t>Gestión de Incidentes</a:t>
            </a:r>
            <a:r>
              <a:rPr lang="es">
                <a:solidFill>
                  <a:schemeClr val="dk1"/>
                </a:solidFill>
              </a:rPr>
              <a:t>: Se redefinió el modelo de atención. Los incidentes simples fueron derivados automáticamente al chatbot. Solo los que no encontraban solución se registraban como incidentes “humanos”. Esto liberó tiempo del soporte de primer nivel.</a:t>
            </a:r>
            <a:endParaRPr>
              <a:solidFill>
                <a:schemeClr val="dk1"/>
              </a:solidFill>
            </a:endParaRPr>
          </a:p>
          <a:p>
            <a:pPr indent="0" lvl="0" marL="457200" rtl="0" algn="l">
              <a:lnSpc>
                <a:spcPct val="115000"/>
              </a:lnSpc>
              <a:spcBef>
                <a:spcPts val="1200"/>
              </a:spcBef>
              <a:spcAft>
                <a:spcPts val="0"/>
              </a:spcAft>
              <a:buNone/>
            </a:pPr>
            <a:r>
              <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s">
                <a:solidFill>
                  <a:schemeClr val="dk1"/>
                </a:solidFill>
              </a:rPr>
              <a:t>Gestión del Conocimiento</a:t>
            </a:r>
            <a:r>
              <a:rPr lang="es">
                <a:solidFill>
                  <a:schemeClr val="dk1"/>
                </a:solidFill>
              </a:rPr>
              <a:t>: Se analizaron los tickets más frecuentes, se consolidaron respuestas claras, y se publicaron en el portal. También se conectó el chatbot a esa base, logrando que aprenda y devuelva respuestas cada vez más acertadas.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s">
                <a:solidFill>
                  <a:schemeClr val="dk1"/>
                </a:solidFill>
              </a:rPr>
              <a:t>Habilitación del Servicio</a:t>
            </a:r>
            <a:r>
              <a:rPr lang="es">
                <a:solidFill>
                  <a:schemeClr val="dk1"/>
                </a:solidFill>
              </a:rPr>
              <a:t>: Esta práctica permitió organizar la entrega del nuevo canal de soporte, asegurar que estuviera alineado con el catálogo, y que los usuarios supieran cómo usarlo (comunicación, capacitación, accesibilidad).</a:t>
            </a:r>
            <a:endParaRPr>
              <a:solidFill>
                <a:schemeClr val="dk1"/>
              </a:solidFill>
            </a:endParaRPr>
          </a:p>
          <a:p>
            <a:pPr indent="0" lvl="0" marL="457200" rtl="0" algn="l">
              <a:lnSpc>
                <a:spcPct val="115000"/>
              </a:lnSpc>
              <a:spcBef>
                <a:spcPts val="1200"/>
              </a:spcBef>
              <a:spcAft>
                <a:spcPts val="0"/>
              </a:spcAft>
              <a:buNone/>
            </a:pPr>
            <a:r>
              <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s">
                <a:solidFill>
                  <a:schemeClr val="dk1"/>
                </a:solidFill>
              </a:rPr>
              <a:t>Mejora Continua</a:t>
            </a:r>
            <a:r>
              <a:rPr lang="es">
                <a:solidFill>
                  <a:schemeClr val="dk1"/>
                </a:solidFill>
              </a:rPr>
              <a:t>: Se aplicó desde el inicio. Primero analizando datos históricos para decidir qué automatizar, luego midiendo KPIs como tasa de resolución automática, satisfacción del usuario, y retroalimentación para ajustar respuestas.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s">
                <a:solidFill>
                  <a:schemeClr val="dk1"/>
                </a:solidFill>
              </a:rPr>
              <a:t>Implementación incremental y ágil:</a:t>
            </a:r>
            <a:br>
              <a:rPr b="1" lang="es">
                <a:solidFill>
                  <a:schemeClr val="dk1"/>
                </a:solidFill>
              </a:rPr>
            </a:br>
            <a:r>
              <a:rPr lang="es">
                <a:solidFill>
                  <a:schemeClr val="dk1"/>
                </a:solidFill>
              </a:rPr>
              <a:t> No es necesario esperar meses para desplegar un chatbot o una base de conocimiento. Se puede comenzar con 10–15 respuestas frecuentes (por ejemplo: “¿cómo cambio mi contraseña?”) y automatizarlas rápidamente.</a:t>
            </a:r>
            <a:br>
              <a:rPr lang="es">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s">
                <a:solidFill>
                  <a:schemeClr val="dk1"/>
                </a:solidFill>
              </a:rPr>
              <a:t>Impacto inmediato en la carga de soporte:</a:t>
            </a:r>
            <a:br>
              <a:rPr b="1" lang="es">
                <a:solidFill>
                  <a:schemeClr val="dk1"/>
                </a:solidFill>
              </a:rPr>
            </a:br>
            <a:r>
              <a:rPr lang="es">
                <a:solidFill>
                  <a:schemeClr val="dk1"/>
                </a:solidFill>
              </a:rPr>
              <a:t> Al automatizar los tickets repetitivos, se libera tiempo del equipo de soporte desde el primer día. Esto se refleja rápido en métricas como:</a:t>
            </a:r>
            <a:br>
              <a:rPr lang="es">
                <a:solidFill>
                  <a:schemeClr val="dk1"/>
                </a:solidFill>
              </a:rPr>
            </a:b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s">
                <a:solidFill>
                  <a:schemeClr val="dk1"/>
                </a:solidFill>
              </a:rPr>
              <a:t>Cantidad de tickets gestionados manualmente.</a:t>
            </a:r>
            <a:br>
              <a:rPr lang="e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Tiempo promedio de respuesta.</a:t>
            </a:r>
            <a:br>
              <a:rPr lang="es">
                <a:solidFill>
                  <a:schemeClr val="dk1"/>
                </a:solidFill>
              </a:rPr>
            </a:br>
            <a:endParaRPr>
              <a:solidFill>
                <a:schemeClr val="dk1"/>
              </a:solidFill>
            </a:endParaRPr>
          </a:p>
          <a:p>
            <a:pPr indent="0" lvl="0" marL="0" rtl="0" algn="l">
              <a:lnSpc>
                <a:spcPct val="115000"/>
              </a:lnSpc>
              <a:spcBef>
                <a:spcPts val="1200"/>
              </a:spcBef>
              <a:spcAft>
                <a:spcPts val="0"/>
              </a:spcAft>
              <a:buNone/>
            </a:pPr>
            <a:r>
              <a:rPr b="1" lang="es">
                <a:solidFill>
                  <a:schemeClr val="dk1"/>
                </a:solidFill>
              </a:rPr>
              <a:t>Medición continua:</a:t>
            </a:r>
            <a:br>
              <a:rPr b="1" lang="es">
                <a:solidFill>
                  <a:schemeClr val="dk1"/>
                </a:solidFill>
              </a:rPr>
            </a:br>
            <a:r>
              <a:rPr lang="es">
                <a:solidFill>
                  <a:schemeClr val="dk1"/>
                </a:solidFill>
              </a:rPr>
              <a:t> Al estar integrado con las herramientas de soporte, se puede ver en tiempo real cuántos tickets resolvió el chatbot, cuántos usuarios usaron el portal, o si aumentó la satisfacción. No hay que esperar una auditoría o una encuesta anual.</a:t>
            </a:r>
            <a:br>
              <a:rPr lang="es">
                <a:solidFill>
                  <a:schemeClr val="dk1"/>
                </a:solidFill>
              </a:rPr>
            </a:b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s">
                <a:solidFill>
                  <a:schemeClr val="dk1"/>
                </a:solidFill>
              </a:rPr>
              <a:t>Mejora continua desde el día 1:</a:t>
            </a:r>
            <a:br>
              <a:rPr b="1" lang="es">
                <a:solidFill>
                  <a:schemeClr val="dk1"/>
                </a:solidFill>
              </a:rPr>
            </a:br>
            <a:r>
              <a:rPr lang="es">
                <a:solidFill>
                  <a:schemeClr val="dk1"/>
                </a:solidFill>
              </a:rPr>
              <a:t> Cada interacción del chatbot genera datos útiles. A la semana ya se puede ajustar respuestas, agregar temas nuevos y mejorar el servicio, en un ciclo corto.</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rPr lang="es">
                <a:solidFill>
                  <a:schemeClr val="dk1"/>
                </a:solidFill>
              </a:rPr>
              <a:t>Este tipo de automatización </a:t>
            </a:r>
            <a:r>
              <a:rPr b="1" lang="es">
                <a:solidFill>
                  <a:schemeClr val="dk1"/>
                </a:solidFill>
              </a:rPr>
              <a:t>no requiere grandes inversiones ni largos ciclos de planificación</a:t>
            </a:r>
            <a:r>
              <a:rPr lang="es">
                <a:solidFill>
                  <a:schemeClr val="dk1"/>
                </a:solidFill>
              </a:rPr>
              <a:t> para demostrar valor. Es algo que ITIL V4 justamente promueve: </a:t>
            </a:r>
            <a:r>
              <a:rPr b="1" lang="es">
                <a:solidFill>
                  <a:schemeClr val="dk1"/>
                </a:solidFill>
              </a:rPr>
              <a:t>mejoras rápidas, iterativas y basadas en valor real para el usuario</a:t>
            </a:r>
            <a:r>
              <a:rPr lang="es">
                <a:solidFill>
                  <a:schemeClr val="dk1"/>
                </a:solidFill>
              </a:rPr>
              <a:t>.</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381000" marR="381000" rtl="0" algn="l">
              <a:lnSpc>
                <a:spcPct val="115000"/>
              </a:lnSpc>
              <a:spcBef>
                <a:spcPts val="1200"/>
              </a:spcBef>
              <a:spcAft>
                <a:spcPts val="0"/>
              </a:spcAft>
              <a:buSzPts val="1100"/>
              <a:buNone/>
            </a:pPr>
            <a:r>
              <a:t/>
            </a:r>
            <a:endParaRPr>
              <a:solidFill>
                <a:schemeClr val="dk1"/>
              </a:solidFill>
            </a:endParaRPr>
          </a:p>
          <a:p>
            <a:pPr indent="0" lvl="0" marL="381000" marR="38100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p>
          <a:p>
            <a:pPr indent="0" lvl="0" marL="0" rtl="0" algn="l">
              <a:lnSpc>
                <a:spcPct val="115000"/>
              </a:lnSpc>
              <a:spcBef>
                <a:spcPts val="1200"/>
              </a:spcBef>
              <a:spcAft>
                <a:spcPts val="1200"/>
              </a:spcAft>
              <a:buSzPts val="1100"/>
              <a:buNone/>
            </a:pPr>
            <a:r>
              <a:t/>
            </a:r>
            <a:endParaRPr/>
          </a:p>
        </p:txBody>
      </p:sp>
      <p:sp>
        <p:nvSpPr>
          <p:cNvPr id="173" name="Google Shape;173;g356d56908db_0_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56d56908db_0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1200"/>
              </a:spcBef>
              <a:spcAft>
                <a:spcPts val="0"/>
              </a:spcAft>
              <a:buNone/>
            </a:pPr>
            <a:r>
              <a:rPr lang="es">
                <a:solidFill>
                  <a:schemeClr val="dk1"/>
                </a:solidFill>
              </a:rPr>
              <a:t>“Este último caso es ideal para cerrar el recorrido porque muestra cómo ITIL puede aplicarse incluso cuando los servicios no se entregan internamente.</a:t>
            </a:r>
            <a:endParaRPr>
              <a:solidFill>
                <a:schemeClr val="dk1"/>
              </a:solidFill>
            </a:endParaRPr>
          </a:p>
          <a:p>
            <a:pPr indent="0" lvl="0" marL="457200" rtl="0" algn="l">
              <a:lnSpc>
                <a:spcPct val="115000"/>
              </a:lnSpc>
              <a:spcBef>
                <a:spcPts val="1200"/>
              </a:spcBef>
              <a:spcAft>
                <a:spcPts val="0"/>
              </a:spcAft>
              <a:buNone/>
            </a:pPr>
            <a:r>
              <a:rPr lang="es">
                <a:solidFill>
                  <a:schemeClr val="dk1"/>
                </a:solidFill>
              </a:rPr>
              <a:t>La situación era clásica: un área de TI sobrecargada, donde ingenieros y personal clave perdían tiempo atendiendo tareas de soporte básico como desbloqueos, instalaciones o reinicios de servicios. Esto no solo demoraba al usuario final, sino que también afectaba proyectos estratégicos.</a:t>
            </a:r>
            <a:endParaRPr>
              <a:solidFill>
                <a:schemeClr val="dk1"/>
              </a:solidFill>
            </a:endParaRPr>
          </a:p>
          <a:p>
            <a:pPr indent="0" lvl="0" marL="457200" rtl="0" algn="l">
              <a:lnSpc>
                <a:spcPct val="115000"/>
              </a:lnSpc>
              <a:spcBef>
                <a:spcPts val="1200"/>
              </a:spcBef>
              <a:spcAft>
                <a:spcPts val="0"/>
              </a:spcAft>
              <a:buNone/>
            </a:pPr>
            <a:r>
              <a:rPr lang="es">
                <a:solidFill>
                  <a:schemeClr val="dk1"/>
                </a:solidFill>
              </a:rPr>
              <a:t>Frente a eso, la organización decidió externalizar el soporte de primer nivel. Pero no lo hizo de manera improvisada: aplicó </a:t>
            </a:r>
            <a:r>
              <a:rPr b="1" lang="es">
                <a:solidFill>
                  <a:schemeClr val="dk1"/>
                </a:solidFill>
              </a:rPr>
              <a:t>prácticas ITIL para garantizar calidad, control y mejora continua</a:t>
            </a:r>
            <a:r>
              <a:rPr lang="es">
                <a:solidFill>
                  <a:schemeClr val="dk1"/>
                </a:solidFill>
              </a:rPr>
              <a:t>.</a:t>
            </a:r>
            <a:endParaRPr>
              <a:solidFill>
                <a:schemeClr val="dk1"/>
              </a:solidFill>
            </a:endParaRPr>
          </a:p>
          <a:p>
            <a:pPr indent="0" lvl="0" marL="457200" rtl="0" algn="l">
              <a:lnSpc>
                <a:spcPct val="115000"/>
              </a:lnSpc>
              <a:spcBef>
                <a:spcPts val="1200"/>
              </a:spcBef>
              <a:spcAft>
                <a:spcPts val="0"/>
              </a:spcAft>
              <a:buNone/>
            </a:pPr>
            <a:r>
              <a:rPr lang="es">
                <a:solidFill>
                  <a:schemeClr val="dk1"/>
                </a:solidFill>
              </a:rPr>
              <a:t>Empezaron con la práctica de </a:t>
            </a:r>
            <a:r>
              <a:rPr b="1" lang="es">
                <a:solidFill>
                  <a:schemeClr val="dk1"/>
                </a:solidFill>
              </a:rPr>
              <a:t>Gestión de Proveedores</a:t>
            </a:r>
            <a:r>
              <a:rPr lang="es">
                <a:solidFill>
                  <a:schemeClr val="dk1"/>
                </a:solidFill>
              </a:rPr>
              <a:t>, seleccionando un partner con experiencia en su sector, negociando acuerdos de nivel de servicio (SLAs), y definiendo métricas claras de desempeño.</a:t>
            </a:r>
            <a:endParaRPr>
              <a:solidFill>
                <a:schemeClr val="dk1"/>
              </a:solidFill>
            </a:endParaRPr>
          </a:p>
          <a:p>
            <a:pPr indent="0" lvl="0" marL="457200" rtl="0" algn="l">
              <a:lnSpc>
                <a:spcPct val="115000"/>
              </a:lnSpc>
              <a:spcBef>
                <a:spcPts val="1200"/>
              </a:spcBef>
              <a:spcAft>
                <a:spcPts val="0"/>
              </a:spcAft>
              <a:buNone/>
            </a:pPr>
            <a:r>
              <a:rPr lang="es">
                <a:solidFill>
                  <a:schemeClr val="dk1"/>
                </a:solidFill>
              </a:rPr>
              <a:t>Luego, aplicaron </a:t>
            </a:r>
            <a:r>
              <a:rPr b="1" lang="es">
                <a:solidFill>
                  <a:schemeClr val="dk1"/>
                </a:solidFill>
              </a:rPr>
              <a:t>Gestión de la Relación con el Negocio</a:t>
            </a:r>
            <a:r>
              <a:rPr lang="es">
                <a:solidFill>
                  <a:schemeClr val="dk1"/>
                </a:solidFill>
              </a:rPr>
              <a:t> para entender qué necesitaban realmente las áreas usuarias: tiempos de respuesta, calidad de la atención, canales disponibles.</a:t>
            </a:r>
            <a:endParaRPr>
              <a:solidFill>
                <a:schemeClr val="dk1"/>
              </a:solidFill>
            </a:endParaRPr>
          </a:p>
          <a:p>
            <a:pPr indent="0" lvl="0" marL="457200" rtl="0" algn="l">
              <a:lnSpc>
                <a:spcPct val="115000"/>
              </a:lnSpc>
              <a:spcBef>
                <a:spcPts val="1200"/>
              </a:spcBef>
              <a:spcAft>
                <a:spcPts val="0"/>
              </a:spcAft>
              <a:buNone/>
            </a:pPr>
            <a:r>
              <a:rPr lang="es">
                <a:solidFill>
                  <a:schemeClr val="dk1"/>
                </a:solidFill>
              </a:rPr>
              <a:t>Durante la operación, usaron </a:t>
            </a:r>
            <a:r>
              <a:rPr b="1" lang="es">
                <a:solidFill>
                  <a:schemeClr val="dk1"/>
                </a:solidFill>
              </a:rPr>
              <a:t>Monitoreo y Gestión de Eventos</a:t>
            </a:r>
            <a:r>
              <a:rPr lang="es">
                <a:solidFill>
                  <a:schemeClr val="dk1"/>
                </a:solidFill>
              </a:rPr>
              <a:t> para visualizar incidentes entrantes, tiempos de resolución y comportamiento de los usuarios.</a:t>
            </a:r>
            <a:br>
              <a:rPr lang="es">
                <a:solidFill>
                  <a:schemeClr val="dk1"/>
                </a:solidFill>
              </a:rPr>
            </a:br>
            <a:r>
              <a:rPr lang="es">
                <a:solidFill>
                  <a:schemeClr val="dk1"/>
                </a:solidFill>
              </a:rPr>
              <a:t> También se apoyaron en </a:t>
            </a:r>
            <a:r>
              <a:rPr b="1" lang="es">
                <a:solidFill>
                  <a:schemeClr val="dk1"/>
                </a:solidFill>
              </a:rPr>
              <a:t>Medición y Reportes del Servicio</a:t>
            </a:r>
            <a:r>
              <a:rPr lang="es">
                <a:solidFill>
                  <a:schemeClr val="dk1"/>
                </a:solidFill>
              </a:rPr>
              <a:t>, con dashboards semanales y reuniones mensuales para ajustar procesos y mejorar continuamente.</a:t>
            </a:r>
            <a:endParaRPr>
              <a:solidFill>
                <a:schemeClr val="dk1"/>
              </a:solidFill>
            </a:endParaRPr>
          </a:p>
          <a:p>
            <a:pPr indent="0" lvl="0" marL="457200" rtl="0" algn="l">
              <a:lnSpc>
                <a:spcPct val="115000"/>
              </a:lnSpc>
              <a:spcBef>
                <a:spcPts val="1200"/>
              </a:spcBef>
              <a:spcAft>
                <a:spcPts val="0"/>
              </a:spcAft>
              <a:buNone/>
            </a:pPr>
            <a:r>
              <a:t/>
            </a:r>
            <a:endParaRPr>
              <a:solidFill>
                <a:schemeClr val="dk1"/>
              </a:solidFill>
            </a:endParaRPr>
          </a:p>
          <a:p>
            <a:pPr indent="0" lvl="0" marL="45720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b="1">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381000" marR="381000" rtl="0" algn="l">
              <a:lnSpc>
                <a:spcPct val="115000"/>
              </a:lnSpc>
              <a:spcBef>
                <a:spcPts val="1200"/>
              </a:spcBef>
              <a:spcAft>
                <a:spcPts val="0"/>
              </a:spcAft>
              <a:buSzPts val="1100"/>
              <a:buNone/>
            </a:pPr>
            <a:r>
              <a:t/>
            </a:r>
            <a:endParaRPr>
              <a:solidFill>
                <a:schemeClr val="dk1"/>
              </a:solidFill>
            </a:endParaRPr>
          </a:p>
          <a:p>
            <a:pPr indent="0" lvl="0" marL="381000" marR="38100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p>
          <a:p>
            <a:pPr indent="0" lvl="0" marL="0" rtl="0" algn="l">
              <a:lnSpc>
                <a:spcPct val="115000"/>
              </a:lnSpc>
              <a:spcBef>
                <a:spcPts val="1200"/>
              </a:spcBef>
              <a:spcAft>
                <a:spcPts val="1200"/>
              </a:spcAft>
              <a:buSzPts val="1100"/>
              <a:buNone/>
            </a:pPr>
            <a:r>
              <a:t/>
            </a:r>
            <a:endParaRPr/>
          </a:p>
        </p:txBody>
      </p:sp>
      <p:sp>
        <p:nvSpPr>
          <p:cNvPr id="183" name="Google Shape;183;g356d56908db_0_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56d56908db_0_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s">
                <a:solidFill>
                  <a:schemeClr val="dk1"/>
                </a:solidFill>
              </a:rPr>
              <a:t>Desde el punto de vista del </a:t>
            </a:r>
            <a:r>
              <a:rPr b="1" lang="es">
                <a:solidFill>
                  <a:schemeClr val="dk1"/>
                </a:solidFill>
              </a:rPr>
              <a:t>Sistema de Valor del Servicio (SVS)</a:t>
            </a:r>
            <a:r>
              <a:rPr lang="es">
                <a:solidFill>
                  <a:schemeClr val="dk1"/>
                </a:solidFill>
              </a:rPr>
              <a:t>:</a:t>
            </a:r>
            <a:endParaRPr>
              <a:solidFill>
                <a:schemeClr val="dk1"/>
              </a:solidFill>
            </a:endParaRPr>
          </a:p>
          <a:p>
            <a:pPr indent="0" lvl="0" marL="457200" rtl="0" algn="l">
              <a:lnSpc>
                <a:spcPct val="115000"/>
              </a:lnSpc>
              <a:spcBef>
                <a:spcPts val="1200"/>
              </a:spcBef>
              <a:spcAft>
                <a:spcPts val="0"/>
              </a:spcAft>
              <a:buNone/>
            </a:pPr>
            <a:r>
              <a:rPr lang="es">
                <a:solidFill>
                  <a:schemeClr val="dk1"/>
                </a:solidFill>
              </a:rPr>
              <a:t>La </a:t>
            </a:r>
            <a:r>
              <a:rPr b="1" lang="es">
                <a:solidFill>
                  <a:schemeClr val="dk1"/>
                </a:solidFill>
              </a:rPr>
              <a:t>Gobernanza</a:t>
            </a:r>
            <a:r>
              <a:rPr lang="es">
                <a:solidFill>
                  <a:schemeClr val="dk1"/>
                </a:solidFill>
              </a:rPr>
              <a:t> fue clave para aprobar el modelo de sourcing, y seguir la relación contractual y regulatoria con el proveedor.</a:t>
            </a:r>
            <a:br>
              <a:rPr lang="es">
                <a:solidFill>
                  <a:schemeClr val="dk1"/>
                </a:solidFill>
              </a:rPr>
            </a:br>
            <a:endParaRPr>
              <a:solidFill>
                <a:schemeClr val="dk1"/>
              </a:solidFill>
            </a:endParaRPr>
          </a:p>
          <a:p>
            <a:pPr indent="0" lvl="0" marL="457200" rtl="0" algn="l">
              <a:lnSpc>
                <a:spcPct val="115000"/>
              </a:lnSpc>
              <a:spcBef>
                <a:spcPts val="1200"/>
              </a:spcBef>
              <a:spcAft>
                <a:spcPts val="0"/>
              </a:spcAft>
              <a:buNone/>
            </a:pPr>
            <a:r>
              <a:rPr lang="es">
                <a:solidFill>
                  <a:schemeClr val="dk1"/>
                </a:solidFill>
              </a:rPr>
              <a:t>La </a:t>
            </a:r>
            <a:r>
              <a:rPr b="1" lang="es">
                <a:solidFill>
                  <a:schemeClr val="dk1"/>
                </a:solidFill>
              </a:rPr>
              <a:t>Mejora Continua</a:t>
            </a:r>
            <a:r>
              <a:rPr lang="es">
                <a:solidFill>
                  <a:schemeClr val="dk1"/>
                </a:solidFill>
              </a:rPr>
              <a:t> se dio tanto en el contenido del servicio como en la interacción: ajustes en los procesos, incorporación de nuevas categorías, o mejoras en la interfaz del portal.</a:t>
            </a:r>
            <a:br>
              <a:rPr lang="es">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¿Los resultados?</a:t>
            </a:r>
            <a:endParaRPr>
              <a:solidFill>
                <a:schemeClr val="dk1"/>
              </a:solidFill>
            </a:endParaRPr>
          </a:p>
          <a:p>
            <a:pPr indent="0" lvl="0" marL="457200" rtl="0" algn="l">
              <a:lnSpc>
                <a:spcPct val="115000"/>
              </a:lnSpc>
              <a:spcBef>
                <a:spcPts val="1200"/>
              </a:spcBef>
              <a:spcAft>
                <a:spcPts val="0"/>
              </a:spcAft>
              <a:buNone/>
            </a:pPr>
            <a:r>
              <a:rPr lang="es">
                <a:solidFill>
                  <a:schemeClr val="dk1"/>
                </a:solidFill>
              </a:rPr>
              <a:t>Más del 85% de los incidentes fueron resueltos por el proveedor en menos de 2 horas.</a:t>
            </a:r>
            <a:endParaRPr>
              <a:solidFill>
                <a:schemeClr val="dk1"/>
              </a:solidFill>
            </a:endParaRPr>
          </a:p>
          <a:p>
            <a:pPr indent="0" lvl="0" marL="457200" rtl="0" algn="l">
              <a:lnSpc>
                <a:spcPct val="115000"/>
              </a:lnSpc>
              <a:spcBef>
                <a:spcPts val="1200"/>
              </a:spcBef>
              <a:spcAft>
                <a:spcPts val="0"/>
              </a:spcAft>
              <a:buNone/>
            </a:pPr>
            <a:r>
              <a:rPr lang="es">
                <a:solidFill>
                  <a:schemeClr val="dk1"/>
                </a:solidFill>
              </a:rPr>
              <a:t>El backlog de TI interna bajó un 40%, permitiendo que el equipo técnico se enfoque en lo estratégico.</a:t>
            </a:r>
            <a:br>
              <a:rPr lang="es">
                <a:solidFill>
                  <a:schemeClr val="dk1"/>
                </a:solidFill>
              </a:rPr>
            </a:br>
            <a:endParaRPr>
              <a:solidFill>
                <a:schemeClr val="dk1"/>
              </a:solidFill>
            </a:endParaRPr>
          </a:p>
          <a:p>
            <a:pPr indent="0" lvl="0" marL="457200" rtl="0" algn="l">
              <a:lnSpc>
                <a:spcPct val="115000"/>
              </a:lnSpc>
              <a:spcBef>
                <a:spcPts val="1200"/>
              </a:spcBef>
              <a:spcAft>
                <a:spcPts val="0"/>
              </a:spcAft>
              <a:buNone/>
            </a:pPr>
            <a:r>
              <a:rPr lang="es">
                <a:solidFill>
                  <a:schemeClr val="dk1"/>
                </a:solidFill>
              </a:rPr>
              <a:t>Y el usuario final percibió un servicio más rápido, claro y accesible.</a:t>
            </a:r>
            <a:br>
              <a:rPr lang="es">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En resumen, este caso muestra que tercerizar no significa perder el control, sino </a:t>
            </a:r>
            <a:r>
              <a:rPr b="1" lang="es">
                <a:solidFill>
                  <a:schemeClr val="dk1"/>
                </a:solidFill>
              </a:rPr>
              <a:t>gestionar el servicio desde una perspectiva ITIL</a:t>
            </a:r>
            <a:r>
              <a:rPr lang="es">
                <a:solidFill>
                  <a:schemeClr val="dk1"/>
                </a:solidFill>
              </a:rPr>
              <a:t>, enfocada en valor, relaciones sanas, y mejora constante.”</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381000" marR="381000" rtl="0" algn="l">
              <a:lnSpc>
                <a:spcPct val="115000"/>
              </a:lnSpc>
              <a:spcBef>
                <a:spcPts val="1200"/>
              </a:spcBef>
              <a:spcAft>
                <a:spcPts val="0"/>
              </a:spcAft>
              <a:buSzPts val="1100"/>
              <a:buNone/>
            </a:pPr>
            <a:r>
              <a:t/>
            </a:r>
            <a:endParaRPr>
              <a:solidFill>
                <a:schemeClr val="dk1"/>
              </a:solidFill>
            </a:endParaRPr>
          </a:p>
          <a:p>
            <a:pPr indent="0" lvl="0" marL="381000" marR="38100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p>
          <a:p>
            <a:pPr indent="0" lvl="0" marL="0" rtl="0" algn="l">
              <a:lnSpc>
                <a:spcPct val="115000"/>
              </a:lnSpc>
              <a:spcBef>
                <a:spcPts val="1200"/>
              </a:spcBef>
              <a:spcAft>
                <a:spcPts val="1200"/>
              </a:spcAft>
              <a:buSzPts val="1100"/>
              <a:buNone/>
            </a:pPr>
            <a:r>
              <a:t/>
            </a:r>
            <a:endParaRPr/>
          </a:p>
        </p:txBody>
      </p:sp>
      <p:sp>
        <p:nvSpPr>
          <p:cNvPr id="193" name="Google Shape;193;g356d56908db_0_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s">
                <a:solidFill>
                  <a:schemeClr val="dk1"/>
                </a:solidFill>
              </a:rPr>
              <a:t>1. Identificar un área o dolor real</a:t>
            </a:r>
            <a:br>
              <a:rPr b="1" lang="es">
                <a:solidFill>
                  <a:schemeClr val="dk1"/>
                </a:solidFill>
              </a:rPr>
            </a:b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s">
                <a:solidFill>
                  <a:schemeClr val="dk1"/>
                </a:solidFill>
              </a:rPr>
              <a:t>Ej.: alto volumen de incidentes, mala experiencia de usuario, retrasos en cambios.</a:t>
            </a:r>
            <a:br>
              <a:rPr lang="es">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s">
                <a:solidFill>
                  <a:schemeClr val="dk1"/>
                </a:solidFill>
              </a:rPr>
              <a:t>2. Seleccionar prácticas relevantes y entender su propósito</a:t>
            </a:r>
            <a:br>
              <a:rPr b="1" lang="es">
                <a:solidFill>
                  <a:schemeClr val="dk1"/>
                </a:solidFill>
              </a:rPr>
            </a:b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s">
                <a:solidFill>
                  <a:schemeClr val="dk1"/>
                </a:solidFill>
              </a:rPr>
              <a:t>Ej.: Para mejorar soporte → </a:t>
            </a:r>
            <a:r>
              <a:rPr i="1" lang="es">
                <a:solidFill>
                  <a:schemeClr val="dk1"/>
                </a:solidFill>
              </a:rPr>
              <a:t>Gestión de Incidentes + Gestión del Conocimiento</a:t>
            </a:r>
            <a:r>
              <a:rPr lang="es">
                <a:solidFill>
                  <a:schemeClr val="dk1"/>
                </a:solidFill>
              </a:rPr>
              <a:t>.</a:t>
            </a:r>
            <a:br>
              <a:rPr lang="es">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s">
                <a:solidFill>
                  <a:schemeClr val="dk1"/>
                </a:solidFill>
              </a:rPr>
              <a:t>3. Diagnóstico actual: ¿qué procesos existen? ¿quién hace qué?</a:t>
            </a:r>
            <a:br>
              <a:rPr b="1" lang="es">
                <a:solidFill>
                  <a:schemeClr val="dk1"/>
                </a:solidFill>
              </a:rPr>
            </a:b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s">
                <a:solidFill>
                  <a:schemeClr val="dk1"/>
                </a:solidFill>
              </a:rPr>
              <a:t>Mapear flujos existentes (aunque sean informales) y roles actuales.</a:t>
            </a:r>
            <a:br>
              <a:rPr lang="es">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s">
                <a:solidFill>
                  <a:schemeClr val="dk1"/>
                </a:solidFill>
              </a:rPr>
              <a:t>4. Rediseñar procesos y flujos donde sea necesario</a:t>
            </a:r>
            <a:br>
              <a:rPr b="1" lang="es">
                <a:solidFill>
                  <a:schemeClr val="dk1"/>
                </a:solidFill>
              </a:rPr>
            </a:b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s">
                <a:solidFill>
                  <a:schemeClr val="dk1"/>
                </a:solidFill>
              </a:rPr>
              <a:t>Documentar cómo debería ser el nuevo flujo con responsabilidades claras (RACI).</a:t>
            </a:r>
            <a:br>
              <a:rPr lang="es">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s">
                <a:solidFill>
                  <a:schemeClr val="dk1"/>
                </a:solidFill>
              </a:rPr>
              <a:t>5. Definir indicadores y puntos de control</a:t>
            </a:r>
            <a:br>
              <a:rPr b="1" lang="es">
                <a:solidFill>
                  <a:schemeClr val="dk1"/>
                </a:solidFill>
              </a:rPr>
            </a:b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s">
                <a:solidFill>
                  <a:schemeClr val="dk1"/>
                </a:solidFill>
              </a:rPr>
              <a:t>Ej.: tiempo de resolución, satisfacción, cumplimiento de SLAs.</a:t>
            </a:r>
            <a:br>
              <a:rPr lang="es">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s">
                <a:solidFill>
                  <a:schemeClr val="dk1"/>
                </a:solidFill>
              </a:rPr>
              <a:t>6. Comunicar y capacitar a los involucrados</a:t>
            </a:r>
            <a:br>
              <a:rPr b="1" lang="es">
                <a:solidFill>
                  <a:schemeClr val="dk1"/>
                </a:solidFill>
              </a:rPr>
            </a:b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s">
                <a:solidFill>
                  <a:schemeClr val="dk1"/>
                </a:solidFill>
              </a:rPr>
              <a:t>Alinear expectativas y formar al equipo en las prácticas seleccionadas.</a:t>
            </a:r>
            <a:br>
              <a:rPr lang="es">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s">
                <a:solidFill>
                  <a:schemeClr val="dk1"/>
                </a:solidFill>
              </a:rPr>
              <a:t>7. Iterar y mejorar (no buscar la perfección inicial)</a:t>
            </a:r>
            <a:br>
              <a:rPr b="1" lang="es">
                <a:solidFill>
                  <a:schemeClr val="dk1"/>
                </a:solidFill>
              </a:rPr>
            </a:b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s">
                <a:solidFill>
                  <a:schemeClr val="dk1"/>
                </a:solidFill>
              </a:rPr>
              <a:t>Aplicar </a:t>
            </a:r>
            <a:r>
              <a:rPr i="1" lang="es">
                <a:solidFill>
                  <a:schemeClr val="dk1"/>
                </a:solidFill>
              </a:rPr>
              <a:t>Mejora Continua</a:t>
            </a:r>
            <a:r>
              <a:rPr lang="es">
                <a:solidFill>
                  <a:schemeClr val="dk1"/>
                </a:solidFill>
              </a:rPr>
              <a:t> desde el principio con ciclos de revisión.</a:t>
            </a:r>
            <a:endParaRPr>
              <a:solidFill>
                <a:schemeClr val="dk1"/>
              </a:solidFill>
            </a:endParaRPr>
          </a:p>
          <a:p>
            <a:pPr indent="0" lvl="0" marL="0" rtl="0" algn="l">
              <a:lnSpc>
                <a:spcPct val="115000"/>
              </a:lnSpc>
              <a:spcBef>
                <a:spcPts val="1200"/>
              </a:spcBef>
              <a:spcAft>
                <a:spcPts val="0"/>
              </a:spcAft>
              <a:buNone/>
            </a:pPr>
            <a:r>
              <a:rPr lang="es">
                <a:solidFill>
                  <a:schemeClr val="dk1"/>
                </a:solidFill>
              </a:rPr>
              <a:t>“Hasta ahora vimos qué es ITIL, su enfoque moderno con el Sistema de Valor del Servicio, y cómo se refleja en casos reales.</a:t>
            </a:r>
            <a:br>
              <a:rPr lang="es">
                <a:solidFill>
                  <a:schemeClr val="dk1"/>
                </a:solidFill>
              </a:rPr>
            </a:br>
            <a:r>
              <a:rPr lang="es">
                <a:solidFill>
                  <a:schemeClr val="dk1"/>
                </a:solidFill>
              </a:rPr>
              <a:t> Pero una pregunta muy común es: </a:t>
            </a:r>
            <a:r>
              <a:rPr i="1" lang="es">
                <a:solidFill>
                  <a:schemeClr val="dk1"/>
                </a:solidFill>
              </a:rPr>
              <a:t>‘¿por dónde empiezo si quiero aplicar esto en mi organización?’</a:t>
            </a:r>
            <a:endParaRPr i="1">
              <a:solidFill>
                <a:schemeClr val="dk1"/>
              </a:solidFill>
            </a:endParaRPr>
          </a:p>
          <a:p>
            <a:pPr indent="0" lvl="0" marL="0" rtl="0" algn="l">
              <a:lnSpc>
                <a:spcPct val="115000"/>
              </a:lnSpc>
              <a:spcBef>
                <a:spcPts val="1200"/>
              </a:spcBef>
              <a:spcAft>
                <a:spcPts val="0"/>
              </a:spcAft>
              <a:buNone/>
            </a:pPr>
            <a:r>
              <a:rPr lang="es">
                <a:solidFill>
                  <a:schemeClr val="dk1"/>
                </a:solidFill>
              </a:rPr>
              <a:t>La respuesta es: </a:t>
            </a:r>
            <a:r>
              <a:rPr b="1" lang="es">
                <a:solidFill>
                  <a:schemeClr val="dk1"/>
                </a:solidFill>
              </a:rPr>
              <a:t>no se trata de implementar ITIL como si fuera un proyecto gigante, sino de usarlo como una caja de herramientas adaptada a tus necesidades</a:t>
            </a:r>
            <a:r>
              <a:rPr lang="es">
                <a:solidFill>
                  <a:schemeClr val="dk1"/>
                </a:solidFill>
              </a:rPr>
              <a:t>.</a:t>
            </a:r>
            <a:endParaRPr>
              <a:solidFill>
                <a:schemeClr val="dk1"/>
              </a:solidFill>
            </a:endParaRPr>
          </a:p>
          <a:p>
            <a:pPr indent="0" lvl="0" marL="0" rtl="0" algn="l">
              <a:lnSpc>
                <a:spcPct val="115000"/>
              </a:lnSpc>
              <a:spcBef>
                <a:spcPts val="1200"/>
              </a:spcBef>
              <a:spcAft>
                <a:spcPts val="0"/>
              </a:spcAft>
              <a:buNone/>
            </a:pPr>
            <a:r>
              <a:rPr lang="es">
                <a:solidFill>
                  <a:schemeClr val="dk1"/>
                </a:solidFill>
              </a:rPr>
              <a:t>Empezamos por algo básico: </a:t>
            </a:r>
            <a:r>
              <a:rPr b="1" lang="es">
                <a:solidFill>
                  <a:schemeClr val="dk1"/>
                </a:solidFill>
              </a:rPr>
              <a:t>identificar un dolor real o una oportunidad concreta</a:t>
            </a:r>
            <a:r>
              <a:rPr lang="es">
                <a:solidFill>
                  <a:schemeClr val="dk1"/>
                </a:solidFill>
              </a:rPr>
              <a:t>. Por ejemplo:</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i="1" lang="es">
                <a:solidFill>
                  <a:schemeClr val="dk1"/>
                </a:solidFill>
              </a:rPr>
              <a:t>¿Los usuarios se quejan de la lentitud del soporte?</a:t>
            </a:r>
            <a:br>
              <a:rPr i="1" lang="es">
                <a:solidFill>
                  <a:schemeClr val="dk1"/>
                </a:solidFill>
              </a:rPr>
            </a:br>
            <a:endParaRPr i="1">
              <a:solidFill>
                <a:schemeClr val="dk1"/>
              </a:solidFill>
            </a:endParaRPr>
          </a:p>
          <a:p>
            <a:pPr indent="-298450" lvl="0" marL="457200" rtl="0" algn="l">
              <a:lnSpc>
                <a:spcPct val="115000"/>
              </a:lnSpc>
              <a:spcBef>
                <a:spcPts val="0"/>
              </a:spcBef>
              <a:spcAft>
                <a:spcPts val="0"/>
              </a:spcAft>
              <a:buClr>
                <a:schemeClr val="dk1"/>
              </a:buClr>
              <a:buSzPts val="1100"/>
              <a:buChar char="●"/>
            </a:pPr>
            <a:r>
              <a:rPr i="1" lang="es">
                <a:solidFill>
                  <a:schemeClr val="dk1"/>
                </a:solidFill>
              </a:rPr>
              <a:t>¿Se retrasan los cambios en producción por falta de coordinación?</a:t>
            </a:r>
            <a:br>
              <a:rPr i="1" lang="es">
                <a:solidFill>
                  <a:schemeClr val="dk1"/>
                </a:solidFill>
              </a:rPr>
            </a:br>
            <a:endParaRPr i="1">
              <a:solidFill>
                <a:schemeClr val="dk1"/>
              </a:solidFill>
            </a:endParaRPr>
          </a:p>
          <a:p>
            <a:pPr indent="0" lvl="0" marL="0" rtl="0" algn="l">
              <a:lnSpc>
                <a:spcPct val="115000"/>
              </a:lnSpc>
              <a:spcBef>
                <a:spcPts val="1200"/>
              </a:spcBef>
              <a:spcAft>
                <a:spcPts val="0"/>
              </a:spcAft>
              <a:buNone/>
            </a:pPr>
            <a:r>
              <a:rPr lang="es">
                <a:solidFill>
                  <a:schemeClr val="dk1"/>
                </a:solidFill>
              </a:rPr>
              <a:t>A partir de ahí, elegimos las prácticas más relevantes. Si hay problemas con soporte, podríamos aplicar </a:t>
            </a:r>
            <a:r>
              <a:rPr b="1" lang="es">
                <a:solidFill>
                  <a:schemeClr val="dk1"/>
                </a:solidFill>
              </a:rPr>
              <a:t>Gestión de Incidentes, de Conocimiento y de Solicitudes de Servicio</a:t>
            </a:r>
            <a:r>
              <a:rPr lang="es">
                <a:solidFill>
                  <a:schemeClr val="dk1"/>
                </a:solidFill>
              </a:rPr>
              <a:t>.</a:t>
            </a:r>
            <a:endParaRPr>
              <a:solidFill>
                <a:schemeClr val="dk1"/>
              </a:solidFill>
            </a:endParaRPr>
          </a:p>
          <a:p>
            <a:pPr indent="0" lvl="0" marL="0" rtl="0" algn="l">
              <a:lnSpc>
                <a:spcPct val="115000"/>
              </a:lnSpc>
              <a:spcBef>
                <a:spcPts val="1200"/>
              </a:spcBef>
              <a:spcAft>
                <a:spcPts val="0"/>
              </a:spcAft>
              <a:buNone/>
            </a:pPr>
            <a:r>
              <a:rPr lang="es">
                <a:solidFill>
                  <a:schemeClr val="dk1"/>
                </a:solidFill>
              </a:rPr>
              <a:t>Luego viene una etapa clave que muchas veces se omite: </a:t>
            </a:r>
            <a:r>
              <a:rPr b="1" lang="es">
                <a:solidFill>
                  <a:schemeClr val="dk1"/>
                </a:solidFill>
              </a:rPr>
              <a:t>entender cómo funciona hoy el proceso, aunque sea informal</a:t>
            </a:r>
            <a:r>
              <a:rPr lang="es">
                <a:solidFill>
                  <a:schemeClr val="dk1"/>
                </a:solidFill>
              </a:rPr>
              <a:t>. ¿Quién recibe los tickets? ¿Cómo se decide su prioridad? ¿Quién resuelve qué?</a:t>
            </a:r>
            <a:endParaRPr>
              <a:solidFill>
                <a:schemeClr val="dk1"/>
              </a:solidFill>
            </a:endParaRPr>
          </a:p>
          <a:p>
            <a:pPr indent="0" lvl="0" marL="0" rtl="0" algn="l">
              <a:lnSpc>
                <a:spcPct val="115000"/>
              </a:lnSpc>
              <a:spcBef>
                <a:spcPts val="1200"/>
              </a:spcBef>
              <a:spcAft>
                <a:spcPts val="0"/>
              </a:spcAft>
              <a:buNone/>
            </a:pPr>
            <a:r>
              <a:rPr lang="es">
                <a:solidFill>
                  <a:schemeClr val="dk1"/>
                </a:solidFill>
              </a:rPr>
              <a:t>Con esa información, rediseñamos los flujos — y no hace falta complicarlos — pero sí tener claro </a:t>
            </a:r>
            <a:r>
              <a:rPr b="1" lang="es">
                <a:solidFill>
                  <a:schemeClr val="dk1"/>
                </a:solidFill>
              </a:rPr>
              <a:t>qué actividad hace quién, y con qué criterio</a:t>
            </a:r>
            <a:r>
              <a:rPr lang="es">
                <a:solidFill>
                  <a:schemeClr val="dk1"/>
                </a:solidFill>
              </a:rPr>
              <a:t>.</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1200"/>
              </a:spcAft>
              <a:buSzPts val="1100"/>
              <a:buNone/>
            </a:pPr>
            <a:r>
              <a:t/>
            </a:r>
            <a:endParaRPr/>
          </a:p>
        </p:txBody>
      </p:sp>
      <p:sp>
        <p:nvSpPr>
          <p:cNvPr id="203" name="Google Shape;203;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s">
                <a:solidFill>
                  <a:schemeClr val="dk1"/>
                </a:solidFill>
              </a:rPr>
              <a:t>Cada práctica que vimos —como gestión de incidentes, cambios, conocimiento, etc.— necesita más que procesos bien definidos. Necesita herramientas que </a:t>
            </a:r>
            <a:r>
              <a:rPr b="1" lang="es">
                <a:solidFill>
                  <a:schemeClr val="dk1"/>
                </a:solidFill>
              </a:rPr>
              <a:t>ayuden a ejecutarlos de manera estandarizada, medible y eficiente</a:t>
            </a:r>
            <a:r>
              <a:rPr lang="e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Empezamos por </a:t>
            </a:r>
            <a:r>
              <a:rPr b="1" lang="es">
                <a:solidFill>
                  <a:schemeClr val="dk1"/>
                </a:solidFill>
              </a:rPr>
              <a:t>Gestión de Incidentes y Solicitudes de Servicio</a:t>
            </a:r>
            <a:r>
              <a:rPr lang="es">
                <a:solidFill>
                  <a:schemeClr val="dk1"/>
                </a:solidFill>
              </a:rPr>
              <a:t>, probablemente una de las más visibles. Acá vemos herramientas como ServiceNow, Freshservice o Zendesk. ¿Qué hacen? Permiten registrar tickets, asignarlos automáticamente, aplicar SLAs y moverlos en workflows definidos. La herramienta no hace ITIL, pero </a:t>
            </a:r>
            <a:r>
              <a:rPr b="1" lang="es">
                <a:solidFill>
                  <a:schemeClr val="dk1"/>
                </a:solidFill>
              </a:rPr>
              <a:t>facilita su aplicación real</a:t>
            </a:r>
            <a:r>
              <a:rPr lang="e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En el caso de la </a:t>
            </a:r>
            <a:r>
              <a:rPr b="1" lang="es">
                <a:solidFill>
                  <a:schemeClr val="dk1"/>
                </a:solidFill>
              </a:rPr>
              <a:t>Gestión del Conocimiento</a:t>
            </a:r>
            <a:r>
              <a:rPr lang="es">
                <a:solidFill>
                  <a:schemeClr val="dk1"/>
                </a:solidFill>
              </a:rPr>
              <a:t>, tenemos plataformas como Confluence, Guru o la propia base de conocimientos integrada en Freshservice. Estas herramientas permiten mantener artículos vivos, FAQs y procesos que ayudan tanto a técnicos como a usuarios a resolver sin escalar innecesariamente. Es clave para mejorar la resolución en primer contacto.</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La </a:t>
            </a:r>
            <a:r>
              <a:rPr b="1" lang="es">
                <a:solidFill>
                  <a:schemeClr val="dk1"/>
                </a:solidFill>
              </a:rPr>
              <a:t>Gestión de Cambios</a:t>
            </a:r>
            <a:r>
              <a:rPr lang="es">
                <a:solidFill>
                  <a:schemeClr val="dk1"/>
                </a:solidFill>
              </a:rPr>
              <a:t>, una práctica crítica en entornos dinámicos como las fintechs, requiere herramientas como Jira Service Management o ServiceNow. Nos ayudan a llevar un flujo claro: solicitud, evaluación de impacto, aprobación por CAB, ejecución, y post-implementación. Todo eso se puede auditar y seguir en tiempo real.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En cuanto al </a:t>
            </a:r>
            <a:r>
              <a:rPr b="1" lang="es">
                <a:solidFill>
                  <a:schemeClr val="dk1"/>
                </a:solidFill>
              </a:rPr>
              <a:t>Monitoreo y la Gestión de Eventos</a:t>
            </a:r>
            <a:r>
              <a:rPr lang="es">
                <a:solidFill>
                  <a:schemeClr val="dk1"/>
                </a:solidFill>
              </a:rPr>
              <a:t>, herramientas como Zabbix, Nagios o Datadog permiten anticiparse: correlacionar eventos, generar alertas automatizadas y escalar cuando un umbral crítico se rompe. Esto alimenta a otras prácticas como la gestión de incidentes o la disponibilidad.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La </a:t>
            </a:r>
            <a:r>
              <a:rPr b="1" lang="es">
                <a:solidFill>
                  <a:schemeClr val="dk1"/>
                </a:solidFill>
              </a:rPr>
              <a:t>Gestión de Proveedores y SLAs</a:t>
            </a:r>
            <a:r>
              <a:rPr lang="es">
                <a:solidFill>
                  <a:schemeClr val="dk1"/>
                </a:solidFill>
              </a:rPr>
              <a:t> también se apoya en herramientas. A veces tan complejas como ServiceNow Vendor Management, o incluso tan simples como Excel y Power BI. Lo importante es poder medir si los acuerdos se cumplen y visualizar el desempeño del proveedor de forma objetiva.</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Cuando hablamos de </a:t>
            </a:r>
            <a:r>
              <a:rPr b="1" lang="es">
                <a:solidFill>
                  <a:schemeClr val="dk1"/>
                </a:solidFill>
              </a:rPr>
              <a:t>Mejora Continua y Reportes</a:t>
            </a:r>
            <a:r>
              <a:rPr lang="es">
                <a:solidFill>
                  <a:schemeClr val="dk1"/>
                </a:solidFill>
              </a:rPr>
              <a:t>, necesitamos datos y visualización. Ahí entran Power BI, Grafana, ServiceNow Reports o incluso Excel bien trabajado. Nos permiten responder a preguntas como: ¿cuántos incidentes se resolvieron dentro del SLA? ¿Qué cambios causaron más incidentes? ¿Qué servicios tienen mejor feedback?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Y por último, pero muy visible para el usuario final, está el </a:t>
            </a:r>
            <a:r>
              <a:rPr b="1" lang="es">
                <a:solidFill>
                  <a:schemeClr val="dk1"/>
                </a:solidFill>
              </a:rPr>
              <a:t>Portal de Autoservicio</a:t>
            </a:r>
            <a:r>
              <a:rPr lang="es">
                <a:solidFill>
                  <a:schemeClr val="dk1"/>
                </a:solidFill>
              </a:rPr>
              <a:t>. Herramientas como Jira Portal o GLPI ofrecen catálogos de servicios, seguimiento de tickets, chatbots o formularios inteligentes. Son la ‘cara visible’ del modelo de servicios, y bien diseñadas mejoran mucho la experiencia del cliente.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En resumen, no se trata de tener la mejor herramienta del mercado, sino de tener una que realmente </a:t>
            </a:r>
            <a:r>
              <a:rPr b="1" lang="es">
                <a:solidFill>
                  <a:schemeClr val="dk1"/>
                </a:solidFill>
              </a:rPr>
              <a:t>soporte las prácticas ITIL y aporte valor</a:t>
            </a:r>
            <a:r>
              <a:rPr lang="es">
                <a:solidFill>
                  <a:schemeClr val="dk1"/>
                </a:solidFill>
              </a:rPr>
              <a:t> al negocio. Esa es la clave.”</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1200"/>
              </a:spcAft>
              <a:buSzPts val="1100"/>
              <a:buNone/>
            </a:pPr>
            <a:r>
              <a:t/>
            </a:r>
            <a:endParaRPr/>
          </a:p>
        </p:txBody>
      </p:sp>
      <p:sp>
        <p:nvSpPr>
          <p:cNvPr id="212" name="Google Shape;212;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56d56908db_0_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s">
                <a:solidFill>
                  <a:schemeClr val="dk1"/>
                </a:solidFill>
              </a:rPr>
              <a:t>Acá vemos cómo se vive la práctica de Gestión de Incidentes en una herramienta real.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br>
              <a:rPr lang="es">
                <a:solidFill>
                  <a:schemeClr val="dk1"/>
                </a:solidFill>
              </a:rPr>
            </a:br>
            <a:r>
              <a:rPr lang="es">
                <a:solidFill>
                  <a:schemeClr val="dk1"/>
                </a:solidFill>
              </a:rPr>
              <a:t> Todo empieza </a:t>
            </a:r>
            <a:r>
              <a:rPr b="1" lang="es">
                <a:solidFill>
                  <a:schemeClr val="dk1"/>
                </a:solidFill>
              </a:rPr>
              <a:t>con el usuario</a:t>
            </a:r>
            <a:r>
              <a:rPr lang="es">
                <a:solidFill>
                  <a:schemeClr val="dk1"/>
                </a:solidFill>
              </a:rPr>
              <a:t>, que puede reportar su problema desde un portal de autoservicio. Ahí ya está funcionando ITIL: se estandariza el canal, se evita el mail suelto o el llamado telefónico que se pierde.</a:t>
            </a:r>
            <a:endParaRPr>
              <a:solidFill>
                <a:schemeClr val="dk1"/>
              </a:solidFill>
            </a:endParaRPr>
          </a:p>
          <a:p>
            <a:pPr indent="0" lvl="0" marL="0" rtl="0" algn="l">
              <a:lnSpc>
                <a:spcPct val="115000"/>
              </a:lnSpc>
              <a:spcBef>
                <a:spcPts val="1200"/>
              </a:spcBef>
              <a:spcAft>
                <a:spcPts val="0"/>
              </a:spcAft>
              <a:buNone/>
            </a:pPr>
            <a:r>
              <a:rPr lang="es">
                <a:solidFill>
                  <a:schemeClr val="dk1"/>
                </a:solidFill>
              </a:rPr>
              <a:t>Una vez ingresado, la herramienta </a:t>
            </a:r>
            <a:r>
              <a:rPr b="1" lang="es">
                <a:solidFill>
                  <a:schemeClr val="dk1"/>
                </a:solidFill>
              </a:rPr>
              <a:t>clasifica automáticamente la prioridad</a:t>
            </a:r>
            <a:r>
              <a:rPr lang="es">
                <a:solidFill>
                  <a:schemeClr val="dk1"/>
                </a:solidFill>
              </a:rPr>
              <a:t> con base en reglas (impacto + urgencia), y lo asigna al equipo correcto.</a:t>
            </a:r>
            <a:br>
              <a:rPr lang="es">
                <a:solidFill>
                  <a:schemeClr val="dk1"/>
                </a:solidFill>
              </a:rPr>
            </a:br>
            <a:r>
              <a:rPr lang="es">
                <a:solidFill>
                  <a:schemeClr val="dk1"/>
                </a:solidFill>
              </a:rPr>
              <a:t> El técnico lo ve en su panel, con toda la información centralizada, sugerencias de resolución y SLA en cuenta regresiva.</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br>
              <a:rPr lang="es">
                <a:solidFill>
                  <a:schemeClr val="dk1"/>
                </a:solidFill>
              </a:rPr>
            </a:br>
            <a:r>
              <a:rPr lang="es">
                <a:solidFill>
                  <a:schemeClr val="dk1"/>
                </a:solidFill>
              </a:rPr>
              <a:t> Al cerrar el incidente, no solo se resuelve el problema: también se registra, se documenta para futuros casos, y se mide la experiencia del usuario.</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Es un proceso continuo que permite gestionar a escala sin perder calidad.”</a:t>
            </a:r>
            <a:endParaRPr>
              <a:solidFill>
                <a:schemeClr val="dk1"/>
              </a:solidFill>
            </a:endParaRPr>
          </a:p>
          <a:p>
            <a:pPr indent="0" lvl="0" marL="0" rtl="0" algn="l">
              <a:lnSpc>
                <a:spcPct val="115000"/>
              </a:lnSpc>
              <a:spcBef>
                <a:spcPts val="1200"/>
              </a:spcBef>
              <a:spcAft>
                <a:spcPts val="0"/>
              </a:spcAft>
              <a:buNone/>
            </a:pPr>
            <a:r>
              <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1200"/>
              </a:spcAft>
              <a:buSzPts val="1100"/>
              <a:buNone/>
            </a:pPr>
            <a:r>
              <a:t/>
            </a:r>
            <a:endParaRPr/>
          </a:p>
        </p:txBody>
      </p:sp>
      <p:sp>
        <p:nvSpPr>
          <p:cNvPr id="222" name="Google Shape;222;g356d56908db_0_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56d56908db_0_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s">
                <a:solidFill>
                  <a:schemeClr val="dk1"/>
                </a:solidFill>
              </a:rPr>
              <a:t>¿Qué es la Gestión del Conocimiento (KM)?</a:t>
            </a:r>
            <a:endParaRPr b="1">
              <a:solidFill>
                <a:schemeClr val="dk1"/>
              </a:solidFill>
            </a:endParaRPr>
          </a:p>
          <a:p>
            <a:pPr indent="0" lvl="0" marL="381000" marR="381000" rtl="0" algn="l">
              <a:lnSpc>
                <a:spcPct val="115000"/>
              </a:lnSpc>
              <a:spcBef>
                <a:spcPts val="1200"/>
              </a:spcBef>
              <a:spcAft>
                <a:spcPts val="0"/>
              </a:spcAft>
              <a:buNone/>
            </a:pPr>
            <a:r>
              <a:rPr lang="es">
                <a:solidFill>
                  <a:schemeClr val="dk1"/>
                </a:solidFill>
              </a:rPr>
              <a:t>Práctica que asegura que la información útil esté disponible en el momento adecuado para ser usada por las personas correctas. Permite mejorar decisiones, resolver incidentes más rápido y evitar la reinvención constante.</a:t>
            </a:r>
            <a:endParaRPr>
              <a:solidFill>
                <a:schemeClr val="dk1"/>
              </a:solidFill>
            </a:endParaRPr>
          </a:p>
          <a:p>
            <a:pPr indent="0" lvl="0" marL="0" rtl="0" algn="l">
              <a:lnSpc>
                <a:spcPct val="115000"/>
              </a:lnSpc>
              <a:spcBef>
                <a:spcPts val="1200"/>
              </a:spcBef>
              <a:spcAft>
                <a:spcPts val="0"/>
              </a:spcAft>
              <a:buNone/>
            </a:pPr>
            <a:r>
              <a:rPr lang="es">
                <a:solidFill>
                  <a:schemeClr val="dk1"/>
                </a:solidFill>
              </a:rPr>
              <a:t>Cual es la idea en este slide.</a:t>
            </a:r>
            <a:endParaRPr b="1">
              <a:solidFill>
                <a:schemeClr val="dk1"/>
              </a:solidFill>
            </a:endParaRPr>
          </a:p>
          <a:p>
            <a:pPr indent="0" lvl="0" marL="0" rtl="0" algn="l">
              <a:lnSpc>
                <a:spcPct val="115000"/>
              </a:lnSpc>
              <a:spcBef>
                <a:spcPts val="1200"/>
              </a:spcBef>
              <a:spcAft>
                <a:spcPts val="0"/>
              </a:spcAft>
              <a:buNone/>
            </a:pPr>
            <a:r>
              <a:rPr lang="es">
                <a:solidFill>
                  <a:schemeClr val="dk1"/>
                </a:solidFill>
              </a:rPr>
              <a:t>Mostrar cómo la gestión del conocimiento reduce tiempos de resolución y mejora la experiencia del usuario y del técnico</a:t>
            </a:r>
            <a:endParaRPr>
              <a:solidFill>
                <a:schemeClr val="dk1"/>
              </a:solidFill>
            </a:endParaRPr>
          </a:p>
          <a:p>
            <a:pPr indent="0" lvl="0" marL="0" rtl="0" algn="l">
              <a:lnSpc>
                <a:spcPct val="115000"/>
              </a:lnSpc>
              <a:spcBef>
                <a:spcPts val="1200"/>
              </a:spcBef>
              <a:spcAft>
                <a:spcPts val="0"/>
              </a:spcAft>
              <a:buNone/>
            </a:pPr>
            <a:r>
              <a:rPr lang="es">
                <a:solidFill>
                  <a:schemeClr val="dk1"/>
                </a:solidFill>
              </a:rPr>
              <a:t>Técnicos resolvían repetidamente los mismos incidentes sin documentación.</a:t>
            </a:r>
            <a:endParaRPr>
              <a:solidFill>
                <a:schemeClr val="dk1"/>
              </a:solidFill>
            </a:endParaRPr>
          </a:p>
          <a:p>
            <a:pPr indent="0" lvl="0" marL="0" rtl="0" algn="l">
              <a:lnSpc>
                <a:spcPct val="115000"/>
              </a:lnSpc>
              <a:spcBef>
                <a:spcPts val="1200"/>
              </a:spcBef>
              <a:spcAft>
                <a:spcPts val="0"/>
              </a:spcAft>
              <a:buNone/>
            </a:pPr>
            <a:r>
              <a:rPr lang="es">
                <a:solidFill>
                  <a:schemeClr val="dk1"/>
                </a:solidFill>
              </a:rPr>
              <a:t>El portal de autoservicio no ofrecía respuestas útiles.</a:t>
            </a:r>
            <a:endParaRPr>
              <a:solidFill>
                <a:schemeClr val="dk1"/>
              </a:solidFill>
            </a:endParaRPr>
          </a:p>
          <a:p>
            <a:pPr indent="0" lvl="0" marL="0" rtl="0" algn="l">
              <a:lnSpc>
                <a:spcPct val="115000"/>
              </a:lnSpc>
              <a:spcBef>
                <a:spcPts val="1200"/>
              </a:spcBef>
              <a:spcAft>
                <a:spcPts val="0"/>
              </a:spcAft>
              <a:buNone/>
            </a:pPr>
            <a:r>
              <a:rPr lang="es">
                <a:solidFill>
                  <a:schemeClr val="dk1"/>
                </a:solidFill>
              </a:rPr>
              <a:t>Alta dependencia de expertos para soluciones comunes..</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rPr b="1" lang="es">
                <a:solidFill>
                  <a:schemeClr val="dk1"/>
                </a:solidFill>
              </a:rPr>
              <a:t>Actividades de la Cadena de Valor (SVS)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s">
                <a:solidFill>
                  <a:schemeClr val="dk1"/>
                </a:solidFill>
              </a:rPr>
              <a:t>Engage</a:t>
            </a:r>
            <a:r>
              <a:rPr lang="es">
                <a:solidFill>
                  <a:schemeClr val="dk1"/>
                </a:solidFill>
              </a:rPr>
              <a:t>: Captura de preguntas frecuentes y retroalimentación.</a:t>
            </a:r>
            <a:br>
              <a:rPr lang="e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s">
                <a:solidFill>
                  <a:schemeClr val="dk1"/>
                </a:solidFill>
              </a:rPr>
              <a:t>Design &amp; Transition</a:t>
            </a:r>
            <a:r>
              <a:rPr lang="es">
                <a:solidFill>
                  <a:schemeClr val="dk1"/>
                </a:solidFill>
              </a:rPr>
              <a:t>: Diseño del portal y estructura de artículos.</a:t>
            </a:r>
            <a:br>
              <a:rPr lang="e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s">
                <a:solidFill>
                  <a:schemeClr val="dk1"/>
                </a:solidFill>
              </a:rPr>
              <a:t>Obtain/Build</a:t>
            </a:r>
            <a:r>
              <a:rPr lang="es">
                <a:solidFill>
                  <a:schemeClr val="dk1"/>
                </a:solidFill>
              </a:rPr>
              <a:t>: Carga colaborativa de artículos por técnicos.</a:t>
            </a:r>
            <a:br>
              <a:rPr lang="e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s">
                <a:solidFill>
                  <a:schemeClr val="dk1"/>
                </a:solidFill>
              </a:rPr>
              <a:t>Deliver &amp; Support</a:t>
            </a:r>
            <a:r>
              <a:rPr lang="es">
                <a:solidFill>
                  <a:schemeClr val="dk1"/>
                </a:solidFill>
              </a:rPr>
              <a:t>: Uso por parte de técnicos y usuarios.</a:t>
            </a:r>
            <a:br>
              <a:rPr lang="e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s">
                <a:solidFill>
                  <a:schemeClr val="dk1"/>
                </a:solidFill>
              </a:rPr>
              <a:t>Improve</a:t>
            </a:r>
            <a:r>
              <a:rPr lang="es">
                <a:solidFill>
                  <a:schemeClr val="dk1"/>
                </a:solidFill>
              </a:rPr>
              <a:t>: Actualización continua basada en uso y feedback.</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En la práctica, el proceso puede verse así:</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s">
                <a:solidFill>
                  <a:schemeClr val="dk1"/>
                </a:solidFill>
              </a:rPr>
              <a:t>Técnicos notan que ciertas preguntas son frecuentes, como ‘¿cómo configurar el correo en el celular?’.</a:t>
            </a:r>
            <a:br>
              <a:rPr lang="e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Entonces redactan un artículo con pasos claros.</a:t>
            </a:r>
            <a:br>
              <a:rPr lang="e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Ese artículo se revisa por otro colega o un responsable del área.</a:t>
            </a:r>
            <a:br>
              <a:rPr lang="e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Luego se publica en la base de conocimiento interna.</a:t>
            </a:r>
            <a:br>
              <a:rPr lang="e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Cuando otro usuario hace una consulta similar, el sistema sugiere automáticamente ese artículo, tanto al técnico como al usuario final.</a:t>
            </a:r>
            <a:br>
              <a:rPr lang="e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Finalmente, se analiza cuántas veces fue usado, si recibió buena puntuación, y se actualiza si hace falta.</a:t>
            </a:r>
            <a:br>
              <a:rPr lang="es">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La clave está en que este conocimiento no quede guardado en la cabeza de una sola persona, sino que se convierta en un </a:t>
            </a:r>
            <a:r>
              <a:rPr b="1" lang="es">
                <a:solidFill>
                  <a:schemeClr val="dk1"/>
                </a:solidFill>
              </a:rPr>
              <a:t>activo reutilizable y confiable</a:t>
            </a:r>
            <a:r>
              <a:rPr lang="es">
                <a:solidFill>
                  <a:schemeClr val="dk1"/>
                </a:solidFill>
              </a:rPr>
              <a:t>. </a:t>
            </a:r>
            <a:endParaRPr>
              <a:solidFill>
                <a:schemeClr val="dk1"/>
              </a:solidFill>
            </a:endParaRPr>
          </a:p>
          <a:p>
            <a:pPr indent="0" lvl="0" marL="0" rtl="0" algn="l">
              <a:lnSpc>
                <a:spcPct val="115000"/>
              </a:lnSpc>
              <a:spcBef>
                <a:spcPts val="1200"/>
              </a:spcBef>
              <a:spcAft>
                <a:spcPts val="0"/>
              </a:spcAft>
              <a:buNone/>
            </a:pPr>
            <a:r>
              <a:rPr b="1" lang="es" sz="1500">
                <a:solidFill>
                  <a:schemeClr val="dk1"/>
                </a:solidFill>
              </a:rPr>
              <a:t>“Documentar una vez, reutilizar mil veces: el conocimiento compartido es poder operativo.”</a:t>
            </a:r>
            <a:endParaRPr b="1" sz="1500">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1200"/>
              </a:spcAft>
              <a:buSzPts val="1100"/>
              <a:buNone/>
            </a:pPr>
            <a:r>
              <a:t/>
            </a:r>
            <a:endParaRPr/>
          </a:p>
        </p:txBody>
      </p:sp>
      <p:sp>
        <p:nvSpPr>
          <p:cNvPr id="231" name="Google Shape;231;g356d56908db_0_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56d56908db_0_1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s">
                <a:solidFill>
                  <a:schemeClr val="dk1"/>
                </a:solidFill>
              </a:rPr>
              <a:t>“La gestión de cambios es una de las prácticas más críticas en entornos ágiles o fintech, donde la velocidad no puede sacrificar la estabilidad.</a:t>
            </a:r>
            <a:endParaRPr>
              <a:solidFill>
                <a:schemeClr val="dk1"/>
              </a:solidFill>
            </a:endParaRPr>
          </a:p>
          <a:p>
            <a:pPr indent="0" lvl="0" marL="0" rtl="0" algn="l">
              <a:lnSpc>
                <a:spcPct val="115000"/>
              </a:lnSpc>
              <a:spcBef>
                <a:spcPts val="1200"/>
              </a:spcBef>
              <a:spcAft>
                <a:spcPts val="0"/>
              </a:spcAft>
              <a:buNone/>
            </a:pPr>
            <a:r>
              <a:rPr lang="es">
                <a:solidFill>
                  <a:schemeClr val="dk1"/>
                </a:solidFill>
              </a:rPr>
              <a:t>En este flujo típico vemos cómo desde una simple solicitud de cambio se recorren pasos estructurados: evaluación, categorización, análisis de riesgo, aprobación, ejecución y revisión.</a:t>
            </a:r>
            <a:endParaRPr>
              <a:solidFill>
                <a:schemeClr val="dk1"/>
              </a:solidFill>
            </a:endParaRPr>
          </a:p>
          <a:p>
            <a:pPr indent="0" lvl="0" marL="0" rtl="0" algn="l">
              <a:lnSpc>
                <a:spcPct val="115000"/>
              </a:lnSpc>
              <a:spcBef>
                <a:spcPts val="1200"/>
              </a:spcBef>
              <a:spcAft>
                <a:spcPts val="0"/>
              </a:spcAft>
              <a:buNone/>
            </a:pPr>
            <a:r>
              <a:rPr lang="es">
                <a:solidFill>
                  <a:schemeClr val="dk1"/>
                </a:solidFill>
              </a:rPr>
              <a:t>Si bien en algunas empresas esto se ve como burocracia, lo cierto es que cuando se aplica bien y con herramientas adecuadas, </a:t>
            </a:r>
            <a:r>
              <a:rPr b="1" lang="es">
                <a:solidFill>
                  <a:schemeClr val="dk1"/>
                </a:solidFill>
              </a:rPr>
              <a:t>reduce errores, acelera la implementación de cambios seguros y mantiene informados a todos los involucrados</a:t>
            </a:r>
            <a:r>
              <a:rPr lang="es">
                <a:solidFill>
                  <a:schemeClr val="dk1"/>
                </a:solidFill>
              </a:rPr>
              <a:t>.</a:t>
            </a:r>
            <a:endParaRPr>
              <a:solidFill>
                <a:schemeClr val="dk1"/>
              </a:solidFill>
            </a:endParaRPr>
          </a:p>
          <a:p>
            <a:pPr indent="0" lvl="0" marL="0" rtl="0" algn="l">
              <a:lnSpc>
                <a:spcPct val="115000"/>
              </a:lnSpc>
              <a:spcBef>
                <a:spcPts val="1200"/>
              </a:spcBef>
              <a:spcAft>
                <a:spcPts val="0"/>
              </a:spcAft>
              <a:buNone/>
            </a:pPr>
            <a:r>
              <a:rPr lang="es">
                <a:solidFill>
                  <a:schemeClr val="dk1"/>
                </a:solidFill>
              </a:rPr>
              <a:t>Por ejemplo, al migrar un servicio clave, como el login de usuarios, se necesita asegurar que si algo falla, podamos volver atrás sin afectar al negocio. La práctica de gestión de cambios no evita el cambio, lo hace viable y controlado.</a:t>
            </a:r>
            <a:endParaRPr>
              <a:solidFill>
                <a:schemeClr val="dk1"/>
              </a:solidFill>
            </a:endParaRPr>
          </a:p>
          <a:p>
            <a:pPr indent="0" lvl="0" marL="0" rtl="0" algn="l">
              <a:lnSpc>
                <a:spcPct val="115000"/>
              </a:lnSpc>
              <a:spcBef>
                <a:spcPts val="1200"/>
              </a:spcBef>
              <a:spcAft>
                <a:spcPts val="0"/>
              </a:spcAft>
              <a:buNone/>
            </a:pPr>
            <a:r>
              <a:rPr lang="es">
                <a:solidFill>
                  <a:schemeClr val="dk1"/>
                </a:solidFill>
              </a:rPr>
              <a:t>Las herramientas modernas incluso permiten automatizar la aprobación de cambios estándar y mantener un calendario para evitar conflictos, lo cual es clave en equipos distribuidos.”</a:t>
            </a:r>
            <a:endParaRPr>
              <a:solidFill>
                <a:schemeClr val="dk1"/>
              </a:solidFill>
            </a:endParaRPr>
          </a:p>
          <a:p>
            <a:pPr indent="0" lvl="0" marL="0" rtl="0" algn="l">
              <a:lnSpc>
                <a:spcPct val="115000"/>
              </a:lnSpc>
              <a:spcBef>
                <a:spcPts val="1200"/>
              </a:spcBef>
              <a:spcAft>
                <a:spcPts val="0"/>
              </a:spcAft>
              <a:buNone/>
            </a:pPr>
            <a:r>
              <a:rPr lang="es">
                <a:solidFill>
                  <a:schemeClr val="dk1"/>
                </a:solidFill>
              </a:rPr>
              <a:t>”</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1200"/>
              </a:spcAft>
              <a:buSzPts val="1100"/>
              <a:buNone/>
            </a:pPr>
            <a:r>
              <a:t/>
            </a:r>
            <a:endParaRPr/>
          </a:p>
        </p:txBody>
      </p:sp>
      <p:sp>
        <p:nvSpPr>
          <p:cNvPr id="241" name="Google Shape;241;g356d56908db_0_1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56d56908db_0_1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s">
                <a:solidFill>
                  <a:schemeClr val="dk1"/>
                </a:solidFill>
              </a:rPr>
              <a:t>¿Qué es la Gestión de Problemas?</a:t>
            </a:r>
            <a:endParaRPr b="1">
              <a:solidFill>
                <a:schemeClr val="dk1"/>
              </a:solidFill>
            </a:endParaRPr>
          </a:p>
          <a:p>
            <a:pPr indent="0" lvl="0" marL="381000" marR="381000" rtl="0" algn="l">
              <a:lnSpc>
                <a:spcPct val="115000"/>
              </a:lnSpc>
              <a:spcBef>
                <a:spcPts val="1200"/>
              </a:spcBef>
              <a:spcAft>
                <a:spcPts val="0"/>
              </a:spcAft>
              <a:buNone/>
            </a:pPr>
            <a:r>
              <a:rPr lang="es">
                <a:solidFill>
                  <a:schemeClr val="dk1"/>
                </a:solidFill>
              </a:rPr>
              <a:t>Es la práctica encargada de </a:t>
            </a:r>
            <a:r>
              <a:rPr b="1" lang="es">
                <a:solidFill>
                  <a:schemeClr val="dk1"/>
                </a:solidFill>
              </a:rPr>
              <a:t>identificar, analizar y eliminar la causa raíz</a:t>
            </a:r>
            <a:r>
              <a:rPr lang="es">
                <a:solidFill>
                  <a:schemeClr val="dk1"/>
                </a:solidFill>
              </a:rPr>
              <a:t> de uno o más incidentes. A diferencia de la gestión de incidentes, </a:t>
            </a:r>
            <a:r>
              <a:rPr b="1" lang="es">
                <a:solidFill>
                  <a:schemeClr val="dk1"/>
                </a:solidFill>
              </a:rPr>
              <a:t>no busca restaurar el servicio rápidamente</a:t>
            </a:r>
            <a:r>
              <a:rPr lang="es">
                <a:solidFill>
                  <a:schemeClr val="dk1"/>
                </a:solidFill>
              </a:rPr>
              <a:t>, sino </a:t>
            </a:r>
            <a:r>
              <a:rPr b="1" lang="es">
                <a:solidFill>
                  <a:schemeClr val="dk1"/>
                </a:solidFill>
              </a:rPr>
              <a:t>prevenir que vuelva a fallar</a:t>
            </a:r>
            <a:r>
              <a:rPr lang="es">
                <a:solidFill>
                  <a:schemeClr val="dk1"/>
                </a:solidFill>
              </a:rPr>
              <a:t>.</a:t>
            </a:r>
            <a:endParaRPr>
              <a:solidFill>
                <a:schemeClr val="dk1"/>
              </a:solidFill>
            </a:endParaRPr>
          </a:p>
          <a:p>
            <a:pPr indent="0" lvl="0" marL="0" rtl="0" algn="l">
              <a:lnSpc>
                <a:spcPct val="115000"/>
              </a:lnSpc>
              <a:spcBef>
                <a:spcPts val="1200"/>
              </a:spcBef>
              <a:spcAft>
                <a:spcPts val="0"/>
              </a:spcAft>
              <a:buNone/>
            </a:pPr>
            <a:r>
              <a:rPr b="1" lang="es">
                <a:solidFill>
                  <a:schemeClr val="dk1"/>
                </a:solidFill>
              </a:rPr>
              <a:t>Detección: Repetición diaria en incidentes.</a:t>
            </a:r>
            <a:br>
              <a:rPr b="1" lang="es">
                <a:solidFill>
                  <a:schemeClr val="dk1"/>
                </a:solidFill>
              </a:rPr>
            </a:br>
            <a:endParaRPr b="1">
              <a:solidFill>
                <a:schemeClr val="dk1"/>
              </a:solidFill>
            </a:endParaRPr>
          </a:p>
          <a:p>
            <a:pPr indent="0" lvl="0" marL="0" rtl="0" algn="l">
              <a:lnSpc>
                <a:spcPct val="115000"/>
              </a:lnSpc>
              <a:spcBef>
                <a:spcPts val="1200"/>
              </a:spcBef>
              <a:spcAft>
                <a:spcPts val="0"/>
              </a:spcAft>
              <a:buNone/>
            </a:pPr>
            <a:r>
              <a:rPr lang="es">
                <a:solidFill>
                  <a:schemeClr val="dk1"/>
                </a:solidFill>
              </a:rPr>
              <a:t>RCA: Análisis revela script de mantenimiento que reinicia red.</a:t>
            </a:r>
            <a:br>
              <a:rPr lang="es">
                <a:solidFill>
                  <a:schemeClr val="dk1"/>
                </a:solidFill>
              </a:rPr>
            </a:br>
            <a:r>
              <a:rPr lang="es">
                <a:solidFill>
                  <a:schemeClr val="dk1"/>
                </a:solidFill>
              </a:rPr>
              <a:t>Workaround: Reprogramación del script a fuera de horario.</a:t>
            </a:r>
            <a:br>
              <a:rPr lang="es">
                <a:solidFill>
                  <a:schemeClr val="dk1"/>
                </a:solidFill>
              </a:rPr>
            </a:br>
            <a:r>
              <a:rPr lang="es">
                <a:solidFill>
                  <a:schemeClr val="dk1"/>
                </a:solidFill>
              </a:rPr>
              <a:t>Solución: Revisión de scripts con control de CAB.</a:t>
            </a:r>
            <a:br>
              <a:rPr lang="es">
                <a:solidFill>
                  <a:schemeClr val="dk1"/>
                </a:solidFill>
              </a:rPr>
            </a:br>
            <a:r>
              <a:rPr lang="es">
                <a:solidFill>
                  <a:schemeClr val="dk1"/>
                </a:solidFill>
              </a:rPr>
              <a:t>Resultado: Incidentes bajan un 70% en el siguiente mes.</a:t>
            </a:r>
            <a:endParaRPr>
              <a:solidFill>
                <a:schemeClr val="dk1"/>
              </a:solidFill>
            </a:endParaRPr>
          </a:p>
          <a:p>
            <a:pPr indent="0" lvl="0" marL="0" rtl="0" algn="l">
              <a:lnSpc>
                <a:spcPct val="115000"/>
              </a:lnSpc>
              <a:spcBef>
                <a:spcPts val="1200"/>
              </a:spcBef>
              <a:spcAft>
                <a:spcPts val="0"/>
              </a:spcAft>
              <a:buNone/>
            </a:pPr>
            <a:r>
              <a:rPr lang="es">
                <a:solidFill>
                  <a:schemeClr val="dk1"/>
                </a:solidFill>
              </a:rPr>
              <a:t>Este flujo muestra cómo, a partir de patrones o múltiples incidentes similares, se inicia un problema. El análisis de causa raíz (RCA) es fundamental, y puede implicar revisión de logs, configuración, patrones o procesos.</a:t>
            </a:r>
            <a:endParaRPr>
              <a:solidFill>
                <a:schemeClr val="dk1"/>
              </a:solidFill>
            </a:endParaRPr>
          </a:p>
          <a:p>
            <a:pPr indent="0" lvl="0" marL="0" rtl="0" algn="l">
              <a:lnSpc>
                <a:spcPct val="115000"/>
              </a:lnSpc>
              <a:spcBef>
                <a:spcPts val="1200"/>
              </a:spcBef>
              <a:spcAft>
                <a:spcPts val="0"/>
              </a:spcAft>
              <a:buNone/>
            </a:pPr>
            <a:r>
              <a:rPr lang="es">
                <a:solidFill>
                  <a:schemeClr val="dk1"/>
                </a:solidFill>
              </a:rPr>
              <a:t>Si no se puede corregir de inmediato, se documenta el workaround y se lo publica para acelerar futuras resoluciones.</a:t>
            </a:r>
            <a:endParaRPr>
              <a:solidFill>
                <a:schemeClr val="dk1"/>
              </a:solidFill>
            </a:endParaRPr>
          </a:p>
          <a:p>
            <a:pPr indent="0" lvl="0" marL="0" rtl="0" algn="l">
              <a:lnSpc>
                <a:spcPct val="115000"/>
              </a:lnSpc>
              <a:spcBef>
                <a:spcPts val="1200"/>
              </a:spcBef>
              <a:spcAft>
                <a:spcPts val="0"/>
              </a:spcAft>
              <a:buNone/>
            </a:pPr>
            <a:r>
              <a:rPr lang="es">
                <a:solidFill>
                  <a:schemeClr val="dk1"/>
                </a:solidFill>
              </a:rPr>
              <a:t>Una vez que se encuentra la causa y solución definitiva, se gestiona el cambio correspondiente y se mide el impacto.</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1200"/>
              </a:spcAft>
              <a:buSzPts val="1100"/>
              <a:buNone/>
            </a:pPr>
            <a:r>
              <a:t/>
            </a:r>
            <a:endParaRPr/>
          </a:p>
        </p:txBody>
      </p:sp>
      <p:sp>
        <p:nvSpPr>
          <p:cNvPr id="251" name="Google Shape;251;g356d56908db_0_1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56d56908db_0_1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None/>
            </a:pPr>
            <a:r>
              <a:rPr b="1" lang="es">
                <a:solidFill>
                  <a:schemeClr val="dk1"/>
                </a:solidFill>
              </a:rPr>
              <a:t>Que se busca con un dashboard integral??</a:t>
            </a:r>
            <a:endParaRPr b="1">
              <a:solidFill>
                <a:schemeClr val="dk1"/>
              </a:solidFill>
            </a:endParaRPr>
          </a:p>
          <a:p>
            <a:pPr indent="0" lvl="0" marL="381000" marR="381000" rtl="0" algn="l">
              <a:lnSpc>
                <a:spcPct val="115000"/>
              </a:lnSpc>
              <a:spcBef>
                <a:spcPts val="1200"/>
              </a:spcBef>
              <a:spcAft>
                <a:spcPts val="0"/>
              </a:spcAft>
              <a:buNone/>
            </a:pPr>
            <a:r>
              <a:t/>
            </a:r>
            <a:endParaRPr b="1">
              <a:solidFill>
                <a:schemeClr val="dk1"/>
              </a:solidFill>
            </a:endParaRPr>
          </a:p>
          <a:p>
            <a:pPr indent="0" lvl="0" marL="381000" marR="381000" rtl="0" algn="l">
              <a:lnSpc>
                <a:spcPct val="115000"/>
              </a:lnSpc>
              <a:spcBef>
                <a:spcPts val="1200"/>
              </a:spcBef>
              <a:spcAft>
                <a:spcPts val="0"/>
              </a:spcAft>
              <a:buNone/>
            </a:pPr>
            <a:r>
              <a:rPr lang="es">
                <a:solidFill>
                  <a:schemeClr val="dk1"/>
                </a:solidFill>
              </a:rPr>
              <a:t>Mostrar </a:t>
            </a:r>
            <a:r>
              <a:rPr b="1" lang="es">
                <a:solidFill>
                  <a:schemeClr val="dk1"/>
                </a:solidFill>
              </a:rPr>
              <a:t>en una única vista</a:t>
            </a:r>
            <a:r>
              <a:rPr lang="es">
                <a:solidFill>
                  <a:schemeClr val="dk1"/>
                </a:solidFill>
              </a:rPr>
              <a:t> cómo incidentes, cambios, problemas y conocimiento interactúan, se correlacionan y afectan la experiencia del usuario y la estabilidad del servicio.</a:t>
            </a:r>
            <a:endParaRPr>
              <a:solidFill>
                <a:schemeClr val="dk1"/>
              </a:solidFill>
            </a:endParaRPr>
          </a:p>
          <a:p>
            <a:pPr indent="0" lvl="0" marL="381000" marR="381000" rtl="0" algn="l">
              <a:lnSpc>
                <a:spcPct val="115000"/>
              </a:lnSpc>
              <a:spcBef>
                <a:spcPts val="1200"/>
              </a:spcBef>
              <a:spcAft>
                <a:spcPts val="0"/>
              </a:spcAft>
              <a:buNone/>
            </a:pPr>
            <a:r>
              <a:t/>
            </a:r>
            <a:endParaRPr>
              <a:solidFill>
                <a:schemeClr val="dk1"/>
              </a:solidFill>
            </a:endParaRPr>
          </a:p>
          <a:p>
            <a:pPr indent="0" lvl="0" marL="381000" marR="38100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rPr b="1" lang="es">
                <a:solidFill>
                  <a:schemeClr val="dk1"/>
                </a:solidFill>
              </a:rPr>
              <a:t>Detección: Repetición diaria en incidentes.</a:t>
            </a:r>
            <a:br>
              <a:rPr b="1" lang="es">
                <a:solidFill>
                  <a:schemeClr val="dk1"/>
                </a:solidFill>
              </a:rPr>
            </a:br>
            <a:endParaRPr b="1">
              <a:solidFill>
                <a:schemeClr val="dk1"/>
              </a:solidFill>
            </a:endParaRPr>
          </a:p>
          <a:p>
            <a:pPr indent="0" lvl="0" marL="0" rtl="0" algn="l">
              <a:lnSpc>
                <a:spcPct val="115000"/>
              </a:lnSpc>
              <a:spcBef>
                <a:spcPts val="1200"/>
              </a:spcBef>
              <a:spcAft>
                <a:spcPts val="0"/>
              </a:spcAft>
              <a:buNone/>
            </a:pPr>
            <a:r>
              <a:rPr lang="es">
                <a:solidFill>
                  <a:schemeClr val="dk1"/>
                </a:solidFill>
              </a:rPr>
              <a:t>RCA: Análisis revela script de mantenimiento que reinicia red.</a:t>
            </a:r>
            <a:br>
              <a:rPr lang="es">
                <a:solidFill>
                  <a:schemeClr val="dk1"/>
                </a:solidFill>
              </a:rPr>
            </a:br>
            <a:r>
              <a:rPr lang="es">
                <a:solidFill>
                  <a:schemeClr val="dk1"/>
                </a:solidFill>
              </a:rPr>
              <a:t>Workaround: Reprogramación del script a fuera de horario.</a:t>
            </a:r>
            <a:br>
              <a:rPr lang="es">
                <a:solidFill>
                  <a:schemeClr val="dk1"/>
                </a:solidFill>
              </a:rPr>
            </a:br>
            <a:r>
              <a:rPr lang="es">
                <a:solidFill>
                  <a:schemeClr val="dk1"/>
                </a:solidFill>
              </a:rPr>
              <a:t>Solución: Revisión de scripts con control de CAB.</a:t>
            </a:r>
            <a:br>
              <a:rPr lang="es">
                <a:solidFill>
                  <a:schemeClr val="dk1"/>
                </a:solidFill>
              </a:rPr>
            </a:br>
            <a:r>
              <a:rPr lang="es">
                <a:solidFill>
                  <a:schemeClr val="dk1"/>
                </a:solidFill>
              </a:rPr>
              <a:t>Resultado: Incidentes bajan un 70% en el siguiente mes.</a:t>
            </a:r>
            <a:endParaRPr>
              <a:solidFill>
                <a:schemeClr val="dk1"/>
              </a:solidFill>
            </a:endParaRPr>
          </a:p>
          <a:p>
            <a:pPr indent="0" lvl="0" marL="0" rtl="0" algn="l">
              <a:lnSpc>
                <a:spcPct val="115000"/>
              </a:lnSpc>
              <a:spcBef>
                <a:spcPts val="1200"/>
              </a:spcBef>
              <a:spcAft>
                <a:spcPts val="0"/>
              </a:spcAft>
              <a:buNone/>
            </a:pPr>
            <a:r>
              <a:rPr lang="es">
                <a:solidFill>
                  <a:schemeClr val="dk1"/>
                </a:solidFill>
              </a:rPr>
              <a:t>Este flujo muestra cómo, a partir de patrones o múltiples incidentes similares, se inicia un problema. El análisis de causa raíz (RCA) es fundamental, y puede implicar revisión de logs, configuración, patrones o procesos.</a:t>
            </a:r>
            <a:endParaRPr>
              <a:solidFill>
                <a:schemeClr val="dk1"/>
              </a:solidFill>
            </a:endParaRPr>
          </a:p>
          <a:p>
            <a:pPr indent="0" lvl="0" marL="0" rtl="0" algn="l">
              <a:lnSpc>
                <a:spcPct val="115000"/>
              </a:lnSpc>
              <a:spcBef>
                <a:spcPts val="1200"/>
              </a:spcBef>
              <a:spcAft>
                <a:spcPts val="0"/>
              </a:spcAft>
              <a:buNone/>
            </a:pPr>
            <a:r>
              <a:rPr lang="es">
                <a:solidFill>
                  <a:schemeClr val="dk1"/>
                </a:solidFill>
              </a:rPr>
              <a:t>Si no se puede corregir de inmediato, se documenta el workaround y se lo publica para acelerar futuras resoluciones.</a:t>
            </a:r>
            <a:endParaRPr>
              <a:solidFill>
                <a:schemeClr val="dk1"/>
              </a:solidFill>
            </a:endParaRPr>
          </a:p>
          <a:p>
            <a:pPr indent="0" lvl="0" marL="0" rtl="0" algn="l">
              <a:lnSpc>
                <a:spcPct val="115000"/>
              </a:lnSpc>
              <a:spcBef>
                <a:spcPts val="1200"/>
              </a:spcBef>
              <a:spcAft>
                <a:spcPts val="0"/>
              </a:spcAft>
              <a:buNone/>
            </a:pPr>
            <a:r>
              <a:rPr lang="es">
                <a:solidFill>
                  <a:schemeClr val="dk1"/>
                </a:solidFill>
              </a:rPr>
              <a:t>Una vez que se encuentra la causa y solución definitiva, se gestiona el cambio correspondiente y se mide el impacto.</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1200"/>
              </a:spcAft>
              <a:buSzPts val="1100"/>
              <a:buNone/>
            </a:pPr>
            <a:r>
              <a:t/>
            </a:r>
            <a:endParaRPr/>
          </a:p>
        </p:txBody>
      </p:sp>
      <p:sp>
        <p:nvSpPr>
          <p:cNvPr id="261" name="Google Shape;261;g356d56908db_0_1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56d56908db_0_1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None/>
            </a:pPr>
            <a:r>
              <a:rPr b="1" lang="es">
                <a:solidFill>
                  <a:schemeClr val="dk1"/>
                </a:solidFill>
              </a:rPr>
              <a:t>Que se busca con un dashboard integral??</a:t>
            </a:r>
            <a:endParaRPr b="1">
              <a:solidFill>
                <a:schemeClr val="dk1"/>
              </a:solidFill>
            </a:endParaRPr>
          </a:p>
          <a:p>
            <a:pPr indent="0" lvl="0" marL="381000" marR="381000" rtl="0" algn="l">
              <a:lnSpc>
                <a:spcPct val="115000"/>
              </a:lnSpc>
              <a:spcBef>
                <a:spcPts val="1200"/>
              </a:spcBef>
              <a:spcAft>
                <a:spcPts val="0"/>
              </a:spcAft>
              <a:buNone/>
            </a:pPr>
            <a:r>
              <a:t/>
            </a:r>
            <a:endParaRPr b="1">
              <a:solidFill>
                <a:schemeClr val="dk1"/>
              </a:solidFill>
            </a:endParaRPr>
          </a:p>
          <a:p>
            <a:pPr indent="0" lvl="0" marL="381000" marR="381000" rtl="0" algn="l">
              <a:lnSpc>
                <a:spcPct val="115000"/>
              </a:lnSpc>
              <a:spcBef>
                <a:spcPts val="1200"/>
              </a:spcBef>
              <a:spcAft>
                <a:spcPts val="0"/>
              </a:spcAft>
              <a:buNone/>
            </a:pPr>
            <a:r>
              <a:rPr lang="es">
                <a:solidFill>
                  <a:schemeClr val="dk1"/>
                </a:solidFill>
              </a:rPr>
              <a:t>Mostrar </a:t>
            </a:r>
            <a:r>
              <a:rPr b="1" lang="es">
                <a:solidFill>
                  <a:schemeClr val="dk1"/>
                </a:solidFill>
              </a:rPr>
              <a:t>en una única vista</a:t>
            </a:r>
            <a:r>
              <a:rPr lang="es">
                <a:solidFill>
                  <a:schemeClr val="dk1"/>
                </a:solidFill>
              </a:rPr>
              <a:t> cómo incidentes, cambios, problemas y conocimiento interactúan, se correlacionan y afectan la experiencia del usuario y la estabilidad del servicio.</a:t>
            </a:r>
            <a:endParaRPr>
              <a:solidFill>
                <a:schemeClr val="dk1"/>
              </a:solidFill>
            </a:endParaRPr>
          </a:p>
          <a:p>
            <a:pPr indent="0" lvl="0" marL="381000" marR="381000" rtl="0" algn="l">
              <a:lnSpc>
                <a:spcPct val="115000"/>
              </a:lnSpc>
              <a:spcBef>
                <a:spcPts val="1200"/>
              </a:spcBef>
              <a:spcAft>
                <a:spcPts val="0"/>
              </a:spcAft>
              <a:buNone/>
            </a:pPr>
            <a:r>
              <a:t/>
            </a:r>
            <a:endParaRPr>
              <a:solidFill>
                <a:schemeClr val="dk1"/>
              </a:solidFill>
            </a:endParaRPr>
          </a:p>
          <a:p>
            <a:pPr indent="0" lvl="0" marL="381000" marR="38100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rPr b="1" lang="es">
                <a:solidFill>
                  <a:schemeClr val="dk1"/>
                </a:solidFill>
              </a:rPr>
              <a:t>Detección: Repetición diaria en incidentes.</a:t>
            </a:r>
            <a:br>
              <a:rPr b="1" lang="es">
                <a:solidFill>
                  <a:schemeClr val="dk1"/>
                </a:solidFill>
              </a:rPr>
            </a:br>
            <a:endParaRPr b="1">
              <a:solidFill>
                <a:schemeClr val="dk1"/>
              </a:solidFill>
            </a:endParaRPr>
          </a:p>
          <a:p>
            <a:pPr indent="0" lvl="0" marL="0" rtl="0" algn="l">
              <a:lnSpc>
                <a:spcPct val="115000"/>
              </a:lnSpc>
              <a:spcBef>
                <a:spcPts val="1200"/>
              </a:spcBef>
              <a:spcAft>
                <a:spcPts val="0"/>
              </a:spcAft>
              <a:buNone/>
            </a:pPr>
            <a:r>
              <a:rPr lang="es">
                <a:solidFill>
                  <a:schemeClr val="dk1"/>
                </a:solidFill>
              </a:rPr>
              <a:t>RCA: Análisis revela script de mantenimiento que reinicia red.</a:t>
            </a:r>
            <a:br>
              <a:rPr lang="es">
                <a:solidFill>
                  <a:schemeClr val="dk1"/>
                </a:solidFill>
              </a:rPr>
            </a:br>
            <a:r>
              <a:rPr lang="es">
                <a:solidFill>
                  <a:schemeClr val="dk1"/>
                </a:solidFill>
              </a:rPr>
              <a:t>Workaround: Reprogramación del script a fuera de horario.</a:t>
            </a:r>
            <a:br>
              <a:rPr lang="es">
                <a:solidFill>
                  <a:schemeClr val="dk1"/>
                </a:solidFill>
              </a:rPr>
            </a:br>
            <a:r>
              <a:rPr lang="es">
                <a:solidFill>
                  <a:schemeClr val="dk1"/>
                </a:solidFill>
              </a:rPr>
              <a:t>Solución: Revisión de scripts con control de CAB.</a:t>
            </a:r>
            <a:br>
              <a:rPr lang="es">
                <a:solidFill>
                  <a:schemeClr val="dk1"/>
                </a:solidFill>
              </a:rPr>
            </a:br>
            <a:r>
              <a:rPr lang="es">
                <a:solidFill>
                  <a:schemeClr val="dk1"/>
                </a:solidFill>
              </a:rPr>
              <a:t>Resultado: Incidentes bajan un 70% en el siguiente mes.</a:t>
            </a:r>
            <a:endParaRPr>
              <a:solidFill>
                <a:schemeClr val="dk1"/>
              </a:solidFill>
            </a:endParaRPr>
          </a:p>
          <a:p>
            <a:pPr indent="0" lvl="0" marL="0" rtl="0" algn="l">
              <a:lnSpc>
                <a:spcPct val="115000"/>
              </a:lnSpc>
              <a:spcBef>
                <a:spcPts val="1200"/>
              </a:spcBef>
              <a:spcAft>
                <a:spcPts val="0"/>
              </a:spcAft>
              <a:buNone/>
            </a:pPr>
            <a:r>
              <a:rPr lang="es">
                <a:solidFill>
                  <a:schemeClr val="dk1"/>
                </a:solidFill>
              </a:rPr>
              <a:t>Este flujo muestra cómo, a partir de patrones o múltiples incidentes similares, se inicia un problema. El análisis de causa raíz (RCA) es fundamental, y puede implicar revisión de logs, configuración, patrones o procesos.</a:t>
            </a:r>
            <a:endParaRPr>
              <a:solidFill>
                <a:schemeClr val="dk1"/>
              </a:solidFill>
            </a:endParaRPr>
          </a:p>
          <a:p>
            <a:pPr indent="0" lvl="0" marL="0" rtl="0" algn="l">
              <a:lnSpc>
                <a:spcPct val="115000"/>
              </a:lnSpc>
              <a:spcBef>
                <a:spcPts val="1200"/>
              </a:spcBef>
              <a:spcAft>
                <a:spcPts val="0"/>
              </a:spcAft>
              <a:buNone/>
            </a:pPr>
            <a:r>
              <a:rPr lang="es">
                <a:solidFill>
                  <a:schemeClr val="dk1"/>
                </a:solidFill>
              </a:rPr>
              <a:t>Si no se puede corregir de inmediato, se documenta el workaround y se lo publica para acelerar futuras resoluciones.</a:t>
            </a:r>
            <a:endParaRPr>
              <a:solidFill>
                <a:schemeClr val="dk1"/>
              </a:solidFill>
            </a:endParaRPr>
          </a:p>
          <a:p>
            <a:pPr indent="0" lvl="0" marL="0" rtl="0" algn="l">
              <a:lnSpc>
                <a:spcPct val="115000"/>
              </a:lnSpc>
              <a:spcBef>
                <a:spcPts val="1200"/>
              </a:spcBef>
              <a:spcAft>
                <a:spcPts val="0"/>
              </a:spcAft>
              <a:buNone/>
            </a:pPr>
            <a:r>
              <a:rPr lang="es">
                <a:solidFill>
                  <a:schemeClr val="dk1"/>
                </a:solidFill>
              </a:rPr>
              <a:t>Una vez que se encuentra la causa y solución definitiva, se gestiona el cambio correspondiente y se mide el impacto.</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1200"/>
              </a:spcAft>
              <a:buSzPts val="1100"/>
              <a:buNone/>
            </a:pPr>
            <a:r>
              <a:t/>
            </a:r>
            <a:endParaRPr/>
          </a:p>
        </p:txBody>
      </p:sp>
      <p:sp>
        <p:nvSpPr>
          <p:cNvPr id="270" name="Google Shape;270;g356d56908db_0_1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SzPts val="1100"/>
              <a:buNone/>
            </a:pPr>
            <a:r>
              <a:rPr b="1" lang="es" sz="1200">
                <a:solidFill>
                  <a:srgbClr val="595959"/>
                </a:solidFill>
              </a:rPr>
              <a:t>ITIL es un marco de trabajo que recopila buenas prácticas para gestionar servicios de tecnología de la información.</a:t>
            </a:r>
            <a:endParaRPr b="1" sz="1200">
              <a:solidFill>
                <a:srgbClr val="595959"/>
              </a:solidFill>
            </a:endParaRPr>
          </a:p>
          <a:p>
            <a:pPr indent="0" lvl="0" marL="0" rtl="0" algn="just">
              <a:lnSpc>
                <a:spcPct val="150000"/>
              </a:lnSpc>
              <a:spcBef>
                <a:spcPts val="0"/>
              </a:spcBef>
              <a:spcAft>
                <a:spcPts val="0"/>
              </a:spcAft>
              <a:buSzPts val="1100"/>
              <a:buNone/>
            </a:pPr>
            <a:r>
              <a:t/>
            </a:r>
            <a:endParaRPr b="1" sz="1200">
              <a:solidFill>
                <a:srgbClr val="595959"/>
              </a:solidFill>
            </a:endParaRPr>
          </a:p>
          <a:p>
            <a:pPr indent="0" lvl="0" marL="0" rtl="0" algn="just">
              <a:lnSpc>
                <a:spcPct val="100000"/>
              </a:lnSpc>
              <a:spcBef>
                <a:spcPts val="0"/>
              </a:spcBef>
              <a:spcAft>
                <a:spcPts val="0"/>
              </a:spcAft>
              <a:buSzPts val="1100"/>
              <a:buNone/>
            </a:pPr>
            <a:r>
              <a:rPr lang="es" sz="1200">
                <a:solidFill>
                  <a:srgbClr val="595959"/>
                </a:solidFill>
              </a:rPr>
              <a:t>Todas estas dimensiones deben ser equilibradas para que el servicio sea exitoso.</a:t>
            </a:r>
            <a:endParaRPr sz="1200">
              <a:solidFill>
                <a:srgbClr val="595959"/>
              </a:solidFill>
            </a:endParaRPr>
          </a:p>
          <a:p>
            <a:pPr indent="0" lvl="0" marL="0" rtl="0" algn="just">
              <a:lnSpc>
                <a:spcPct val="100000"/>
              </a:lnSpc>
              <a:spcBef>
                <a:spcPts val="0"/>
              </a:spcBef>
              <a:spcAft>
                <a:spcPts val="0"/>
              </a:spcAft>
              <a:buSzPts val="1100"/>
              <a:buNone/>
            </a:pPr>
            <a:r>
              <a:t/>
            </a:r>
            <a:endParaRPr sz="1200">
              <a:solidFill>
                <a:srgbClr val="595959"/>
              </a:solidFill>
            </a:endParaRPr>
          </a:p>
          <a:p>
            <a:pPr indent="-304800" lvl="0" marL="457200" rtl="0" algn="just">
              <a:lnSpc>
                <a:spcPct val="150000"/>
              </a:lnSpc>
              <a:spcBef>
                <a:spcPts val="0"/>
              </a:spcBef>
              <a:spcAft>
                <a:spcPts val="0"/>
              </a:spcAft>
              <a:buClr>
                <a:srgbClr val="595959"/>
              </a:buClr>
              <a:buSzPts val="1200"/>
              <a:buChar char="❖"/>
            </a:pPr>
            <a:r>
              <a:rPr lang="es" sz="1200">
                <a:solidFill>
                  <a:srgbClr val="595959"/>
                </a:solidFill>
              </a:rPr>
              <a:t>Organizaciones y Personas</a:t>
            </a:r>
            <a:endParaRPr sz="1200">
              <a:solidFill>
                <a:srgbClr val="595959"/>
              </a:solidFill>
            </a:endParaRPr>
          </a:p>
          <a:p>
            <a:pPr indent="-304800" lvl="0" marL="457200" rtl="0" algn="just">
              <a:lnSpc>
                <a:spcPct val="150000"/>
              </a:lnSpc>
              <a:spcBef>
                <a:spcPts val="0"/>
              </a:spcBef>
              <a:spcAft>
                <a:spcPts val="0"/>
              </a:spcAft>
              <a:buClr>
                <a:srgbClr val="595959"/>
              </a:buClr>
              <a:buSzPts val="1200"/>
              <a:buChar char="❖"/>
            </a:pPr>
            <a:r>
              <a:rPr lang="es" sz="1200">
                <a:solidFill>
                  <a:srgbClr val="595959"/>
                </a:solidFill>
              </a:rPr>
              <a:t>Información y Tecnología</a:t>
            </a:r>
            <a:endParaRPr sz="1200">
              <a:solidFill>
                <a:srgbClr val="595959"/>
              </a:solidFill>
            </a:endParaRPr>
          </a:p>
          <a:p>
            <a:pPr indent="-304800" lvl="0" marL="457200" rtl="0" algn="just">
              <a:lnSpc>
                <a:spcPct val="150000"/>
              </a:lnSpc>
              <a:spcBef>
                <a:spcPts val="0"/>
              </a:spcBef>
              <a:spcAft>
                <a:spcPts val="0"/>
              </a:spcAft>
              <a:buClr>
                <a:srgbClr val="595959"/>
              </a:buClr>
              <a:buSzPts val="1200"/>
              <a:buChar char="❖"/>
            </a:pPr>
            <a:r>
              <a:rPr lang="es" sz="1200">
                <a:solidFill>
                  <a:srgbClr val="595959"/>
                </a:solidFill>
              </a:rPr>
              <a:t>Socios y Proveedores</a:t>
            </a:r>
            <a:endParaRPr sz="1200">
              <a:solidFill>
                <a:srgbClr val="595959"/>
              </a:solidFill>
            </a:endParaRPr>
          </a:p>
          <a:p>
            <a:pPr indent="-304800" lvl="0" marL="457200" rtl="0" algn="just">
              <a:lnSpc>
                <a:spcPct val="150000"/>
              </a:lnSpc>
              <a:spcBef>
                <a:spcPts val="0"/>
              </a:spcBef>
              <a:spcAft>
                <a:spcPts val="0"/>
              </a:spcAft>
              <a:buClr>
                <a:srgbClr val="595959"/>
              </a:buClr>
              <a:buSzPts val="1200"/>
              <a:buChar char="❖"/>
            </a:pPr>
            <a:r>
              <a:rPr lang="es" sz="1200">
                <a:solidFill>
                  <a:srgbClr val="595959"/>
                </a:solidFill>
              </a:rPr>
              <a:t>Flujos de Valor y Procesos</a:t>
            </a:r>
            <a:endParaRPr sz="1200">
              <a:solidFill>
                <a:srgbClr val="595959"/>
              </a:solidFill>
            </a:endParaRPr>
          </a:p>
          <a:p>
            <a:pPr indent="0" lvl="0" marL="0" rtl="0" algn="just">
              <a:lnSpc>
                <a:spcPct val="150000"/>
              </a:lnSpc>
              <a:spcBef>
                <a:spcPts val="0"/>
              </a:spcBef>
              <a:spcAft>
                <a:spcPts val="0"/>
              </a:spcAft>
              <a:buSzPts val="1100"/>
              <a:buNone/>
            </a:pPr>
            <a:r>
              <a:t/>
            </a:r>
            <a:endParaRPr sz="1200">
              <a:solidFill>
                <a:srgbClr val="595959"/>
              </a:solidFill>
            </a:endParaRPr>
          </a:p>
          <a:p>
            <a:pPr indent="0" lvl="0" marL="0" rtl="0" algn="just">
              <a:lnSpc>
                <a:spcPct val="150000"/>
              </a:lnSpc>
              <a:spcBef>
                <a:spcPts val="0"/>
              </a:spcBef>
              <a:spcAft>
                <a:spcPts val="0"/>
              </a:spcAft>
              <a:buSzPts val="1100"/>
              <a:buNone/>
            </a:pPr>
            <a:r>
              <a:rPr lang="es" sz="1200">
                <a:solidFill>
                  <a:srgbClr val="595959"/>
                </a:solidFill>
              </a:rPr>
              <a:t>El concepto de itil tiene sus componentes principales en: </a:t>
            </a:r>
            <a:endParaRPr sz="1200">
              <a:solidFill>
                <a:srgbClr val="595959"/>
              </a:solidFill>
            </a:endParaRPr>
          </a:p>
          <a:p>
            <a:pPr indent="0" lvl="0" marL="0" rtl="0" algn="just">
              <a:lnSpc>
                <a:spcPct val="150000"/>
              </a:lnSpc>
              <a:spcBef>
                <a:spcPts val="0"/>
              </a:spcBef>
              <a:spcAft>
                <a:spcPts val="0"/>
              </a:spcAft>
              <a:buSzPts val="1100"/>
              <a:buNone/>
            </a:pPr>
            <a:r>
              <a:t/>
            </a:r>
            <a:endParaRPr sz="1200">
              <a:solidFill>
                <a:srgbClr val="595959"/>
              </a:solidFill>
            </a:endParaRPr>
          </a:p>
          <a:p>
            <a:pPr indent="-304800" lvl="0" marL="457200" rtl="0" algn="just">
              <a:lnSpc>
                <a:spcPct val="200000"/>
              </a:lnSpc>
              <a:spcBef>
                <a:spcPts val="0"/>
              </a:spcBef>
              <a:spcAft>
                <a:spcPts val="0"/>
              </a:spcAft>
              <a:buClr>
                <a:srgbClr val="595959"/>
              </a:buClr>
              <a:buSzPts val="1200"/>
              <a:buChar char="❖"/>
            </a:pPr>
            <a:r>
              <a:rPr lang="es" sz="1200">
                <a:solidFill>
                  <a:srgbClr val="595959"/>
                </a:solidFill>
              </a:rPr>
              <a:t>Cadena de Valor de Servicio (SVC)</a:t>
            </a:r>
            <a:endParaRPr sz="1200">
              <a:solidFill>
                <a:srgbClr val="595959"/>
              </a:solidFill>
            </a:endParaRPr>
          </a:p>
          <a:p>
            <a:pPr indent="-304800" lvl="0" marL="457200" rtl="0" algn="just">
              <a:lnSpc>
                <a:spcPct val="200000"/>
              </a:lnSpc>
              <a:spcBef>
                <a:spcPts val="0"/>
              </a:spcBef>
              <a:spcAft>
                <a:spcPts val="0"/>
              </a:spcAft>
              <a:buClr>
                <a:srgbClr val="595959"/>
              </a:buClr>
              <a:buSzPts val="1200"/>
              <a:buChar char="❖"/>
            </a:pPr>
            <a:r>
              <a:rPr lang="es" sz="1200">
                <a:solidFill>
                  <a:srgbClr val="595959"/>
                </a:solidFill>
              </a:rPr>
              <a:t>Prácticas →</a:t>
            </a:r>
            <a:r>
              <a:rPr b="1" lang="es" sz="1200">
                <a:solidFill>
                  <a:srgbClr val="595959"/>
                </a:solidFill>
              </a:rPr>
              <a:t>Son reglas prácticas y universales que ayudan a aplicar ITIL de forma efectiva.</a:t>
            </a:r>
            <a:endParaRPr sz="1200">
              <a:solidFill>
                <a:srgbClr val="595959"/>
              </a:solidFill>
            </a:endParaRPr>
          </a:p>
          <a:p>
            <a:pPr indent="-304800" lvl="0" marL="457200" rtl="0" algn="just">
              <a:lnSpc>
                <a:spcPct val="200000"/>
              </a:lnSpc>
              <a:spcBef>
                <a:spcPts val="0"/>
              </a:spcBef>
              <a:spcAft>
                <a:spcPts val="0"/>
              </a:spcAft>
              <a:buClr>
                <a:srgbClr val="595959"/>
              </a:buClr>
              <a:buSzPts val="1200"/>
              <a:buChar char="❖"/>
            </a:pPr>
            <a:r>
              <a:rPr lang="es" sz="1200">
                <a:solidFill>
                  <a:srgbClr val="595959"/>
                </a:solidFill>
              </a:rPr>
              <a:t>Principios guías (o también llamadas principios rectores)</a:t>
            </a:r>
            <a:endParaRPr sz="1200">
              <a:solidFill>
                <a:srgbClr val="595959"/>
              </a:solidFill>
            </a:endParaRPr>
          </a:p>
          <a:p>
            <a:pPr indent="-304800" lvl="0" marL="457200" rtl="0" algn="just">
              <a:lnSpc>
                <a:spcPct val="200000"/>
              </a:lnSpc>
              <a:spcBef>
                <a:spcPts val="0"/>
              </a:spcBef>
              <a:spcAft>
                <a:spcPts val="0"/>
              </a:spcAft>
              <a:buClr>
                <a:srgbClr val="595959"/>
              </a:buClr>
              <a:buSzPts val="1200"/>
              <a:buChar char="❖"/>
            </a:pPr>
            <a:r>
              <a:rPr lang="es" sz="1200">
                <a:solidFill>
                  <a:srgbClr val="595959"/>
                </a:solidFill>
              </a:rPr>
              <a:t>Gobierno</a:t>
            </a:r>
            <a:endParaRPr sz="1200">
              <a:solidFill>
                <a:srgbClr val="595959"/>
              </a:solidFill>
            </a:endParaRPr>
          </a:p>
          <a:p>
            <a:pPr indent="-304800" lvl="0" marL="457200" rtl="0" algn="just">
              <a:lnSpc>
                <a:spcPct val="200000"/>
              </a:lnSpc>
              <a:spcBef>
                <a:spcPts val="0"/>
              </a:spcBef>
              <a:spcAft>
                <a:spcPts val="0"/>
              </a:spcAft>
              <a:buClr>
                <a:srgbClr val="595959"/>
              </a:buClr>
              <a:buSzPts val="1200"/>
              <a:buChar char="❖"/>
            </a:pPr>
            <a:r>
              <a:rPr lang="es" sz="1200">
                <a:solidFill>
                  <a:srgbClr val="595959"/>
                </a:solidFill>
              </a:rPr>
              <a:t>Mejora Continua.</a:t>
            </a:r>
            <a:endParaRPr sz="1200">
              <a:solidFill>
                <a:srgbClr val="595959"/>
              </a:solidFill>
            </a:endParaRPr>
          </a:p>
          <a:p>
            <a:pPr indent="0" lvl="0" marL="0" rtl="0" algn="just">
              <a:lnSpc>
                <a:spcPct val="150000"/>
              </a:lnSpc>
              <a:spcBef>
                <a:spcPts val="0"/>
              </a:spcBef>
              <a:spcAft>
                <a:spcPts val="0"/>
              </a:spcAft>
              <a:buSzPts val="1100"/>
              <a:buNone/>
            </a:pPr>
            <a:r>
              <a:t/>
            </a:r>
            <a:endParaRPr sz="1200">
              <a:solidFill>
                <a:srgbClr val="595959"/>
              </a:solidFill>
            </a:endParaRPr>
          </a:p>
          <a:p>
            <a:pPr indent="0" lvl="0" marL="0" rtl="0" algn="just">
              <a:lnSpc>
                <a:spcPct val="100000"/>
              </a:lnSpc>
              <a:spcBef>
                <a:spcPts val="0"/>
              </a:spcBef>
              <a:spcAft>
                <a:spcPts val="0"/>
              </a:spcAft>
              <a:buSzPts val="1100"/>
              <a:buNone/>
            </a:pPr>
            <a:r>
              <a:t/>
            </a:r>
            <a:endParaRPr sz="1200">
              <a:solidFill>
                <a:srgbClr val="595959"/>
              </a:solidFill>
            </a:endParaRPr>
          </a:p>
          <a:p>
            <a:pPr indent="0" lvl="0" marL="0" rtl="0" algn="just">
              <a:lnSpc>
                <a:spcPct val="100000"/>
              </a:lnSpc>
              <a:spcBef>
                <a:spcPts val="0"/>
              </a:spcBef>
              <a:spcAft>
                <a:spcPts val="0"/>
              </a:spcAft>
              <a:buClr>
                <a:schemeClr val="dk1"/>
              </a:buClr>
              <a:buSzPts val="1100"/>
              <a:buFont typeface="Arial"/>
              <a:buNone/>
            </a:pPr>
            <a:r>
              <a:t/>
            </a:r>
            <a:endParaRPr b="1" sz="1200">
              <a:solidFill>
                <a:srgbClr val="595959"/>
              </a:solidFill>
            </a:endParaRPr>
          </a:p>
        </p:txBody>
      </p:sp>
      <p:sp>
        <p:nvSpPr>
          <p:cNvPr id="279" name="Google Shape;279;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3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 name="Google Shape;15;p30"/>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 name="Google Shape;16;p3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7" name="Google Shape;17;p3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8" name="Google Shape;18;p3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31"/>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1" name="Google Shape;21;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 name="Shape 22"/>
        <p:cNvGrpSpPr/>
        <p:nvPr/>
      </p:nvGrpSpPr>
      <p:grpSpPr>
        <a:xfrm>
          <a:off x="0" y="0"/>
          <a:ext cx="0" cy="0"/>
          <a:chOff x="0" y="0"/>
          <a:chExt cx="0" cy="0"/>
        </a:xfrm>
      </p:grpSpPr>
      <p:sp>
        <p:nvSpPr>
          <p:cNvPr id="23" name="Google Shape;23;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3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5" name="Google Shape;25;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8" name="Google Shape;28;p33"/>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9" name="Google Shape;29;p33"/>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0" name="Google Shape;30;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3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3" name="Google Shape;33;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sp>
        <p:nvSpPr>
          <p:cNvPr id="35" name="Google Shape;35;p35"/>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6" name="Google Shape;36;p35"/>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7" name="Google Shape;37;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8" name="Shape 38"/>
        <p:cNvGrpSpPr/>
        <p:nvPr/>
      </p:nvGrpSpPr>
      <p:grpSpPr>
        <a:xfrm>
          <a:off x="0" y="0"/>
          <a:ext cx="0" cy="0"/>
          <a:chOff x="0" y="0"/>
          <a:chExt cx="0" cy="0"/>
        </a:xfrm>
      </p:grpSpPr>
      <p:sp>
        <p:nvSpPr>
          <p:cNvPr id="39" name="Google Shape;39;p3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0" name="Google Shape;40;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37"/>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37"/>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4" name="Google Shape;44;p37"/>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5" name="Google Shape;45;p37"/>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6" name="Google Shape;46;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7" name="Shape 47"/>
        <p:cNvGrpSpPr/>
        <p:nvPr/>
      </p:nvGrpSpPr>
      <p:grpSpPr>
        <a:xfrm>
          <a:off x="0" y="0"/>
          <a:ext cx="0" cy="0"/>
          <a:chOff x="0" y="0"/>
          <a:chExt cx="0" cy="0"/>
        </a:xfrm>
      </p:grpSpPr>
      <p:sp>
        <p:nvSpPr>
          <p:cNvPr id="48" name="Google Shape;48;p38"/>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9" name="Google Shape;49;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0" name="Shape 50"/>
        <p:cNvGrpSpPr/>
        <p:nvPr/>
      </p:nvGrpSpPr>
      <p:grpSpPr>
        <a:xfrm>
          <a:off x="0" y="0"/>
          <a:ext cx="0" cy="0"/>
          <a:chOff x="0" y="0"/>
          <a:chExt cx="0" cy="0"/>
        </a:xfrm>
      </p:grpSpPr>
      <p:sp>
        <p:nvSpPr>
          <p:cNvPr id="51" name="Google Shape;51;p39"/>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2" name="Google Shape;52;p39"/>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3" name="Google Shape;53;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 name="Shape 59"/>
        <p:cNvGrpSpPr/>
        <p:nvPr/>
      </p:nvGrpSpPr>
      <p:grpSpPr>
        <a:xfrm>
          <a:off x="0" y="0"/>
          <a:ext cx="0" cy="0"/>
          <a:chOff x="0" y="0"/>
          <a:chExt cx="0" cy="0"/>
        </a:xfrm>
      </p:grpSpPr>
      <p:sp>
        <p:nvSpPr>
          <p:cNvPr id="60" name="Google Shape;60;p1"/>
          <p:cNvSpPr txBox="1"/>
          <p:nvPr/>
        </p:nvSpPr>
        <p:spPr>
          <a:xfrm>
            <a:off x="883825" y="1085950"/>
            <a:ext cx="6982800" cy="13776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chemeClr val="dk1"/>
              </a:buClr>
              <a:buSzPts val="1100"/>
              <a:buFont typeface="Arial"/>
              <a:buNone/>
            </a:pPr>
            <a:r>
              <a:rPr b="1" i="0" lang="es" sz="2600" u="none" cap="none" strike="noStrike">
                <a:solidFill>
                  <a:schemeClr val="dk1"/>
                </a:solidFill>
                <a:latin typeface="Arial"/>
                <a:ea typeface="Arial"/>
                <a:cs typeface="Arial"/>
                <a:sym typeface="Arial"/>
              </a:rPr>
              <a:t>Gestión de Servicios de Información (GSI)</a:t>
            </a:r>
            <a:endParaRPr b="1" i="0" sz="2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chemeClr val="dk1"/>
                </a:solidFill>
                <a:latin typeface="Arial"/>
                <a:ea typeface="Arial"/>
                <a:cs typeface="Arial"/>
                <a:sym typeface="Arial"/>
              </a:rPr>
              <a:t> Licenciatura en Ciberdefensa – Universidad de la Defensa Nacional</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1"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1"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 sz="1300" u="none" cap="none" strike="noStrike">
                <a:solidFill>
                  <a:schemeClr val="dk1"/>
                </a:solidFill>
                <a:latin typeface="Arial"/>
                <a:ea typeface="Arial"/>
                <a:cs typeface="Arial"/>
                <a:sym typeface="Arial"/>
              </a:rPr>
              <a:t> Docentes: Alejandro Fioretti - Flavio Alfano</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500"/>
              <a:buFont typeface="Arial"/>
              <a:buNone/>
            </a:pPr>
            <a:r>
              <a:rPr b="0" i="0" lang="es" sz="1300" u="none" cap="none" strike="noStrike">
                <a:solidFill>
                  <a:schemeClr val="dk1"/>
                </a:solidFill>
                <a:latin typeface="Arial"/>
                <a:ea typeface="Arial"/>
                <a:cs typeface="Arial"/>
                <a:sym typeface="Arial"/>
              </a:rPr>
              <a:t> Clase </a:t>
            </a:r>
            <a:r>
              <a:rPr lang="es" sz="1300">
                <a:solidFill>
                  <a:schemeClr val="dk1"/>
                </a:solidFill>
              </a:rPr>
              <a:t>6</a:t>
            </a:r>
            <a:r>
              <a:rPr b="0" i="0" lang="es" sz="1300" u="none" cap="none" strike="noStrike">
                <a:solidFill>
                  <a:schemeClr val="dk1"/>
                </a:solidFill>
                <a:latin typeface="Arial"/>
                <a:ea typeface="Arial"/>
                <a:cs typeface="Arial"/>
                <a:sym typeface="Arial"/>
              </a:rPr>
              <a:t>: </a:t>
            </a:r>
            <a:r>
              <a:rPr lang="es" sz="1300">
                <a:solidFill>
                  <a:schemeClr val="dk1"/>
                </a:solidFill>
              </a:rPr>
              <a:t>Servicios de información y su impacto organizacional)</a:t>
            </a:r>
            <a:r>
              <a:rPr b="0" i="0" lang="es" sz="1300" u="none" cap="none" strike="noStrike">
                <a:solidFill>
                  <a:schemeClr val="dk1"/>
                </a:solidFill>
                <a:latin typeface="Arial"/>
                <a:ea typeface="Arial"/>
                <a:cs typeface="Arial"/>
                <a:sym typeface="Arial"/>
              </a:rPr>
              <a:t> </a:t>
            </a:r>
            <a:endParaRPr b="1" i="0" sz="4700" u="none" cap="none" strike="noStrike">
              <a:solidFill>
                <a:srgbClr val="3A3838"/>
              </a:solidFill>
              <a:latin typeface="Arial"/>
              <a:ea typeface="Arial"/>
              <a:cs typeface="Arial"/>
              <a:sym typeface="Arial"/>
            </a:endParaRPr>
          </a:p>
        </p:txBody>
      </p:sp>
      <p:pic>
        <p:nvPicPr>
          <p:cNvPr id="61" name="Google Shape;61;p1"/>
          <p:cNvPicPr preferRelativeResize="0"/>
          <p:nvPr/>
        </p:nvPicPr>
        <p:blipFill rotWithShape="1">
          <a:blip r:embed="rId4">
            <a:alphaModFix/>
          </a:blip>
          <a:srcRect b="0" l="0" r="0" t="0"/>
          <a:stretch/>
        </p:blipFill>
        <p:spPr>
          <a:xfrm>
            <a:off x="7163714" y="4451106"/>
            <a:ext cx="1623849" cy="46335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2"/>
          <p:cNvSpPr/>
          <p:nvPr/>
        </p:nvSpPr>
        <p:spPr>
          <a:xfrm>
            <a:off x="622948" y="810200"/>
            <a:ext cx="4023000" cy="2769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1" i="0" lang="es" sz="1400" u="none" cap="none" strike="noStrike">
                <a:solidFill>
                  <a:schemeClr val="dk2"/>
                </a:solidFill>
                <a:latin typeface="Arial"/>
                <a:ea typeface="Arial"/>
                <a:cs typeface="Arial"/>
                <a:sym typeface="Arial"/>
              </a:rPr>
              <a:t>Objetivos de la clase</a:t>
            </a:r>
            <a:endParaRPr b="1" i="0" sz="1400" u="none" cap="none" strike="noStrike">
              <a:solidFill>
                <a:schemeClr val="dk2"/>
              </a:solidFill>
              <a:latin typeface="Arial"/>
              <a:ea typeface="Arial"/>
              <a:cs typeface="Arial"/>
              <a:sym typeface="Arial"/>
            </a:endParaRPr>
          </a:p>
        </p:txBody>
      </p:sp>
      <p:sp>
        <p:nvSpPr>
          <p:cNvPr id="67" name="Google Shape;67;p2"/>
          <p:cNvSpPr/>
          <p:nvPr/>
        </p:nvSpPr>
        <p:spPr>
          <a:xfrm>
            <a:off x="614600" y="1281700"/>
            <a:ext cx="7968300" cy="2250600"/>
          </a:xfrm>
          <a:prstGeom prst="rect">
            <a:avLst/>
          </a:prstGeom>
          <a:noFill/>
          <a:ln>
            <a:noFill/>
          </a:ln>
        </p:spPr>
        <p:txBody>
          <a:bodyPr anchorCtr="0" anchor="t" bIns="34275" lIns="68575" spcFirstLastPara="1" rIns="68575" wrap="square" tIns="34275">
            <a:noAutofit/>
          </a:bodyPr>
          <a:lstStyle/>
          <a:p>
            <a:pPr indent="-298450" lvl="0" marL="457200" marR="0" rtl="0" algn="just">
              <a:lnSpc>
                <a:spcPct val="150000"/>
              </a:lnSpc>
              <a:spcBef>
                <a:spcPts val="0"/>
              </a:spcBef>
              <a:spcAft>
                <a:spcPts val="0"/>
              </a:spcAft>
              <a:buClr>
                <a:schemeClr val="dk2"/>
              </a:buClr>
              <a:buSzPts val="1100"/>
              <a:buFont typeface="Arial"/>
              <a:buChar char="❖"/>
            </a:pPr>
            <a:r>
              <a:rPr lang="es" sz="1100">
                <a:solidFill>
                  <a:schemeClr val="dk2"/>
                </a:solidFill>
              </a:rPr>
              <a:t>Repaso  ITIL - Principales Componentes</a:t>
            </a:r>
            <a:r>
              <a:rPr b="0" i="0" lang="es" sz="1100" u="none" cap="none" strike="noStrike">
                <a:solidFill>
                  <a:schemeClr val="dk2"/>
                </a:solidFill>
                <a:latin typeface="Arial"/>
                <a:ea typeface="Arial"/>
                <a:cs typeface="Arial"/>
                <a:sym typeface="Arial"/>
              </a:rPr>
              <a:t>.</a:t>
            </a:r>
            <a:endParaRPr b="0" i="0" sz="1100" u="none" cap="none" strike="noStrike">
              <a:solidFill>
                <a:schemeClr val="dk2"/>
              </a:solidFill>
              <a:latin typeface="Arial"/>
              <a:ea typeface="Arial"/>
              <a:cs typeface="Arial"/>
              <a:sym typeface="Arial"/>
            </a:endParaRPr>
          </a:p>
          <a:p>
            <a:pPr indent="-298450" lvl="0" marL="457200" marR="0" rtl="0" algn="just">
              <a:lnSpc>
                <a:spcPct val="150000"/>
              </a:lnSpc>
              <a:spcBef>
                <a:spcPts val="0"/>
              </a:spcBef>
              <a:spcAft>
                <a:spcPts val="0"/>
              </a:spcAft>
              <a:buClr>
                <a:schemeClr val="dk2"/>
              </a:buClr>
              <a:buSzPts val="1100"/>
              <a:buFont typeface="Arial"/>
              <a:buChar char="❖"/>
            </a:pPr>
            <a:r>
              <a:rPr lang="es" sz="1100">
                <a:solidFill>
                  <a:schemeClr val="dk2"/>
                </a:solidFill>
              </a:rPr>
              <a:t>Casos Prácticos </a:t>
            </a:r>
            <a:endParaRPr sz="1100">
              <a:solidFill>
                <a:schemeClr val="dk2"/>
              </a:solidFill>
            </a:endParaRPr>
          </a:p>
          <a:p>
            <a:pPr indent="-298450" lvl="0" marL="457200" marR="0" rtl="0" algn="just">
              <a:lnSpc>
                <a:spcPct val="150000"/>
              </a:lnSpc>
              <a:spcBef>
                <a:spcPts val="0"/>
              </a:spcBef>
              <a:spcAft>
                <a:spcPts val="0"/>
              </a:spcAft>
              <a:buClr>
                <a:schemeClr val="dk2"/>
              </a:buClr>
              <a:buSzPts val="1100"/>
              <a:buChar char="❖"/>
            </a:pPr>
            <a:r>
              <a:rPr lang="es" sz="1100">
                <a:solidFill>
                  <a:schemeClr val="dk2"/>
                </a:solidFill>
              </a:rPr>
              <a:t>Implementación y Herramientas</a:t>
            </a:r>
            <a:endParaRPr sz="1100">
              <a:solidFill>
                <a:schemeClr val="dk2"/>
              </a:solidFill>
            </a:endParaRPr>
          </a:p>
          <a:p>
            <a:pPr indent="-298450" lvl="0" marL="457200" marR="0" rtl="0" algn="just">
              <a:lnSpc>
                <a:spcPct val="150000"/>
              </a:lnSpc>
              <a:spcBef>
                <a:spcPts val="0"/>
              </a:spcBef>
              <a:spcAft>
                <a:spcPts val="0"/>
              </a:spcAft>
              <a:buClr>
                <a:schemeClr val="dk2"/>
              </a:buClr>
              <a:buSzPts val="1100"/>
              <a:buChar char="❖"/>
            </a:pPr>
            <a:r>
              <a:rPr lang="es" sz="1100">
                <a:solidFill>
                  <a:schemeClr val="dk2"/>
                </a:solidFill>
              </a:rPr>
              <a:t>Flujos de </a:t>
            </a:r>
            <a:r>
              <a:rPr lang="es" sz="1100">
                <a:solidFill>
                  <a:schemeClr val="dk2"/>
                </a:solidFill>
              </a:rPr>
              <a:t>Ejemplo</a:t>
            </a:r>
            <a:r>
              <a:rPr lang="es" sz="1100">
                <a:solidFill>
                  <a:schemeClr val="dk2"/>
                </a:solidFill>
              </a:rPr>
              <a:t> en el marco de las Principales Prácticas</a:t>
            </a:r>
            <a:endParaRPr sz="1100">
              <a:solidFill>
                <a:schemeClr val="dk2"/>
              </a:solidFill>
            </a:endParaRPr>
          </a:p>
          <a:p>
            <a:pPr indent="-298450" lvl="0" marL="457200" marR="0" rtl="0" algn="just">
              <a:lnSpc>
                <a:spcPct val="150000"/>
              </a:lnSpc>
              <a:spcBef>
                <a:spcPts val="0"/>
              </a:spcBef>
              <a:spcAft>
                <a:spcPts val="0"/>
              </a:spcAft>
              <a:buClr>
                <a:schemeClr val="dk2"/>
              </a:buClr>
              <a:buSzPts val="1100"/>
              <a:buFont typeface="Arial"/>
              <a:buChar char="❖"/>
            </a:pPr>
            <a:r>
              <a:rPr lang="es" sz="1100">
                <a:solidFill>
                  <a:schemeClr val="dk2"/>
                </a:solidFill>
              </a:rPr>
              <a:t>Ejemplos de Dashboards para las </a:t>
            </a:r>
            <a:r>
              <a:rPr lang="es" sz="1100">
                <a:solidFill>
                  <a:schemeClr val="dk2"/>
                </a:solidFill>
              </a:rPr>
              <a:t>principales</a:t>
            </a:r>
            <a:r>
              <a:rPr lang="es" sz="1100">
                <a:solidFill>
                  <a:schemeClr val="dk2"/>
                </a:solidFill>
              </a:rPr>
              <a:t> Prácticas de ITIL</a:t>
            </a:r>
            <a:r>
              <a:rPr b="0" i="0" lang="es" sz="1100" u="none" cap="none" strike="noStrike">
                <a:solidFill>
                  <a:schemeClr val="dk2"/>
                </a:solidFill>
                <a:latin typeface="Arial"/>
                <a:ea typeface="Arial"/>
                <a:cs typeface="Arial"/>
                <a:sym typeface="Arial"/>
              </a:rPr>
              <a:t>.</a:t>
            </a:r>
            <a:endParaRPr b="0" i="0" sz="1100" u="none" cap="none" strike="noStrike">
              <a:solidFill>
                <a:schemeClr val="dk2"/>
              </a:solidFill>
              <a:latin typeface="Arial"/>
              <a:ea typeface="Arial"/>
              <a:cs typeface="Arial"/>
              <a:sym typeface="Arial"/>
            </a:endParaRPr>
          </a:p>
        </p:txBody>
      </p:sp>
      <p:sp>
        <p:nvSpPr>
          <p:cNvPr id="68" name="Google Shape;68;p2"/>
          <p:cNvSpPr/>
          <p:nvPr/>
        </p:nvSpPr>
        <p:spPr>
          <a:xfrm>
            <a:off x="614600" y="4669825"/>
            <a:ext cx="5741700" cy="463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3B4449"/>
                </a:solidFill>
                <a:latin typeface="Arial"/>
                <a:ea typeface="Arial"/>
                <a:cs typeface="Arial"/>
                <a:sym typeface="Arial"/>
              </a:rPr>
              <a:t>Fundamentos y principios de las metodologías de gestión </a:t>
            </a:r>
            <a:endParaRPr b="0" i="0" sz="1400" u="none" cap="none" strike="noStrike">
              <a:solidFill>
                <a:schemeClr val="dk2"/>
              </a:solidFill>
              <a:latin typeface="Arial"/>
              <a:ea typeface="Arial"/>
              <a:cs typeface="Arial"/>
              <a:sym typeface="Arial"/>
            </a:endParaRPr>
          </a:p>
        </p:txBody>
      </p:sp>
      <p:pic>
        <p:nvPicPr>
          <p:cNvPr id="69" name="Google Shape;69;p2"/>
          <p:cNvPicPr preferRelativeResize="0"/>
          <p:nvPr/>
        </p:nvPicPr>
        <p:blipFill rotWithShape="1">
          <a:blip r:embed="rId3">
            <a:alphaModFix/>
          </a:blip>
          <a:srcRect b="0" l="0" r="0" t="0"/>
          <a:stretch/>
        </p:blipFill>
        <p:spPr>
          <a:xfrm>
            <a:off x="7163714" y="4451106"/>
            <a:ext cx="1623849" cy="46335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pic>
        <p:nvPicPr>
          <p:cNvPr descr="C:\Users\Idiomas\Downloads\Fadena-Negativo-FondoClaro (1).png" id="74" name="Google Shape;74;p3"/>
          <p:cNvPicPr preferRelativeResize="0"/>
          <p:nvPr/>
        </p:nvPicPr>
        <p:blipFill rotWithShape="1">
          <a:blip r:embed="rId3">
            <a:alphaModFix/>
          </a:blip>
          <a:srcRect b="0" l="0" r="0" t="0"/>
          <a:stretch/>
        </p:blipFill>
        <p:spPr>
          <a:xfrm>
            <a:off x="939113" y="3534517"/>
            <a:ext cx="2094466" cy="586452"/>
          </a:xfrm>
          <a:prstGeom prst="rect">
            <a:avLst/>
          </a:prstGeom>
          <a:noFill/>
          <a:ln>
            <a:noFill/>
          </a:ln>
        </p:spPr>
      </p:pic>
      <p:sp>
        <p:nvSpPr>
          <p:cNvPr id="75" name="Google Shape;75;p3"/>
          <p:cNvSpPr/>
          <p:nvPr/>
        </p:nvSpPr>
        <p:spPr>
          <a:xfrm>
            <a:off x="622948" y="810196"/>
            <a:ext cx="4255500" cy="4635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1" lang="es">
                <a:solidFill>
                  <a:schemeClr val="dk2"/>
                </a:solidFill>
              </a:rPr>
              <a:t>ITIL - Repaso</a:t>
            </a:r>
            <a:endParaRPr b="1" i="0" sz="1400" u="none" cap="none" strike="noStrike">
              <a:solidFill>
                <a:schemeClr val="dk2"/>
              </a:solidFill>
              <a:latin typeface="Arial"/>
              <a:ea typeface="Arial"/>
              <a:cs typeface="Arial"/>
              <a:sym typeface="Arial"/>
            </a:endParaRPr>
          </a:p>
        </p:txBody>
      </p:sp>
      <p:sp>
        <p:nvSpPr>
          <p:cNvPr id="76" name="Google Shape;76;p3"/>
          <p:cNvSpPr/>
          <p:nvPr/>
        </p:nvSpPr>
        <p:spPr>
          <a:xfrm>
            <a:off x="610525" y="1281700"/>
            <a:ext cx="7898400" cy="1806900"/>
          </a:xfrm>
          <a:prstGeom prst="rect">
            <a:avLst/>
          </a:prstGeom>
          <a:noFill/>
          <a:ln>
            <a:noFill/>
          </a:ln>
        </p:spPr>
        <p:txBody>
          <a:bodyPr anchorCtr="0" anchor="t" bIns="34275" lIns="68575" spcFirstLastPara="1" rIns="68575" wrap="square" tIns="34275">
            <a:noAutofit/>
          </a:bodyPr>
          <a:lstStyle/>
          <a:p>
            <a:pPr indent="0" lvl="0" marL="0" marR="0" rtl="0" algn="just">
              <a:lnSpc>
                <a:spcPct val="150000"/>
              </a:lnSpc>
              <a:spcBef>
                <a:spcPts val="0"/>
              </a:spcBef>
              <a:spcAft>
                <a:spcPts val="0"/>
              </a:spcAft>
              <a:buClr>
                <a:srgbClr val="000000"/>
              </a:buClr>
              <a:buSzPts val="1200"/>
              <a:buFont typeface="Arial"/>
              <a:buNone/>
            </a:pPr>
            <a:r>
              <a:rPr b="1" i="0" lang="es" u="none" cap="none" strike="noStrike">
                <a:solidFill>
                  <a:schemeClr val="dk2"/>
                </a:solidFill>
                <a:latin typeface="Arial"/>
                <a:ea typeface="Arial"/>
                <a:cs typeface="Arial"/>
                <a:sym typeface="Arial"/>
              </a:rPr>
              <a:t>I</a:t>
            </a:r>
            <a:r>
              <a:rPr b="1" i="0" lang="es" sz="1300" u="none" cap="none" strike="noStrike">
                <a:solidFill>
                  <a:schemeClr val="dk2"/>
                </a:solidFill>
                <a:latin typeface="Arial"/>
                <a:ea typeface="Arial"/>
                <a:cs typeface="Arial"/>
                <a:sym typeface="Arial"/>
              </a:rPr>
              <a:t>TIL es un marco de trabajo que recopila buenas prácticas para gestionar servicios de tecnología de la información</a:t>
            </a:r>
            <a:endParaRPr b="1" sz="1300">
              <a:solidFill>
                <a:schemeClr val="dk2"/>
              </a:solidFill>
            </a:endParaRPr>
          </a:p>
          <a:p>
            <a:pPr indent="-311150" lvl="0" marL="914400" marR="0" rtl="0" algn="just">
              <a:lnSpc>
                <a:spcPct val="150000"/>
              </a:lnSpc>
              <a:spcBef>
                <a:spcPts val="0"/>
              </a:spcBef>
              <a:spcAft>
                <a:spcPts val="0"/>
              </a:spcAft>
              <a:buClr>
                <a:schemeClr val="dk2"/>
              </a:buClr>
              <a:buSzPts val="1300"/>
              <a:buFont typeface="Arial"/>
              <a:buChar char="❖"/>
            </a:pPr>
            <a:r>
              <a:rPr lang="es" sz="1300">
                <a:solidFill>
                  <a:schemeClr val="dk2"/>
                </a:solidFill>
              </a:rPr>
              <a:t>Guía de buenas prácticas para gestionar servicios de TI, enfocada en generar valor.</a:t>
            </a:r>
            <a:endParaRPr sz="1300">
              <a:solidFill>
                <a:schemeClr val="dk2"/>
              </a:solidFill>
            </a:endParaRPr>
          </a:p>
          <a:p>
            <a:pPr indent="-311150" lvl="0" marL="914400" marR="0" rtl="0" algn="just">
              <a:lnSpc>
                <a:spcPct val="150000"/>
              </a:lnSpc>
              <a:spcBef>
                <a:spcPts val="0"/>
              </a:spcBef>
              <a:spcAft>
                <a:spcPts val="0"/>
              </a:spcAft>
              <a:buClr>
                <a:schemeClr val="dk2"/>
              </a:buClr>
              <a:buSzPts val="1300"/>
              <a:buFont typeface="Arial"/>
              <a:buChar char="❖"/>
            </a:pPr>
            <a:r>
              <a:rPr lang="es" sz="1300">
                <a:solidFill>
                  <a:schemeClr val="dk2"/>
                </a:solidFill>
              </a:rPr>
              <a:t>Adaptable a entornos modernos: Agile, DevOps, Cloud, innovación continua.</a:t>
            </a:r>
            <a:endParaRPr sz="1300">
              <a:solidFill>
                <a:schemeClr val="dk2"/>
              </a:solidFill>
            </a:endParaRPr>
          </a:p>
          <a:p>
            <a:pPr indent="-311150" lvl="0" marL="914400" marR="0" rtl="0" algn="just">
              <a:lnSpc>
                <a:spcPct val="150000"/>
              </a:lnSpc>
              <a:spcBef>
                <a:spcPts val="0"/>
              </a:spcBef>
              <a:spcAft>
                <a:spcPts val="0"/>
              </a:spcAft>
              <a:buClr>
                <a:schemeClr val="dk2"/>
              </a:buClr>
              <a:buSzPts val="1300"/>
              <a:buFont typeface="Arial"/>
              <a:buChar char="❖"/>
            </a:pPr>
            <a:r>
              <a:rPr lang="es" sz="1300">
                <a:solidFill>
                  <a:schemeClr val="dk2"/>
                </a:solidFill>
              </a:rPr>
              <a:t>Basada en el Service Value System (SVS): colaboración, prácticas, mejora constante y gobernanza flexible</a:t>
            </a:r>
            <a:endParaRPr b="0" i="0" sz="1300" u="none" cap="none" strike="noStrike">
              <a:solidFill>
                <a:schemeClr val="dk2"/>
              </a:solidFill>
              <a:latin typeface="Arial"/>
              <a:ea typeface="Arial"/>
              <a:cs typeface="Arial"/>
              <a:sym typeface="Arial"/>
            </a:endParaRPr>
          </a:p>
          <a:p>
            <a:pPr indent="0" lvl="0" marL="0" rtl="0" algn="l">
              <a:lnSpc>
                <a:spcPct val="150000"/>
              </a:lnSpc>
              <a:spcBef>
                <a:spcPts val="1200"/>
              </a:spcBef>
              <a:spcAft>
                <a:spcPts val="0"/>
              </a:spcAft>
              <a:buNone/>
            </a:pPr>
            <a:r>
              <a:rPr lang="es" sz="1300">
                <a:solidFill>
                  <a:schemeClr val="dk1"/>
                </a:solidFill>
              </a:rPr>
              <a:t>SVS → Service Value System</a:t>
            </a:r>
            <a:endParaRPr sz="1300">
              <a:solidFill>
                <a:schemeClr val="dk1"/>
              </a:solidFill>
            </a:endParaRPr>
          </a:p>
          <a:p>
            <a:pPr indent="0" lvl="0" marL="0" rtl="0" algn="l">
              <a:lnSpc>
                <a:spcPct val="150000"/>
              </a:lnSpc>
              <a:spcBef>
                <a:spcPts val="1200"/>
              </a:spcBef>
              <a:spcAft>
                <a:spcPts val="0"/>
              </a:spcAft>
              <a:buNone/>
            </a:pPr>
            <a:r>
              <a:rPr lang="es" sz="1300">
                <a:solidFill>
                  <a:schemeClr val="dk1"/>
                </a:solidFill>
              </a:rPr>
              <a:t>No es un proceso, ni un organigrama. </a:t>
            </a:r>
            <a:r>
              <a:rPr b="1" lang="es" sz="1300">
                <a:solidFill>
                  <a:schemeClr val="dk1"/>
                </a:solidFill>
              </a:rPr>
              <a:t>Es una forma de ver cómo todo lo que hacemos en TI —gente, procesos, herramientas, partners— trabaja junto para entregar valor al cliente.</a:t>
            </a:r>
            <a:endParaRPr b="1" sz="1300">
              <a:solidFill>
                <a:schemeClr val="dk1"/>
              </a:solidFill>
            </a:endParaRPr>
          </a:p>
          <a:p>
            <a:pPr indent="0" lvl="0" marL="0" marR="0" rtl="0" algn="just">
              <a:lnSpc>
                <a:spcPct val="150000"/>
              </a:lnSpc>
              <a:spcBef>
                <a:spcPts val="1200"/>
              </a:spcBef>
              <a:spcAft>
                <a:spcPts val="0"/>
              </a:spcAft>
              <a:buNone/>
            </a:pPr>
            <a:r>
              <a:t/>
            </a:r>
            <a:endParaRPr sz="1300">
              <a:solidFill>
                <a:schemeClr val="dk2"/>
              </a:solidFill>
            </a:endParaRPr>
          </a:p>
        </p:txBody>
      </p:sp>
      <p:pic>
        <p:nvPicPr>
          <p:cNvPr id="77" name="Google Shape;77;p3"/>
          <p:cNvPicPr preferRelativeResize="0"/>
          <p:nvPr/>
        </p:nvPicPr>
        <p:blipFill rotWithShape="1">
          <a:blip r:embed="rId4">
            <a:alphaModFix/>
          </a:blip>
          <a:srcRect b="0" l="0" r="0" t="0"/>
          <a:stretch/>
        </p:blipFill>
        <p:spPr>
          <a:xfrm>
            <a:off x="7163714" y="4451106"/>
            <a:ext cx="1623849" cy="463355"/>
          </a:xfrm>
          <a:prstGeom prst="rect">
            <a:avLst/>
          </a:prstGeom>
          <a:noFill/>
          <a:ln>
            <a:noFill/>
          </a:ln>
        </p:spPr>
      </p:pic>
      <p:sp>
        <p:nvSpPr>
          <p:cNvPr id="78" name="Google Shape;78;p3"/>
          <p:cNvSpPr/>
          <p:nvPr/>
        </p:nvSpPr>
        <p:spPr>
          <a:xfrm>
            <a:off x="614600" y="4669825"/>
            <a:ext cx="5741700" cy="463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3B4449"/>
                </a:solidFill>
                <a:latin typeface="Arial"/>
                <a:ea typeface="Arial"/>
                <a:cs typeface="Arial"/>
                <a:sym typeface="Arial"/>
              </a:rPr>
              <a:t>Fundamentos y principios de las metodologías de gestión </a:t>
            </a:r>
            <a:endParaRPr b="0" i="0" sz="1400" u="none" cap="none" strike="noStrike">
              <a:solidFill>
                <a:schemeClr val="dk2"/>
              </a:solidFill>
              <a:latin typeface="Arial"/>
              <a:ea typeface="Arial"/>
              <a:cs typeface="Arial"/>
              <a:sym typeface="Arial"/>
            </a:endParaRPr>
          </a:p>
        </p:txBody>
      </p:sp>
      <p:pic>
        <p:nvPicPr>
          <p:cNvPr id="79" name="Google Shape;79;p3"/>
          <p:cNvPicPr preferRelativeResize="0"/>
          <p:nvPr/>
        </p:nvPicPr>
        <p:blipFill rotWithShape="1">
          <a:blip r:embed="rId5">
            <a:alphaModFix/>
          </a:blip>
          <a:srcRect b="0" l="0" r="0" t="0"/>
          <a:stretch/>
        </p:blipFill>
        <p:spPr>
          <a:xfrm>
            <a:off x="6963625" y="248450"/>
            <a:ext cx="1193436" cy="725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C:\Users\Idiomas\Downloads\Fadena-Negativo-FondoClaro (1).png" id="84" name="Google Shape;84;g304eb0169a4_0_5"/>
          <p:cNvPicPr preferRelativeResize="0"/>
          <p:nvPr/>
        </p:nvPicPr>
        <p:blipFill rotWithShape="1">
          <a:blip r:embed="rId3">
            <a:alphaModFix/>
          </a:blip>
          <a:srcRect b="0" l="0" r="0" t="0"/>
          <a:stretch/>
        </p:blipFill>
        <p:spPr>
          <a:xfrm>
            <a:off x="939113" y="3534517"/>
            <a:ext cx="2094466" cy="586452"/>
          </a:xfrm>
          <a:prstGeom prst="rect">
            <a:avLst/>
          </a:prstGeom>
          <a:noFill/>
          <a:ln>
            <a:noFill/>
          </a:ln>
        </p:spPr>
      </p:pic>
      <p:sp>
        <p:nvSpPr>
          <p:cNvPr id="85" name="Google Shape;85;g304eb0169a4_0_5"/>
          <p:cNvSpPr/>
          <p:nvPr/>
        </p:nvSpPr>
        <p:spPr>
          <a:xfrm>
            <a:off x="610523" y="818196"/>
            <a:ext cx="4255500" cy="4635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1" lang="es">
                <a:solidFill>
                  <a:schemeClr val="dk2"/>
                </a:solidFill>
              </a:rPr>
              <a:t>ITIL - Repaso - Service Value System (SVS)</a:t>
            </a:r>
            <a:endParaRPr b="1" i="0" sz="1400" u="none" cap="none" strike="noStrike">
              <a:solidFill>
                <a:schemeClr val="dk2"/>
              </a:solidFill>
              <a:latin typeface="Arial"/>
              <a:ea typeface="Arial"/>
              <a:cs typeface="Arial"/>
              <a:sym typeface="Arial"/>
            </a:endParaRPr>
          </a:p>
        </p:txBody>
      </p:sp>
      <p:sp>
        <p:nvSpPr>
          <p:cNvPr id="86" name="Google Shape;86;g304eb0169a4_0_5"/>
          <p:cNvSpPr/>
          <p:nvPr/>
        </p:nvSpPr>
        <p:spPr>
          <a:xfrm>
            <a:off x="610525" y="1402138"/>
            <a:ext cx="3562800" cy="2839200"/>
          </a:xfrm>
          <a:prstGeom prst="rect">
            <a:avLst/>
          </a:prstGeom>
          <a:noFill/>
          <a:ln>
            <a:noFill/>
          </a:ln>
        </p:spPr>
        <p:txBody>
          <a:bodyPr anchorCtr="0" anchor="t" bIns="34275" lIns="68575" spcFirstLastPara="1" rIns="68575" wrap="square" tIns="34275">
            <a:noAutofit/>
          </a:bodyPr>
          <a:lstStyle/>
          <a:p>
            <a:pPr indent="-311150" lvl="0" marL="457200" marR="0" rtl="0" algn="just">
              <a:lnSpc>
                <a:spcPct val="150000"/>
              </a:lnSpc>
              <a:spcBef>
                <a:spcPts val="0"/>
              </a:spcBef>
              <a:spcAft>
                <a:spcPts val="0"/>
              </a:spcAft>
              <a:buClr>
                <a:schemeClr val="dk2"/>
              </a:buClr>
              <a:buSzPts val="1300"/>
              <a:buChar char="❖"/>
            </a:pPr>
            <a:r>
              <a:rPr b="1" lang="es" sz="1300">
                <a:solidFill>
                  <a:schemeClr val="dk2"/>
                </a:solidFill>
              </a:rPr>
              <a:t>Todo se coordina para transformar necesidades en resultados valiosos.</a:t>
            </a:r>
            <a:endParaRPr b="1" sz="1300">
              <a:solidFill>
                <a:schemeClr val="dk2"/>
              </a:solidFill>
            </a:endParaRPr>
          </a:p>
          <a:p>
            <a:pPr indent="0" lvl="0" marL="457200" marR="0" rtl="0" algn="just">
              <a:lnSpc>
                <a:spcPct val="150000"/>
              </a:lnSpc>
              <a:spcBef>
                <a:spcPts val="0"/>
              </a:spcBef>
              <a:spcAft>
                <a:spcPts val="0"/>
              </a:spcAft>
              <a:buNone/>
            </a:pPr>
            <a:r>
              <a:t/>
            </a:r>
            <a:endParaRPr b="1" sz="1300">
              <a:solidFill>
                <a:schemeClr val="dk2"/>
              </a:solidFill>
            </a:endParaRPr>
          </a:p>
          <a:p>
            <a:pPr indent="-311150" lvl="0" marL="457200" marR="0" rtl="0" algn="just">
              <a:lnSpc>
                <a:spcPct val="150000"/>
              </a:lnSpc>
              <a:spcBef>
                <a:spcPts val="0"/>
              </a:spcBef>
              <a:spcAft>
                <a:spcPts val="0"/>
              </a:spcAft>
              <a:buClr>
                <a:schemeClr val="dk2"/>
              </a:buClr>
              <a:buSzPts val="1300"/>
              <a:buChar char="❖"/>
            </a:pPr>
            <a:r>
              <a:rPr b="1" lang="es" sz="1300">
                <a:solidFill>
                  <a:schemeClr val="dk2"/>
                </a:solidFill>
              </a:rPr>
              <a:t>No existen “silos” de prácticas: todo debe trabajar de forma integrada.</a:t>
            </a:r>
            <a:endParaRPr b="1" sz="1300">
              <a:solidFill>
                <a:schemeClr val="dk2"/>
              </a:solidFill>
            </a:endParaRPr>
          </a:p>
          <a:p>
            <a:pPr indent="0" lvl="0" marL="457200" marR="0" rtl="0" algn="just">
              <a:lnSpc>
                <a:spcPct val="150000"/>
              </a:lnSpc>
              <a:spcBef>
                <a:spcPts val="0"/>
              </a:spcBef>
              <a:spcAft>
                <a:spcPts val="0"/>
              </a:spcAft>
              <a:buNone/>
            </a:pPr>
            <a:r>
              <a:t/>
            </a:r>
            <a:endParaRPr b="1" sz="1300">
              <a:solidFill>
                <a:schemeClr val="dk2"/>
              </a:solidFill>
            </a:endParaRPr>
          </a:p>
          <a:p>
            <a:pPr indent="-311150" lvl="0" marL="457200" marR="0" rtl="0" algn="just">
              <a:lnSpc>
                <a:spcPct val="150000"/>
              </a:lnSpc>
              <a:spcBef>
                <a:spcPts val="0"/>
              </a:spcBef>
              <a:spcAft>
                <a:spcPts val="0"/>
              </a:spcAft>
              <a:buClr>
                <a:schemeClr val="dk2"/>
              </a:buClr>
              <a:buSzPts val="1300"/>
              <a:buChar char="❖"/>
            </a:pPr>
            <a:r>
              <a:rPr b="1" lang="es" sz="1300">
                <a:solidFill>
                  <a:schemeClr val="dk2"/>
                </a:solidFill>
              </a:rPr>
              <a:t>El foco final siempre es: ¿qué valor le damos al cliente/usuario?</a:t>
            </a:r>
            <a:endParaRPr b="1" sz="1300">
              <a:solidFill>
                <a:schemeClr val="dk2"/>
              </a:solidFill>
            </a:endParaRPr>
          </a:p>
          <a:p>
            <a:pPr indent="0" lvl="0" marL="0" rtl="0" algn="l">
              <a:lnSpc>
                <a:spcPct val="150000"/>
              </a:lnSpc>
              <a:spcBef>
                <a:spcPts val="1200"/>
              </a:spcBef>
              <a:spcAft>
                <a:spcPts val="0"/>
              </a:spcAft>
              <a:buNone/>
            </a:pPr>
            <a:r>
              <a:t/>
            </a:r>
            <a:endParaRPr b="1" sz="1300">
              <a:solidFill>
                <a:schemeClr val="dk1"/>
              </a:solidFill>
            </a:endParaRPr>
          </a:p>
          <a:p>
            <a:pPr indent="0" lvl="0" marL="0" marR="0" rtl="0" algn="just">
              <a:lnSpc>
                <a:spcPct val="150000"/>
              </a:lnSpc>
              <a:spcBef>
                <a:spcPts val="1200"/>
              </a:spcBef>
              <a:spcAft>
                <a:spcPts val="0"/>
              </a:spcAft>
              <a:buNone/>
            </a:pPr>
            <a:r>
              <a:t/>
            </a:r>
            <a:endParaRPr sz="1300">
              <a:solidFill>
                <a:schemeClr val="dk2"/>
              </a:solidFill>
            </a:endParaRPr>
          </a:p>
        </p:txBody>
      </p:sp>
      <p:pic>
        <p:nvPicPr>
          <p:cNvPr id="87" name="Google Shape;87;g304eb0169a4_0_5"/>
          <p:cNvPicPr preferRelativeResize="0"/>
          <p:nvPr/>
        </p:nvPicPr>
        <p:blipFill rotWithShape="1">
          <a:blip r:embed="rId4">
            <a:alphaModFix/>
          </a:blip>
          <a:srcRect b="0" l="0" r="0" t="0"/>
          <a:stretch/>
        </p:blipFill>
        <p:spPr>
          <a:xfrm>
            <a:off x="7163714" y="4451106"/>
            <a:ext cx="1623849" cy="463355"/>
          </a:xfrm>
          <a:prstGeom prst="rect">
            <a:avLst/>
          </a:prstGeom>
          <a:noFill/>
          <a:ln>
            <a:noFill/>
          </a:ln>
        </p:spPr>
      </p:pic>
      <p:sp>
        <p:nvSpPr>
          <p:cNvPr id="88" name="Google Shape;88;g304eb0169a4_0_5"/>
          <p:cNvSpPr/>
          <p:nvPr/>
        </p:nvSpPr>
        <p:spPr>
          <a:xfrm>
            <a:off x="614600" y="4669825"/>
            <a:ext cx="5741700" cy="463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3B4449"/>
                </a:solidFill>
                <a:latin typeface="Arial"/>
                <a:ea typeface="Arial"/>
                <a:cs typeface="Arial"/>
                <a:sym typeface="Arial"/>
              </a:rPr>
              <a:t>Fundamentos y principios de las metodologías de gestión </a:t>
            </a:r>
            <a:endParaRPr b="0" i="0" sz="1400" u="none" cap="none" strike="noStrike">
              <a:solidFill>
                <a:schemeClr val="dk2"/>
              </a:solidFill>
              <a:latin typeface="Arial"/>
              <a:ea typeface="Arial"/>
              <a:cs typeface="Arial"/>
              <a:sym typeface="Arial"/>
            </a:endParaRPr>
          </a:p>
        </p:txBody>
      </p:sp>
      <p:pic>
        <p:nvPicPr>
          <p:cNvPr id="89" name="Google Shape;89;g304eb0169a4_0_5"/>
          <p:cNvPicPr preferRelativeResize="0"/>
          <p:nvPr/>
        </p:nvPicPr>
        <p:blipFill rotWithShape="1">
          <a:blip r:embed="rId5">
            <a:alphaModFix/>
          </a:blip>
          <a:srcRect b="0" l="0" r="0" t="0"/>
          <a:stretch/>
        </p:blipFill>
        <p:spPr>
          <a:xfrm>
            <a:off x="6963625" y="248450"/>
            <a:ext cx="1193436" cy="725175"/>
          </a:xfrm>
          <a:prstGeom prst="rect">
            <a:avLst/>
          </a:prstGeom>
          <a:noFill/>
          <a:ln>
            <a:noFill/>
          </a:ln>
        </p:spPr>
      </p:pic>
      <p:pic>
        <p:nvPicPr>
          <p:cNvPr id="90" name="Google Shape;90;g304eb0169a4_0_5"/>
          <p:cNvPicPr preferRelativeResize="0"/>
          <p:nvPr/>
        </p:nvPicPr>
        <p:blipFill>
          <a:blip r:embed="rId6">
            <a:alphaModFix/>
          </a:blip>
          <a:stretch>
            <a:fillRect/>
          </a:stretch>
        </p:blipFill>
        <p:spPr>
          <a:xfrm>
            <a:off x="4378374" y="1699563"/>
            <a:ext cx="4665325" cy="22443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pic>
        <p:nvPicPr>
          <p:cNvPr descr="C:\Users\Idiomas\Downloads\Fadena-Negativo-FondoClaro (1).png" id="95" name="Google Shape;95;p4"/>
          <p:cNvPicPr preferRelativeResize="0"/>
          <p:nvPr/>
        </p:nvPicPr>
        <p:blipFill rotWithShape="1">
          <a:blip r:embed="rId3">
            <a:alphaModFix/>
          </a:blip>
          <a:srcRect b="0" l="0" r="0" t="0"/>
          <a:stretch/>
        </p:blipFill>
        <p:spPr>
          <a:xfrm>
            <a:off x="939113" y="3534517"/>
            <a:ext cx="2094466" cy="586452"/>
          </a:xfrm>
          <a:prstGeom prst="rect">
            <a:avLst/>
          </a:prstGeom>
          <a:noFill/>
          <a:ln>
            <a:noFill/>
          </a:ln>
        </p:spPr>
      </p:pic>
      <p:sp>
        <p:nvSpPr>
          <p:cNvPr id="96" name="Google Shape;96;p4"/>
          <p:cNvSpPr/>
          <p:nvPr/>
        </p:nvSpPr>
        <p:spPr>
          <a:xfrm>
            <a:off x="622948" y="810196"/>
            <a:ext cx="4255500" cy="4635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2"/>
              </a:solidFill>
              <a:latin typeface="Arial"/>
              <a:ea typeface="Arial"/>
              <a:cs typeface="Arial"/>
              <a:sym typeface="Arial"/>
            </a:endParaRPr>
          </a:p>
        </p:txBody>
      </p:sp>
      <p:sp>
        <p:nvSpPr>
          <p:cNvPr id="97" name="Google Shape;97;p4"/>
          <p:cNvSpPr/>
          <p:nvPr/>
        </p:nvSpPr>
        <p:spPr>
          <a:xfrm>
            <a:off x="610525" y="1281700"/>
            <a:ext cx="7898400" cy="2250600"/>
          </a:xfrm>
          <a:prstGeom prst="rect">
            <a:avLst/>
          </a:prstGeom>
          <a:noFill/>
          <a:ln>
            <a:noFill/>
          </a:ln>
        </p:spPr>
        <p:txBody>
          <a:bodyPr anchorCtr="0" anchor="t" bIns="34275" lIns="68575" spcFirstLastPara="1" rIns="68575" wrap="square" tIns="34275">
            <a:noAutofit/>
          </a:bodyPr>
          <a:lstStyle/>
          <a:p>
            <a:pPr indent="-298450" lvl="0" marL="457200" marR="0" rtl="0" algn="just">
              <a:lnSpc>
                <a:spcPct val="150000"/>
              </a:lnSpc>
              <a:spcBef>
                <a:spcPts val="0"/>
              </a:spcBef>
              <a:spcAft>
                <a:spcPts val="0"/>
              </a:spcAft>
              <a:buClr>
                <a:schemeClr val="dk2"/>
              </a:buClr>
              <a:buSzPts val="1100"/>
              <a:buFont typeface="Arial"/>
              <a:buChar char="❖"/>
            </a:pPr>
            <a:r>
              <a:rPr b="1" lang="es" sz="1100">
                <a:solidFill>
                  <a:schemeClr val="dk2"/>
                </a:solidFill>
              </a:rPr>
              <a:t>Descripción rápida: Mesa de ayuda que atiende 500 usuarios.</a:t>
            </a:r>
            <a:endParaRPr b="1" sz="1100">
              <a:solidFill>
                <a:schemeClr val="dk2"/>
              </a:solidFill>
            </a:endParaRPr>
          </a:p>
          <a:p>
            <a:pPr indent="-298450" lvl="0" marL="457200" marR="0" rtl="0" algn="just">
              <a:lnSpc>
                <a:spcPct val="150000"/>
              </a:lnSpc>
              <a:spcBef>
                <a:spcPts val="0"/>
              </a:spcBef>
              <a:spcAft>
                <a:spcPts val="0"/>
              </a:spcAft>
              <a:buClr>
                <a:schemeClr val="dk2"/>
              </a:buClr>
              <a:buSzPts val="1100"/>
              <a:buFont typeface="Arial"/>
              <a:buChar char="❖"/>
            </a:pPr>
            <a:r>
              <a:rPr b="1" lang="es" sz="1100">
                <a:solidFill>
                  <a:schemeClr val="dk2"/>
                </a:solidFill>
              </a:rPr>
              <a:t>Oportunidad/Demanda: Quejas por demoras en resolver incidentes críticos.</a:t>
            </a:r>
            <a:endParaRPr b="1" sz="1100">
              <a:solidFill>
                <a:schemeClr val="dk2"/>
              </a:solidFill>
            </a:endParaRPr>
          </a:p>
          <a:p>
            <a:pPr indent="-298450" lvl="0" marL="457200" marR="0" rtl="0" algn="just">
              <a:lnSpc>
                <a:spcPct val="150000"/>
              </a:lnSpc>
              <a:spcBef>
                <a:spcPts val="0"/>
              </a:spcBef>
              <a:spcAft>
                <a:spcPts val="0"/>
              </a:spcAft>
              <a:buClr>
                <a:schemeClr val="dk2"/>
              </a:buClr>
              <a:buSzPts val="1100"/>
              <a:buFont typeface="Arial"/>
              <a:buChar char="❖"/>
            </a:pPr>
            <a:r>
              <a:rPr b="1" lang="es" sz="1100">
                <a:solidFill>
                  <a:schemeClr val="dk2"/>
                </a:solidFill>
              </a:rPr>
              <a:t>Actividades principales (cadena de valor):</a:t>
            </a:r>
            <a:endParaRPr b="1" sz="1100">
              <a:solidFill>
                <a:schemeClr val="dk2"/>
              </a:solidFill>
            </a:endParaRPr>
          </a:p>
          <a:p>
            <a:pPr indent="-298450" lvl="1" marL="914400" marR="0" rtl="0" algn="just">
              <a:lnSpc>
                <a:spcPct val="150000"/>
              </a:lnSpc>
              <a:spcBef>
                <a:spcPts val="0"/>
              </a:spcBef>
              <a:spcAft>
                <a:spcPts val="0"/>
              </a:spcAft>
              <a:buClr>
                <a:schemeClr val="dk2"/>
              </a:buClr>
              <a:buSzPts val="1100"/>
              <a:buFont typeface="Arial"/>
              <a:buChar char="➢"/>
            </a:pPr>
            <a:r>
              <a:rPr b="1" lang="es" sz="1100">
                <a:solidFill>
                  <a:schemeClr val="dk2"/>
                </a:solidFill>
              </a:rPr>
              <a:t>Detectar incidentes → Resolver → Mejorar satisfacción.</a:t>
            </a:r>
            <a:endParaRPr b="1" sz="1100">
              <a:solidFill>
                <a:schemeClr val="dk2"/>
              </a:solidFill>
            </a:endParaRPr>
          </a:p>
          <a:p>
            <a:pPr indent="-298450" lvl="0" marL="457200" marR="0" rtl="0" algn="just">
              <a:lnSpc>
                <a:spcPct val="150000"/>
              </a:lnSpc>
              <a:spcBef>
                <a:spcPts val="0"/>
              </a:spcBef>
              <a:spcAft>
                <a:spcPts val="0"/>
              </a:spcAft>
              <a:buClr>
                <a:schemeClr val="dk2"/>
              </a:buClr>
              <a:buSzPts val="1100"/>
              <a:buFont typeface="Arial"/>
              <a:buChar char="❖"/>
            </a:pPr>
            <a:r>
              <a:rPr b="1" lang="es" sz="1100">
                <a:solidFill>
                  <a:schemeClr val="dk2"/>
                </a:solidFill>
              </a:rPr>
              <a:t>Prácticas principales usadas:</a:t>
            </a:r>
            <a:endParaRPr b="1" sz="1100">
              <a:solidFill>
                <a:schemeClr val="dk2"/>
              </a:solidFill>
            </a:endParaRPr>
          </a:p>
          <a:p>
            <a:pPr indent="-298450" lvl="1" marL="914400" marR="0" rtl="0" algn="just">
              <a:lnSpc>
                <a:spcPct val="150000"/>
              </a:lnSpc>
              <a:spcBef>
                <a:spcPts val="0"/>
              </a:spcBef>
              <a:spcAft>
                <a:spcPts val="0"/>
              </a:spcAft>
              <a:buClr>
                <a:schemeClr val="dk2"/>
              </a:buClr>
              <a:buSzPts val="1100"/>
              <a:buFont typeface="Arial"/>
              <a:buChar char="➢"/>
            </a:pPr>
            <a:r>
              <a:rPr b="1" lang="es" sz="1100">
                <a:solidFill>
                  <a:schemeClr val="dk2"/>
                </a:solidFill>
              </a:rPr>
              <a:t>Gestión de incidentes.</a:t>
            </a:r>
            <a:endParaRPr b="1" sz="1100">
              <a:solidFill>
                <a:schemeClr val="dk2"/>
              </a:solidFill>
            </a:endParaRPr>
          </a:p>
          <a:p>
            <a:pPr indent="-298450" lvl="1" marL="914400" marR="0" rtl="0" algn="just">
              <a:lnSpc>
                <a:spcPct val="150000"/>
              </a:lnSpc>
              <a:spcBef>
                <a:spcPts val="0"/>
              </a:spcBef>
              <a:spcAft>
                <a:spcPts val="0"/>
              </a:spcAft>
              <a:buClr>
                <a:schemeClr val="dk2"/>
              </a:buClr>
              <a:buSzPts val="1100"/>
              <a:buFont typeface="Arial"/>
              <a:buChar char="➢"/>
            </a:pPr>
            <a:r>
              <a:rPr b="1" lang="es" sz="1100">
                <a:solidFill>
                  <a:schemeClr val="dk2"/>
                </a:solidFill>
              </a:rPr>
              <a:t>Gestión de problemas.</a:t>
            </a:r>
            <a:endParaRPr b="1" sz="1100">
              <a:solidFill>
                <a:schemeClr val="dk2"/>
              </a:solidFill>
            </a:endParaRPr>
          </a:p>
          <a:p>
            <a:pPr indent="-298450" lvl="1" marL="914400" marR="0" rtl="0" algn="just">
              <a:lnSpc>
                <a:spcPct val="150000"/>
              </a:lnSpc>
              <a:spcBef>
                <a:spcPts val="0"/>
              </a:spcBef>
              <a:spcAft>
                <a:spcPts val="0"/>
              </a:spcAft>
              <a:buClr>
                <a:schemeClr val="dk2"/>
              </a:buClr>
              <a:buSzPts val="1100"/>
              <a:buFont typeface="Arial"/>
              <a:buChar char="➢"/>
            </a:pPr>
            <a:r>
              <a:rPr b="1" lang="es" sz="1100">
                <a:solidFill>
                  <a:schemeClr val="dk2"/>
                </a:solidFill>
              </a:rPr>
              <a:t>Gestión de conocimiento.</a:t>
            </a:r>
            <a:endParaRPr b="1" sz="1100">
              <a:solidFill>
                <a:schemeClr val="dk2"/>
              </a:solidFill>
            </a:endParaRPr>
          </a:p>
          <a:p>
            <a:pPr indent="-298450" lvl="0" marL="457200" marR="0" rtl="0" algn="just">
              <a:lnSpc>
                <a:spcPct val="150000"/>
              </a:lnSpc>
              <a:spcBef>
                <a:spcPts val="0"/>
              </a:spcBef>
              <a:spcAft>
                <a:spcPts val="0"/>
              </a:spcAft>
              <a:buClr>
                <a:schemeClr val="dk2"/>
              </a:buClr>
              <a:buSzPts val="1100"/>
              <a:buFont typeface="Arial"/>
              <a:buChar char="❖"/>
            </a:pPr>
            <a:r>
              <a:rPr b="1" lang="es" sz="1100">
                <a:solidFill>
                  <a:schemeClr val="dk2"/>
                </a:solidFill>
              </a:rPr>
              <a:t>Componentes del SVS en acción:</a:t>
            </a:r>
            <a:endParaRPr b="1" sz="1100">
              <a:solidFill>
                <a:schemeClr val="dk2"/>
              </a:solidFill>
            </a:endParaRPr>
          </a:p>
          <a:p>
            <a:pPr indent="-298450" lvl="1" marL="914400" marR="0" rtl="0" algn="just">
              <a:lnSpc>
                <a:spcPct val="150000"/>
              </a:lnSpc>
              <a:spcBef>
                <a:spcPts val="0"/>
              </a:spcBef>
              <a:spcAft>
                <a:spcPts val="0"/>
              </a:spcAft>
              <a:buClr>
                <a:schemeClr val="dk2"/>
              </a:buClr>
              <a:buSzPts val="1100"/>
              <a:buFont typeface="Arial"/>
              <a:buChar char="➢"/>
            </a:pPr>
            <a:r>
              <a:rPr b="1" lang="es" sz="1100">
                <a:solidFill>
                  <a:schemeClr val="dk2"/>
                </a:solidFill>
              </a:rPr>
              <a:t>Principios: Centrarse en el valor, Progresar iterativamente.</a:t>
            </a:r>
            <a:endParaRPr b="1" sz="1100">
              <a:solidFill>
                <a:schemeClr val="dk2"/>
              </a:solidFill>
            </a:endParaRPr>
          </a:p>
          <a:p>
            <a:pPr indent="-298450" lvl="1" marL="914400" marR="0" rtl="0" algn="just">
              <a:lnSpc>
                <a:spcPct val="150000"/>
              </a:lnSpc>
              <a:spcBef>
                <a:spcPts val="0"/>
              </a:spcBef>
              <a:spcAft>
                <a:spcPts val="0"/>
              </a:spcAft>
              <a:buClr>
                <a:schemeClr val="dk2"/>
              </a:buClr>
              <a:buSzPts val="1100"/>
              <a:buFont typeface="Arial"/>
              <a:buChar char="➢"/>
            </a:pPr>
            <a:r>
              <a:rPr b="1" lang="es" sz="1100">
                <a:solidFill>
                  <a:schemeClr val="dk2"/>
                </a:solidFill>
              </a:rPr>
              <a:t>Mejora continua: Revisión mensual de métricas.</a:t>
            </a:r>
            <a:endParaRPr b="1" sz="1100">
              <a:solidFill>
                <a:schemeClr val="dk2"/>
              </a:solidFill>
            </a:endParaRPr>
          </a:p>
          <a:p>
            <a:pPr indent="-298450" lvl="0" marL="457200" marR="0" rtl="0" algn="just">
              <a:lnSpc>
                <a:spcPct val="150000"/>
              </a:lnSpc>
              <a:spcBef>
                <a:spcPts val="0"/>
              </a:spcBef>
              <a:spcAft>
                <a:spcPts val="0"/>
              </a:spcAft>
              <a:buClr>
                <a:schemeClr val="dk2"/>
              </a:buClr>
              <a:buSzPts val="1100"/>
              <a:buFont typeface="Arial"/>
              <a:buChar char="❖"/>
            </a:pPr>
            <a:r>
              <a:rPr b="1" lang="es" sz="1100">
                <a:solidFill>
                  <a:schemeClr val="dk2"/>
                </a:solidFill>
              </a:rPr>
              <a:t>Resultado de valor generado:</a:t>
            </a:r>
            <a:endParaRPr b="1" sz="1100">
              <a:solidFill>
                <a:schemeClr val="dk2"/>
              </a:solidFill>
            </a:endParaRPr>
          </a:p>
          <a:p>
            <a:pPr indent="-298450" lvl="1" marL="914400" marR="0" rtl="0" algn="just">
              <a:lnSpc>
                <a:spcPct val="150000"/>
              </a:lnSpc>
              <a:spcBef>
                <a:spcPts val="0"/>
              </a:spcBef>
              <a:spcAft>
                <a:spcPts val="0"/>
              </a:spcAft>
              <a:buClr>
                <a:schemeClr val="dk2"/>
              </a:buClr>
              <a:buSzPts val="1100"/>
              <a:buFont typeface="Arial"/>
              <a:buChar char="➢"/>
            </a:pPr>
            <a:r>
              <a:rPr b="1" lang="es" sz="1100">
                <a:solidFill>
                  <a:schemeClr val="dk2"/>
                </a:solidFill>
              </a:rPr>
              <a:t>SLA de atención mejorado en un 30%.</a:t>
            </a:r>
            <a:endParaRPr b="1" sz="1100">
              <a:solidFill>
                <a:schemeClr val="dk2"/>
              </a:solidFill>
            </a:endParaRPr>
          </a:p>
        </p:txBody>
      </p:sp>
      <p:pic>
        <p:nvPicPr>
          <p:cNvPr id="98" name="Google Shape;98;p4"/>
          <p:cNvPicPr preferRelativeResize="0"/>
          <p:nvPr/>
        </p:nvPicPr>
        <p:blipFill rotWithShape="1">
          <a:blip r:embed="rId4">
            <a:alphaModFix/>
          </a:blip>
          <a:srcRect b="0" l="0" r="0" t="0"/>
          <a:stretch/>
        </p:blipFill>
        <p:spPr>
          <a:xfrm>
            <a:off x="7163714" y="4451106"/>
            <a:ext cx="1623849" cy="463355"/>
          </a:xfrm>
          <a:prstGeom prst="rect">
            <a:avLst/>
          </a:prstGeom>
          <a:noFill/>
          <a:ln>
            <a:noFill/>
          </a:ln>
        </p:spPr>
      </p:pic>
      <p:sp>
        <p:nvSpPr>
          <p:cNvPr id="99" name="Google Shape;99;p4"/>
          <p:cNvSpPr/>
          <p:nvPr/>
        </p:nvSpPr>
        <p:spPr>
          <a:xfrm>
            <a:off x="614600" y="4669825"/>
            <a:ext cx="5741700" cy="463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3B4449"/>
                </a:solidFill>
                <a:latin typeface="Arial"/>
                <a:ea typeface="Arial"/>
                <a:cs typeface="Arial"/>
                <a:sym typeface="Arial"/>
              </a:rPr>
              <a:t>Fundamentos y principios de las metodologías de gestión </a:t>
            </a:r>
            <a:endParaRPr b="0" i="0" sz="1400" u="none" cap="none" strike="noStrike">
              <a:solidFill>
                <a:schemeClr val="dk2"/>
              </a:solidFill>
              <a:latin typeface="Arial"/>
              <a:ea typeface="Arial"/>
              <a:cs typeface="Arial"/>
              <a:sym typeface="Arial"/>
            </a:endParaRPr>
          </a:p>
        </p:txBody>
      </p:sp>
      <p:sp>
        <p:nvSpPr>
          <p:cNvPr id="100" name="Google Shape;100;p4"/>
          <p:cNvSpPr/>
          <p:nvPr/>
        </p:nvSpPr>
        <p:spPr>
          <a:xfrm>
            <a:off x="610525" y="818200"/>
            <a:ext cx="4964100" cy="4635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1" lang="es">
                <a:solidFill>
                  <a:schemeClr val="dk2"/>
                </a:solidFill>
              </a:rPr>
              <a:t>CASO 1</a:t>
            </a:r>
            <a:r>
              <a:rPr b="1" lang="es">
                <a:solidFill>
                  <a:schemeClr val="dk2"/>
                </a:solidFill>
              </a:rPr>
              <a:t> - Soporte de TI en Empresa Mediana-Contexto</a:t>
            </a:r>
            <a:endParaRPr b="1" i="0" sz="1400" u="none" cap="none" strike="noStrike">
              <a:solidFill>
                <a:schemeClr val="dk2"/>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pic>
        <p:nvPicPr>
          <p:cNvPr descr="C:\Users\Idiomas\Downloads\Fadena-Negativo-FondoClaro (1).png" id="105" name="Google Shape;105;g304eb0169a4_0_17"/>
          <p:cNvPicPr preferRelativeResize="0"/>
          <p:nvPr/>
        </p:nvPicPr>
        <p:blipFill rotWithShape="1">
          <a:blip r:embed="rId3">
            <a:alphaModFix/>
          </a:blip>
          <a:srcRect b="0" l="0" r="0" t="0"/>
          <a:stretch/>
        </p:blipFill>
        <p:spPr>
          <a:xfrm>
            <a:off x="939113" y="3534517"/>
            <a:ext cx="2094466" cy="586452"/>
          </a:xfrm>
          <a:prstGeom prst="rect">
            <a:avLst/>
          </a:prstGeom>
          <a:noFill/>
          <a:ln>
            <a:noFill/>
          </a:ln>
        </p:spPr>
      </p:pic>
      <p:sp>
        <p:nvSpPr>
          <p:cNvPr id="106" name="Google Shape;106;g304eb0169a4_0_17"/>
          <p:cNvSpPr/>
          <p:nvPr/>
        </p:nvSpPr>
        <p:spPr>
          <a:xfrm>
            <a:off x="622948" y="810196"/>
            <a:ext cx="4255500" cy="4635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2"/>
              </a:solidFill>
              <a:latin typeface="Arial"/>
              <a:ea typeface="Arial"/>
              <a:cs typeface="Arial"/>
              <a:sym typeface="Arial"/>
            </a:endParaRPr>
          </a:p>
        </p:txBody>
      </p:sp>
      <p:pic>
        <p:nvPicPr>
          <p:cNvPr id="107" name="Google Shape;107;g304eb0169a4_0_17"/>
          <p:cNvPicPr preferRelativeResize="0"/>
          <p:nvPr/>
        </p:nvPicPr>
        <p:blipFill rotWithShape="1">
          <a:blip r:embed="rId4">
            <a:alphaModFix/>
          </a:blip>
          <a:srcRect b="0" l="0" r="0" t="0"/>
          <a:stretch/>
        </p:blipFill>
        <p:spPr>
          <a:xfrm>
            <a:off x="7163714" y="4451106"/>
            <a:ext cx="1623849" cy="463355"/>
          </a:xfrm>
          <a:prstGeom prst="rect">
            <a:avLst/>
          </a:prstGeom>
          <a:noFill/>
          <a:ln>
            <a:noFill/>
          </a:ln>
        </p:spPr>
      </p:pic>
      <p:sp>
        <p:nvSpPr>
          <p:cNvPr id="108" name="Google Shape;108;g304eb0169a4_0_17"/>
          <p:cNvSpPr/>
          <p:nvPr/>
        </p:nvSpPr>
        <p:spPr>
          <a:xfrm>
            <a:off x="614600" y="4669825"/>
            <a:ext cx="5741700" cy="463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3B4449"/>
                </a:solidFill>
                <a:latin typeface="Arial"/>
                <a:ea typeface="Arial"/>
                <a:cs typeface="Arial"/>
                <a:sym typeface="Arial"/>
              </a:rPr>
              <a:t>Fundamentos y principios de las metodologías de gestión </a:t>
            </a:r>
            <a:endParaRPr b="0" i="0" sz="1400" u="none" cap="none" strike="noStrike">
              <a:solidFill>
                <a:schemeClr val="dk2"/>
              </a:solidFill>
              <a:latin typeface="Arial"/>
              <a:ea typeface="Arial"/>
              <a:cs typeface="Arial"/>
              <a:sym typeface="Arial"/>
            </a:endParaRPr>
          </a:p>
        </p:txBody>
      </p:sp>
      <p:sp>
        <p:nvSpPr>
          <p:cNvPr id="109" name="Google Shape;109;g304eb0169a4_0_17"/>
          <p:cNvSpPr/>
          <p:nvPr/>
        </p:nvSpPr>
        <p:spPr>
          <a:xfrm>
            <a:off x="610525" y="818200"/>
            <a:ext cx="7157700" cy="4635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1" lang="es">
                <a:solidFill>
                  <a:schemeClr val="dk2"/>
                </a:solidFill>
              </a:rPr>
              <a:t>CASO 1 - Soporte de TI en Empresa Mediana - Explotemos el Servicio Parte A</a:t>
            </a:r>
            <a:endParaRPr b="1" i="0" sz="1400" u="none" cap="none" strike="noStrike">
              <a:solidFill>
                <a:schemeClr val="dk2"/>
              </a:solidFill>
              <a:latin typeface="Arial"/>
              <a:ea typeface="Arial"/>
              <a:cs typeface="Arial"/>
              <a:sym typeface="Arial"/>
            </a:endParaRPr>
          </a:p>
        </p:txBody>
      </p:sp>
      <p:graphicFrame>
        <p:nvGraphicFramePr>
          <p:cNvPr id="110" name="Google Shape;110;g304eb0169a4_0_17"/>
          <p:cNvGraphicFramePr/>
          <p:nvPr/>
        </p:nvGraphicFramePr>
        <p:xfrm>
          <a:off x="814225" y="1273700"/>
          <a:ext cx="3000000" cy="3000000"/>
        </p:xfrm>
        <a:graphic>
          <a:graphicData uri="http://schemas.openxmlformats.org/drawingml/2006/table">
            <a:tbl>
              <a:tblPr>
                <a:noFill/>
                <a:tableStyleId>{083F6A6F-06C8-4D1A-ABC7-433DCE45A8D4}</a:tableStyleId>
              </a:tblPr>
              <a:tblGrid>
                <a:gridCol w="3619500"/>
                <a:gridCol w="3619500"/>
              </a:tblGrid>
              <a:tr h="381000">
                <a:tc>
                  <a:txBody>
                    <a:bodyPr/>
                    <a:lstStyle/>
                    <a:p>
                      <a:pPr indent="0" lvl="0" marL="0" rtl="0" algn="ctr">
                        <a:spcBef>
                          <a:spcPts val="0"/>
                        </a:spcBef>
                        <a:spcAft>
                          <a:spcPts val="0"/>
                        </a:spcAft>
                        <a:buNone/>
                      </a:pPr>
                      <a:r>
                        <a:rPr b="1" lang="es">
                          <a:solidFill>
                            <a:schemeClr val="lt1"/>
                          </a:solidFill>
                        </a:rPr>
                        <a:t>Area</a:t>
                      </a:r>
                      <a:endParaRPr b="1">
                        <a:solidFill>
                          <a:schemeClr val="lt1"/>
                        </a:solidFill>
                      </a:endParaRPr>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solidFill>
                      <a:srgbClr val="6D9EEB"/>
                    </a:solidFill>
                  </a:tcPr>
                </a:tc>
                <a:tc>
                  <a:txBody>
                    <a:bodyPr/>
                    <a:lstStyle/>
                    <a:p>
                      <a:pPr indent="0" lvl="0" marL="0" rtl="0" algn="ctr">
                        <a:spcBef>
                          <a:spcPts val="0"/>
                        </a:spcBef>
                        <a:spcAft>
                          <a:spcPts val="0"/>
                        </a:spcAft>
                        <a:buNone/>
                      </a:pPr>
                      <a:r>
                        <a:rPr b="1" lang="es">
                          <a:solidFill>
                            <a:schemeClr val="lt1"/>
                          </a:solidFill>
                        </a:rPr>
                        <a:t>Descripción</a:t>
                      </a:r>
                      <a:endParaRPr b="1">
                        <a:solidFill>
                          <a:schemeClr val="lt1"/>
                        </a:solidFill>
                      </a:endParaRPr>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solidFill>
                      <a:srgbClr val="6D9EEB"/>
                    </a:solidFill>
                  </a:tcPr>
                </a:tc>
              </a:tr>
              <a:tr h="381000">
                <a:tc>
                  <a:txBody>
                    <a:bodyPr/>
                    <a:lstStyle/>
                    <a:p>
                      <a:pPr indent="0" lvl="0" marL="0" rtl="0" algn="l">
                        <a:spcBef>
                          <a:spcPts val="0"/>
                        </a:spcBef>
                        <a:spcAft>
                          <a:spcPts val="0"/>
                        </a:spcAft>
                        <a:buNone/>
                      </a:pPr>
                      <a:r>
                        <a:rPr b="1" lang="es"/>
                        <a:t>Situación inicial</a:t>
                      </a:r>
                      <a:endParaRPr b="1"/>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c>
                  <a:txBody>
                    <a:bodyPr/>
                    <a:lstStyle/>
                    <a:p>
                      <a:pPr indent="0" lvl="0" marL="0" rtl="0" algn="l">
                        <a:spcBef>
                          <a:spcPts val="0"/>
                        </a:spcBef>
                        <a:spcAft>
                          <a:spcPts val="0"/>
                        </a:spcAft>
                        <a:buNone/>
                      </a:pPr>
                      <a:r>
                        <a:rPr lang="es" sz="1100"/>
                        <a:t>Mesa de ayuda interna con 500 usuarios. SLA incumplido en incidentes críticos (demoras &gt;8 horas). Quejas de usuarios y áreas de negocio.</a:t>
                      </a:r>
                      <a:endParaRPr sz="1100"/>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s"/>
                        <a:t>Oportunidad / Demanda</a:t>
                      </a:r>
                      <a:endParaRPr b="1"/>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c>
                  <a:txBody>
                    <a:bodyPr/>
                    <a:lstStyle/>
                    <a:p>
                      <a:pPr indent="0" lvl="0" marL="0" rtl="0" algn="l">
                        <a:spcBef>
                          <a:spcPts val="0"/>
                        </a:spcBef>
                        <a:spcAft>
                          <a:spcPts val="0"/>
                        </a:spcAft>
                        <a:buNone/>
                      </a:pPr>
                      <a:r>
                        <a:rPr lang="es" sz="1100"/>
                        <a:t>Necesidad urgente de mejorar tiempos de respuesta y satisfacción del usuario final.</a:t>
                      </a:r>
                      <a:endParaRPr sz="1100"/>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s"/>
                        <a:t>Actividades de la cadena de valor</a:t>
                      </a:r>
                      <a:endParaRPr b="1"/>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s" sz="1100">
                          <a:solidFill>
                            <a:schemeClr val="dk1"/>
                          </a:solidFill>
                        </a:rPr>
                        <a:t>- </a:t>
                      </a:r>
                      <a:r>
                        <a:rPr i="1" lang="es" sz="1100">
                          <a:solidFill>
                            <a:schemeClr val="dk1"/>
                          </a:solidFill>
                        </a:rPr>
                        <a:t>Engage</a:t>
                      </a:r>
                      <a:r>
                        <a:rPr lang="es" sz="1100">
                          <a:solidFill>
                            <a:schemeClr val="dk1"/>
                          </a:solidFill>
                        </a:rPr>
                        <a:t>: escuchar reclamos.</a:t>
                      </a:r>
                      <a:endParaRPr sz="1100">
                        <a:solidFill>
                          <a:schemeClr val="dk1"/>
                        </a:solidFill>
                      </a:endParaRPr>
                    </a:p>
                    <a:p>
                      <a:pPr indent="0" lvl="0" marL="0" rtl="0" algn="l">
                        <a:spcBef>
                          <a:spcPts val="0"/>
                        </a:spcBef>
                        <a:spcAft>
                          <a:spcPts val="0"/>
                        </a:spcAft>
                        <a:buClr>
                          <a:schemeClr val="dk1"/>
                        </a:buClr>
                        <a:buSzPts val="1100"/>
                        <a:buFont typeface="Arial"/>
                        <a:buNone/>
                      </a:pPr>
                      <a:r>
                        <a:rPr lang="es" sz="1100">
                          <a:solidFill>
                            <a:schemeClr val="dk1"/>
                          </a:solidFill>
                        </a:rPr>
                        <a:t>- </a:t>
                      </a:r>
                      <a:r>
                        <a:rPr i="1" lang="es" sz="1100">
                          <a:solidFill>
                            <a:schemeClr val="dk1"/>
                          </a:solidFill>
                        </a:rPr>
                        <a:t>Deliver &amp; Support</a:t>
                      </a:r>
                      <a:r>
                        <a:rPr lang="es" sz="1100">
                          <a:solidFill>
                            <a:schemeClr val="dk1"/>
                          </a:solidFill>
                        </a:rPr>
                        <a:t>: atención y resolución de incidentes.</a:t>
                      </a:r>
                      <a:endParaRPr sz="1100">
                        <a:solidFill>
                          <a:schemeClr val="dk1"/>
                        </a:solidFill>
                      </a:endParaRPr>
                    </a:p>
                    <a:p>
                      <a:pPr indent="0" lvl="0" marL="0" rtl="0" algn="l">
                        <a:spcBef>
                          <a:spcPts val="0"/>
                        </a:spcBef>
                        <a:spcAft>
                          <a:spcPts val="0"/>
                        </a:spcAft>
                        <a:buNone/>
                      </a:pPr>
                      <a:r>
                        <a:rPr lang="es" sz="1100">
                          <a:solidFill>
                            <a:schemeClr val="dk1"/>
                          </a:solidFill>
                        </a:rPr>
                        <a:t>- </a:t>
                      </a:r>
                      <a:r>
                        <a:rPr i="1" lang="es" sz="1100">
                          <a:solidFill>
                            <a:schemeClr val="dk1"/>
                          </a:solidFill>
                        </a:rPr>
                        <a:t>Improve</a:t>
                      </a:r>
                      <a:r>
                        <a:rPr lang="es" sz="1100">
                          <a:solidFill>
                            <a:schemeClr val="dk1"/>
                          </a:solidFill>
                        </a:rPr>
                        <a:t>: ajustar procesos de atención basados en feedback.</a:t>
                      </a:r>
                      <a:endParaRPr sz="1100"/>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pic>
        <p:nvPicPr>
          <p:cNvPr descr="C:\Users\Idiomas\Downloads\Fadena-Negativo-FondoClaro (1).png" id="115" name="Google Shape;115;g304eb0169a4_0_38"/>
          <p:cNvPicPr preferRelativeResize="0"/>
          <p:nvPr/>
        </p:nvPicPr>
        <p:blipFill rotWithShape="1">
          <a:blip r:embed="rId3">
            <a:alphaModFix/>
          </a:blip>
          <a:srcRect b="0" l="0" r="0" t="0"/>
          <a:stretch/>
        </p:blipFill>
        <p:spPr>
          <a:xfrm>
            <a:off x="939113" y="3534517"/>
            <a:ext cx="2094466" cy="586452"/>
          </a:xfrm>
          <a:prstGeom prst="rect">
            <a:avLst/>
          </a:prstGeom>
          <a:noFill/>
          <a:ln>
            <a:noFill/>
          </a:ln>
        </p:spPr>
      </p:pic>
      <p:sp>
        <p:nvSpPr>
          <p:cNvPr id="116" name="Google Shape;116;g304eb0169a4_0_38"/>
          <p:cNvSpPr/>
          <p:nvPr/>
        </p:nvSpPr>
        <p:spPr>
          <a:xfrm>
            <a:off x="622948" y="810196"/>
            <a:ext cx="4255500" cy="4635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2"/>
              </a:solidFill>
              <a:latin typeface="Arial"/>
              <a:ea typeface="Arial"/>
              <a:cs typeface="Arial"/>
              <a:sym typeface="Arial"/>
            </a:endParaRPr>
          </a:p>
        </p:txBody>
      </p:sp>
      <p:pic>
        <p:nvPicPr>
          <p:cNvPr id="117" name="Google Shape;117;g304eb0169a4_0_38"/>
          <p:cNvPicPr preferRelativeResize="0"/>
          <p:nvPr/>
        </p:nvPicPr>
        <p:blipFill rotWithShape="1">
          <a:blip r:embed="rId4">
            <a:alphaModFix/>
          </a:blip>
          <a:srcRect b="0" l="0" r="0" t="0"/>
          <a:stretch/>
        </p:blipFill>
        <p:spPr>
          <a:xfrm>
            <a:off x="7163714" y="4451106"/>
            <a:ext cx="1623849" cy="463355"/>
          </a:xfrm>
          <a:prstGeom prst="rect">
            <a:avLst/>
          </a:prstGeom>
          <a:noFill/>
          <a:ln>
            <a:noFill/>
          </a:ln>
        </p:spPr>
      </p:pic>
      <p:sp>
        <p:nvSpPr>
          <p:cNvPr id="118" name="Google Shape;118;g304eb0169a4_0_38"/>
          <p:cNvSpPr/>
          <p:nvPr/>
        </p:nvSpPr>
        <p:spPr>
          <a:xfrm>
            <a:off x="614600" y="4669825"/>
            <a:ext cx="5741700" cy="463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3B4449"/>
                </a:solidFill>
                <a:latin typeface="Arial"/>
                <a:ea typeface="Arial"/>
                <a:cs typeface="Arial"/>
                <a:sym typeface="Arial"/>
              </a:rPr>
              <a:t>Fundamentos y principios de las metodologías de gestión </a:t>
            </a:r>
            <a:endParaRPr b="0" i="0" sz="1400" u="none" cap="none" strike="noStrike">
              <a:solidFill>
                <a:schemeClr val="dk2"/>
              </a:solidFill>
              <a:latin typeface="Arial"/>
              <a:ea typeface="Arial"/>
              <a:cs typeface="Arial"/>
              <a:sym typeface="Arial"/>
            </a:endParaRPr>
          </a:p>
        </p:txBody>
      </p:sp>
      <p:sp>
        <p:nvSpPr>
          <p:cNvPr id="119" name="Google Shape;119;g304eb0169a4_0_38"/>
          <p:cNvSpPr/>
          <p:nvPr/>
        </p:nvSpPr>
        <p:spPr>
          <a:xfrm>
            <a:off x="610525" y="818200"/>
            <a:ext cx="7065600" cy="4635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1" lang="es">
                <a:solidFill>
                  <a:schemeClr val="dk2"/>
                </a:solidFill>
              </a:rPr>
              <a:t>CASO 1 - Soporte de TI en Empresa Mediana - Explotemos el Servicio - Parte B</a:t>
            </a:r>
            <a:endParaRPr b="1" i="0" sz="1400" u="none" cap="none" strike="noStrike">
              <a:solidFill>
                <a:schemeClr val="dk2"/>
              </a:solidFill>
              <a:latin typeface="Arial"/>
              <a:ea typeface="Arial"/>
              <a:cs typeface="Arial"/>
              <a:sym typeface="Arial"/>
            </a:endParaRPr>
          </a:p>
        </p:txBody>
      </p:sp>
      <p:graphicFrame>
        <p:nvGraphicFramePr>
          <p:cNvPr id="120" name="Google Shape;120;g304eb0169a4_0_38"/>
          <p:cNvGraphicFramePr/>
          <p:nvPr/>
        </p:nvGraphicFramePr>
        <p:xfrm>
          <a:off x="814225" y="1273700"/>
          <a:ext cx="3000000" cy="3000000"/>
        </p:xfrm>
        <a:graphic>
          <a:graphicData uri="http://schemas.openxmlformats.org/drawingml/2006/table">
            <a:tbl>
              <a:tblPr>
                <a:noFill/>
                <a:tableStyleId>{083F6A6F-06C8-4D1A-ABC7-433DCE45A8D4}</a:tableStyleId>
              </a:tblPr>
              <a:tblGrid>
                <a:gridCol w="3184750"/>
                <a:gridCol w="4788600"/>
              </a:tblGrid>
              <a:tr h="381000">
                <a:tc>
                  <a:txBody>
                    <a:bodyPr/>
                    <a:lstStyle/>
                    <a:p>
                      <a:pPr indent="0" lvl="0" marL="0" rtl="0" algn="ctr">
                        <a:spcBef>
                          <a:spcPts val="0"/>
                        </a:spcBef>
                        <a:spcAft>
                          <a:spcPts val="0"/>
                        </a:spcAft>
                        <a:buNone/>
                      </a:pPr>
                      <a:r>
                        <a:rPr b="1" lang="es">
                          <a:solidFill>
                            <a:schemeClr val="lt1"/>
                          </a:solidFill>
                        </a:rPr>
                        <a:t>Area</a:t>
                      </a:r>
                      <a:endParaRPr b="1">
                        <a:solidFill>
                          <a:schemeClr val="lt1"/>
                        </a:solidFill>
                      </a:endParaRPr>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solidFill>
                      <a:srgbClr val="6D9EEB"/>
                    </a:solidFill>
                  </a:tcPr>
                </a:tc>
                <a:tc>
                  <a:txBody>
                    <a:bodyPr/>
                    <a:lstStyle/>
                    <a:p>
                      <a:pPr indent="0" lvl="0" marL="0" rtl="0" algn="ctr">
                        <a:spcBef>
                          <a:spcPts val="0"/>
                        </a:spcBef>
                        <a:spcAft>
                          <a:spcPts val="0"/>
                        </a:spcAft>
                        <a:buNone/>
                      </a:pPr>
                      <a:r>
                        <a:rPr b="1" lang="es">
                          <a:solidFill>
                            <a:schemeClr val="lt1"/>
                          </a:solidFill>
                        </a:rPr>
                        <a:t>Descripción</a:t>
                      </a:r>
                      <a:endParaRPr b="1">
                        <a:solidFill>
                          <a:schemeClr val="lt1"/>
                        </a:solidFill>
                      </a:endParaRPr>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solidFill>
                      <a:srgbClr val="6D9EEB"/>
                    </a:solidFill>
                  </a:tcPr>
                </a:tc>
              </a:tr>
              <a:tr h="381000">
                <a:tc>
                  <a:txBody>
                    <a:bodyPr/>
                    <a:lstStyle/>
                    <a:p>
                      <a:pPr indent="0" lvl="0" marL="0" rtl="0" algn="l">
                        <a:spcBef>
                          <a:spcPts val="0"/>
                        </a:spcBef>
                        <a:spcAft>
                          <a:spcPts val="0"/>
                        </a:spcAft>
                        <a:buNone/>
                      </a:pPr>
                      <a:r>
                        <a:rPr b="1" lang="es"/>
                        <a:t>Prácticas aplicadas</a:t>
                      </a:r>
                      <a:endParaRPr b="1"/>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c>
                  <a:txBody>
                    <a:bodyPr/>
                    <a:lstStyle/>
                    <a:p>
                      <a:pPr indent="0" lvl="0" marL="0" rtl="0" algn="l">
                        <a:spcBef>
                          <a:spcPts val="0"/>
                        </a:spcBef>
                        <a:spcAft>
                          <a:spcPts val="0"/>
                        </a:spcAft>
                        <a:buNone/>
                      </a:pPr>
                      <a:r>
                        <a:rPr lang="es" sz="1100"/>
                        <a:t>- Gestión de incidentes: clasificación y escalamiento claro.</a:t>
                      </a:r>
                      <a:endParaRPr sz="1100"/>
                    </a:p>
                    <a:p>
                      <a:pPr indent="0" lvl="0" marL="0" rtl="0" algn="l">
                        <a:spcBef>
                          <a:spcPts val="0"/>
                        </a:spcBef>
                        <a:spcAft>
                          <a:spcPts val="0"/>
                        </a:spcAft>
                        <a:buNone/>
                      </a:pPr>
                      <a:r>
                        <a:rPr lang="es" sz="1100"/>
                        <a:t>- Gestión de problemas: identificar causas raíz de incidentes recurrentes.</a:t>
                      </a:r>
                      <a:endParaRPr sz="1100"/>
                    </a:p>
                    <a:p>
                      <a:pPr indent="0" lvl="0" marL="0" rtl="0" algn="l">
                        <a:spcBef>
                          <a:spcPts val="0"/>
                        </a:spcBef>
                        <a:spcAft>
                          <a:spcPts val="0"/>
                        </a:spcAft>
                        <a:buNone/>
                      </a:pPr>
                      <a:r>
                        <a:rPr lang="es" sz="1100"/>
                        <a:t>- Gestión del conocimiento: base de soluciones comunes accesible para agentes.</a:t>
                      </a:r>
                      <a:endParaRPr sz="1100"/>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s"/>
                        <a:t>Componentes del SVS </a:t>
                      </a:r>
                      <a:endParaRPr b="1"/>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c>
                  <a:txBody>
                    <a:bodyPr/>
                    <a:lstStyle/>
                    <a:p>
                      <a:pPr indent="0" lvl="0" marL="0" rtl="0" algn="l">
                        <a:spcBef>
                          <a:spcPts val="0"/>
                        </a:spcBef>
                        <a:spcAft>
                          <a:spcPts val="0"/>
                        </a:spcAft>
                        <a:buNone/>
                      </a:pPr>
                      <a:r>
                        <a:rPr lang="es" sz="1100"/>
                        <a:t>- Principios rectores: Centrarse en el valor, colaborar visiblemente.</a:t>
                      </a:r>
                      <a:endParaRPr sz="1100"/>
                    </a:p>
                    <a:p>
                      <a:pPr indent="0" lvl="0" marL="0" rtl="0" algn="l">
                        <a:spcBef>
                          <a:spcPts val="0"/>
                        </a:spcBef>
                        <a:spcAft>
                          <a:spcPts val="0"/>
                        </a:spcAft>
                        <a:buNone/>
                      </a:pPr>
                      <a:r>
                        <a:rPr lang="es" sz="1100"/>
                        <a:t>- Mejora continua: revisión mensual de métricas y ajustes incrementales.</a:t>
                      </a:r>
                      <a:endParaRPr sz="1100"/>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s"/>
                        <a:t>Resultados obtenidos</a:t>
                      </a:r>
                      <a:endParaRPr b="1"/>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c>
                  <a:txBody>
                    <a:bodyPr/>
                    <a:lstStyle/>
                    <a:p>
                      <a:pPr indent="0" lvl="0" marL="0" rtl="0" algn="l">
                        <a:spcBef>
                          <a:spcPts val="0"/>
                        </a:spcBef>
                        <a:spcAft>
                          <a:spcPts val="0"/>
                        </a:spcAft>
                        <a:buNone/>
                      </a:pPr>
                      <a:r>
                        <a:rPr lang="es" sz="1100">
                          <a:solidFill>
                            <a:schemeClr val="dk1"/>
                          </a:solidFill>
                        </a:rPr>
                        <a:t>- Reducción del 30% en el tiempo promedio de resolución de incidentes críticos.</a:t>
                      </a:r>
                      <a:endParaRPr sz="1100">
                        <a:solidFill>
                          <a:schemeClr val="dk1"/>
                        </a:solidFill>
                      </a:endParaRPr>
                    </a:p>
                    <a:p>
                      <a:pPr indent="0" lvl="0" marL="0" rtl="0" algn="l">
                        <a:spcBef>
                          <a:spcPts val="0"/>
                        </a:spcBef>
                        <a:spcAft>
                          <a:spcPts val="0"/>
                        </a:spcAft>
                        <a:buNone/>
                      </a:pPr>
                      <a:r>
                        <a:rPr lang="es" sz="1100">
                          <a:solidFill>
                            <a:schemeClr val="dk1"/>
                          </a:solidFill>
                        </a:rPr>
                        <a:t>- Aumento del 25% en la satisfacción de usuarios (encuestas internas).</a:t>
                      </a:r>
                      <a:endParaRPr sz="1100">
                        <a:solidFill>
                          <a:schemeClr val="dk1"/>
                        </a:solidFill>
                      </a:endParaRPr>
                    </a:p>
                    <a:p>
                      <a:pPr indent="0" lvl="0" marL="0" rtl="0" algn="l">
                        <a:spcBef>
                          <a:spcPts val="0"/>
                        </a:spcBef>
                        <a:spcAft>
                          <a:spcPts val="0"/>
                        </a:spcAft>
                        <a:buNone/>
                      </a:pPr>
                      <a:r>
                        <a:rPr lang="es" sz="1100">
                          <a:solidFill>
                            <a:schemeClr val="dk1"/>
                          </a:solidFill>
                        </a:rPr>
                        <a:t>- Mejora en la percepción del área de TI como socio estratégico.</a:t>
                      </a:r>
                      <a:endParaRPr sz="1100">
                        <a:solidFill>
                          <a:schemeClr val="dk1"/>
                        </a:solidFill>
                      </a:endParaRPr>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descr="C:\Users\Idiomas\Downloads\Fadena-Negativo-FondoClaro (1).png" id="125" name="Google Shape;125;g304eb0169a4_0_50"/>
          <p:cNvPicPr preferRelativeResize="0"/>
          <p:nvPr/>
        </p:nvPicPr>
        <p:blipFill rotWithShape="1">
          <a:blip r:embed="rId3">
            <a:alphaModFix/>
          </a:blip>
          <a:srcRect b="0" l="0" r="0" t="0"/>
          <a:stretch/>
        </p:blipFill>
        <p:spPr>
          <a:xfrm>
            <a:off x="939113" y="3534517"/>
            <a:ext cx="2094466" cy="586452"/>
          </a:xfrm>
          <a:prstGeom prst="rect">
            <a:avLst/>
          </a:prstGeom>
          <a:noFill/>
          <a:ln>
            <a:noFill/>
          </a:ln>
        </p:spPr>
      </p:pic>
      <p:sp>
        <p:nvSpPr>
          <p:cNvPr id="126" name="Google Shape;126;g304eb0169a4_0_50"/>
          <p:cNvSpPr/>
          <p:nvPr/>
        </p:nvSpPr>
        <p:spPr>
          <a:xfrm>
            <a:off x="622948" y="810196"/>
            <a:ext cx="4255500" cy="4635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2"/>
              </a:solidFill>
              <a:latin typeface="Arial"/>
              <a:ea typeface="Arial"/>
              <a:cs typeface="Arial"/>
              <a:sym typeface="Arial"/>
            </a:endParaRPr>
          </a:p>
        </p:txBody>
      </p:sp>
      <p:pic>
        <p:nvPicPr>
          <p:cNvPr id="127" name="Google Shape;127;g304eb0169a4_0_50"/>
          <p:cNvPicPr preferRelativeResize="0"/>
          <p:nvPr/>
        </p:nvPicPr>
        <p:blipFill rotWithShape="1">
          <a:blip r:embed="rId4">
            <a:alphaModFix/>
          </a:blip>
          <a:srcRect b="0" l="0" r="0" t="0"/>
          <a:stretch/>
        </p:blipFill>
        <p:spPr>
          <a:xfrm>
            <a:off x="7163714" y="4451106"/>
            <a:ext cx="1623849" cy="463355"/>
          </a:xfrm>
          <a:prstGeom prst="rect">
            <a:avLst/>
          </a:prstGeom>
          <a:noFill/>
          <a:ln>
            <a:noFill/>
          </a:ln>
        </p:spPr>
      </p:pic>
      <p:sp>
        <p:nvSpPr>
          <p:cNvPr id="128" name="Google Shape;128;g304eb0169a4_0_50"/>
          <p:cNvSpPr/>
          <p:nvPr/>
        </p:nvSpPr>
        <p:spPr>
          <a:xfrm>
            <a:off x="614600" y="4669825"/>
            <a:ext cx="5741700" cy="463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3B4449"/>
                </a:solidFill>
                <a:latin typeface="Arial"/>
                <a:ea typeface="Arial"/>
                <a:cs typeface="Arial"/>
                <a:sym typeface="Arial"/>
              </a:rPr>
              <a:t>Fundamentos y principios de las metodologías de gestión </a:t>
            </a:r>
            <a:endParaRPr b="0" i="0" sz="1400" u="none" cap="none" strike="noStrike">
              <a:solidFill>
                <a:schemeClr val="dk2"/>
              </a:solidFill>
              <a:latin typeface="Arial"/>
              <a:ea typeface="Arial"/>
              <a:cs typeface="Arial"/>
              <a:sym typeface="Arial"/>
            </a:endParaRPr>
          </a:p>
        </p:txBody>
      </p:sp>
      <p:sp>
        <p:nvSpPr>
          <p:cNvPr id="129" name="Google Shape;129;g304eb0169a4_0_50"/>
          <p:cNvSpPr/>
          <p:nvPr/>
        </p:nvSpPr>
        <p:spPr>
          <a:xfrm>
            <a:off x="610525" y="818200"/>
            <a:ext cx="7157700" cy="4635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1" lang="es">
                <a:solidFill>
                  <a:schemeClr val="dk2"/>
                </a:solidFill>
              </a:rPr>
              <a:t>CASO 2 - </a:t>
            </a:r>
            <a:r>
              <a:rPr b="1" lang="es">
                <a:solidFill>
                  <a:schemeClr val="dk2"/>
                </a:solidFill>
              </a:rPr>
              <a:t>Lanzamiento de un Nuevo Servicio en la Nube - Parte A</a:t>
            </a:r>
            <a:endParaRPr b="1" i="0" sz="1400" u="none" cap="none" strike="noStrike">
              <a:solidFill>
                <a:schemeClr val="dk2"/>
              </a:solidFill>
              <a:latin typeface="Arial"/>
              <a:ea typeface="Arial"/>
              <a:cs typeface="Arial"/>
              <a:sym typeface="Arial"/>
            </a:endParaRPr>
          </a:p>
        </p:txBody>
      </p:sp>
      <p:graphicFrame>
        <p:nvGraphicFramePr>
          <p:cNvPr id="130" name="Google Shape;130;g304eb0169a4_0_50"/>
          <p:cNvGraphicFramePr/>
          <p:nvPr/>
        </p:nvGraphicFramePr>
        <p:xfrm>
          <a:off x="814225" y="1273700"/>
          <a:ext cx="3000000" cy="3000000"/>
        </p:xfrm>
        <a:graphic>
          <a:graphicData uri="http://schemas.openxmlformats.org/drawingml/2006/table">
            <a:tbl>
              <a:tblPr>
                <a:noFill/>
                <a:tableStyleId>{083F6A6F-06C8-4D1A-ABC7-433DCE45A8D4}</a:tableStyleId>
              </a:tblPr>
              <a:tblGrid>
                <a:gridCol w="3254500"/>
                <a:gridCol w="4666600"/>
              </a:tblGrid>
              <a:tr h="381000">
                <a:tc>
                  <a:txBody>
                    <a:bodyPr/>
                    <a:lstStyle/>
                    <a:p>
                      <a:pPr indent="0" lvl="0" marL="0" rtl="0" algn="ctr">
                        <a:spcBef>
                          <a:spcPts val="0"/>
                        </a:spcBef>
                        <a:spcAft>
                          <a:spcPts val="0"/>
                        </a:spcAft>
                        <a:buNone/>
                      </a:pPr>
                      <a:r>
                        <a:rPr b="1" lang="es">
                          <a:solidFill>
                            <a:schemeClr val="lt1"/>
                          </a:solidFill>
                        </a:rPr>
                        <a:t>Area</a:t>
                      </a:r>
                      <a:endParaRPr b="1">
                        <a:solidFill>
                          <a:schemeClr val="lt1"/>
                        </a:solidFill>
                      </a:endParaRPr>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solidFill>
                      <a:srgbClr val="6D9EEB"/>
                    </a:solidFill>
                  </a:tcPr>
                </a:tc>
                <a:tc>
                  <a:txBody>
                    <a:bodyPr/>
                    <a:lstStyle/>
                    <a:p>
                      <a:pPr indent="0" lvl="0" marL="0" rtl="0" algn="ctr">
                        <a:spcBef>
                          <a:spcPts val="0"/>
                        </a:spcBef>
                        <a:spcAft>
                          <a:spcPts val="0"/>
                        </a:spcAft>
                        <a:buNone/>
                      </a:pPr>
                      <a:r>
                        <a:rPr b="1" lang="es">
                          <a:solidFill>
                            <a:schemeClr val="lt1"/>
                          </a:solidFill>
                        </a:rPr>
                        <a:t>Descripción</a:t>
                      </a:r>
                      <a:endParaRPr b="1">
                        <a:solidFill>
                          <a:schemeClr val="lt1"/>
                        </a:solidFill>
                      </a:endParaRPr>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solidFill>
                      <a:srgbClr val="6D9EEB"/>
                    </a:solidFill>
                  </a:tcPr>
                </a:tc>
              </a:tr>
              <a:tr h="381000">
                <a:tc>
                  <a:txBody>
                    <a:bodyPr/>
                    <a:lstStyle/>
                    <a:p>
                      <a:pPr indent="0" lvl="0" marL="0" rtl="0" algn="l">
                        <a:spcBef>
                          <a:spcPts val="0"/>
                        </a:spcBef>
                        <a:spcAft>
                          <a:spcPts val="0"/>
                        </a:spcAft>
                        <a:buNone/>
                      </a:pPr>
                      <a:r>
                        <a:rPr b="1" lang="es"/>
                        <a:t>Situación inicial</a:t>
                      </a:r>
                      <a:endParaRPr b="1"/>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c>
                  <a:txBody>
                    <a:bodyPr/>
                    <a:lstStyle/>
                    <a:p>
                      <a:pPr indent="0" lvl="0" marL="0" rtl="0" algn="l">
                        <a:spcBef>
                          <a:spcPts val="0"/>
                        </a:spcBef>
                        <a:spcAft>
                          <a:spcPts val="0"/>
                        </a:spcAft>
                        <a:buNone/>
                      </a:pPr>
                      <a:r>
                        <a:rPr lang="es" sz="1100"/>
                        <a:t>Una empresa de retail necesita lanzar un sistema de pedidos online en la nube (AWS) para mejorar la experiencia del cliente y soportar crecimiento</a:t>
                      </a:r>
                      <a:r>
                        <a:rPr lang="es" sz="1100"/>
                        <a:t>.</a:t>
                      </a:r>
                      <a:endParaRPr sz="1100"/>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s"/>
                        <a:t>Oportunidad / Demanda</a:t>
                      </a:r>
                      <a:endParaRPr b="1"/>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c>
                  <a:txBody>
                    <a:bodyPr/>
                    <a:lstStyle/>
                    <a:p>
                      <a:pPr indent="0" lvl="0" marL="0" rtl="0" algn="l">
                        <a:spcBef>
                          <a:spcPts val="0"/>
                        </a:spcBef>
                        <a:spcAft>
                          <a:spcPts val="0"/>
                        </a:spcAft>
                        <a:buNone/>
                      </a:pPr>
                      <a:r>
                        <a:rPr lang="es" sz="1100"/>
                        <a:t>Demanda del negocio: mejorar el time-to-market, experiencia del usuario y escalabilidad.</a:t>
                      </a:r>
                      <a:endParaRPr sz="1100"/>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s"/>
                        <a:t>Actividades de la cadena de valor</a:t>
                      </a:r>
                      <a:endParaRPr b="1"/>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c>
                  <a:txBody>
                    <a:bodyPr/>
                    <a:lstStyle/>
                    <a:p>
                      <a:pPr indent="-298450" lvl="0" marL="457200" rtl="0" algn="l">
                        <a:spcBef>
                          <a:spcPts val="0"/>
                        </a:spcBef>
                        <a:spcAft>
                          <a:spcPts val="0"/>
                        </a:spcAft>
                        <a:buClr>
                          <a:schemeClr val="dk1"/>
                        </a:buClr>
                        <a:buSzPts val="1100"/>
                        <a:buChar char="❖"/>
                      </a:pPr>
                      <a:r>
                        <a:rPr lang="es" sz="1100">
                          <a:solidFill>
                            <a:schemeClr val="dk1"/>
                          </a:solidFill>
                        </a:rPr>
                        <a:t>Plan: diseño de arquitectura escalable.</a:t>
                      </a:r>
                      <a:endParaRPr sz="1100">
                        <a:solidFill>
                          <a:schemeClr val="dk1"/>
                        </a:solidFill>
                      </a:endParaRPr>
                    </a:p>
                    <a:p>
                      <a:pPr indent="-298450" lvl="0" marL="457200" rtl="0" algn="l">
                        <a:spcBef>
                          <a:spcPts val="0"/>
                        </a:spcBef>
                        <a:spcAft>
                          <a:spcPts val="0"/>
                        </a:spcAft>
                        <a:buClr>
                          <a:schemeClr val="dk1"/>
                        </a:buClr>
                        <a:buSzPts val="1100"/>
                        <a:buChar char="❖"/>
                      </a:pPr>
                      <a:r>
                        <a:rPr lang="es" sz="1100">
                          <a:solidFill>
                            <a:schemeClr val="dk1"/>
                          </a:solidFill>
                        </a:rPr>
                        <a:t>Design &amp; Transition: construcción e implementación controlada.</a:t>
                      </a:r>
                      <a:endParaRPr sz="1100">
                        <a:solidFill>
                          <a:schemeClr val="dk1"/>
                        </a:solidFill>
                      </a:endParaRPr>
                    </a:p>
                    <a:p>
                      <a:pPr indent="-298450" lvl="0" marL="457200" rtl="0" algn="l">
                        <a:spcBef>
                          <a:spcPts val="0"/>
                        </a:spcBef>
                        <a:spcAft>
                          <a:spcPts val="0"/>
                        </a:spcAft>
                        <a:buClr>
                          <a:schemeClr val="dk1"/>
                        </a:buClr>
                        <a:buSzPts val="1100"/>
                        <a:buChar char="❖"/>
                      </a:pPr>
                      <a:r>
                        <a:rPr lang="es" sz="1100">
                          <a:solidFill>
                            <a:schemeClr val="dk1"/>
                          </a:solidFill>
                        </a:rPr>
                        <a:t>Engage: colaboración con usuarios beta y áreas de negocio.</a:t>
                      </a:r>
                      <a:endParaRPr sz="1100">
                        <a:solidFill>
                          <a:schemeClr val="dk1"/>
                        </a:solidFill>
                      </a:endParaRPr>
                    </a:p>
                    <a:p>
                      <a:pPr indent="-298450" lvl="0" marL="457200" rtl="0" algn="l">
                        <a:spcBef>
                          <a:spcPts val="0"/>
                        </a:spcBef>
                        <a:spcAft>
                          <a:spcPts val="0"/>
                        </a:spcAft>
                        <a:buClr>
                          <a:schemeClr val="dk1"/>
                        </a:buClr>
                        <a:buSzPts val="1100"/>
                        <a:buChar char="❖"/>
                      </a:pPr>
                      <a:r>
                        <a:rPr lang="es" sz="1100">
                          <a:solidFill>
                            <a:schemeClr val="dk1"/>
                          </a:solidFill>
                        </a:rPr>
                        <a:t>Obtain/Build: desarrollo en entornos cloud.</a:t>
                      </a:r>
                      <a:endParaRPr sz="1100">
                        <a:solidFill>
                          <a:schemeClr val="dk1"/>
                        </a:solidFill>
                      </a:endParaRPr>
                    </a:p>
                    <a:p>
                      <a:pPr indent="-298450" lvl="0" marL="457200" rtl="0" algn="l">
                        <a:spcBef>
                          <a:spcPts val="0"/>
                        </a:spcBef>
                        <a:spcAft>
                          <a:spcPts val="0"/>
                        </a:spcAft>
                        <a:buClr>
                          <a:schemeClr val="dk1"/>
                        </a:buClr>
                        <a:buSzPts val="1100"/>
                        <a:buChar char="❖"/>
                      </a:pPr>
                      <a:r>
                        <a:rPr lang="es" sz="1100">
                          <a:solidFill>
                            <a:schemeClr val="dk1"/>
                          </a:solidFill>
                        </a:rPr>
                        <a:t>Deliver &amp; Support: monitoreo inicial, soporte post-lanzamiento.</a:t>
                      </a:r>
                      <a:endParaRPr sz="1100">
                        <a:solidFill>
                          <a:schemeClr val="dk1"/>
                        </a:solidFill>
                      </a:endParaRPr>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descr="C:\Users\Idiomas\Downloads\Fadena-Negativo-FondoClaro (1).png" id="135" name="Google Shape;135;g304eb0169a4_0_59"/>
          <p:cNvPicPr preferRelativeResize="0"/>
          <p:nvPr/>
        </p:nvPicPr>
        <p:blipFill rotWithShape="1">
          <a:blip r:embed="rId3">
            <a:alphaModFix/>
          </a:blip>
          <a:srcRect b="0" l="0" r="0" t="0"/>
          <a:stretch/>
        </p:blipFill>
        <p:spPr>
          <a:xfrm>
            <a:off x="939113" y="3534517"/>
            <a:ext cx="2094466" cy="586452"/>
          </a:xfrm>
          <a:prstGeom prst="rect">
            <a:avLst/>
          </a:prstGeom>
          <a:noFill/>
          <a:ln>
            <a:noFill/>
          </a:ln>
        </p:spPr>
      </p:pic>
      <p:sp>
        <p:nvSpPr>
          <p:cNvPr id="136" name="Google Shape;136;g304eb0169a4_0_59"/>
          <p:cNvSpPr/>
          <p:nvPr/>
        </p:nvSpPr>
        <p:spPr>
          <a:xfrm>
            <a:off x="622948" y="810196"/>
            <a:ext cx="4255500" cy="4635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2"/>
              </a:solidFill>
              <a:latin typeface="Arial"/>
              <a:ea typeface="Arial"/>
              <a:cs typeface="Arial"/>
              <a:sym typeface="Arial"/>
            </a:endParaRPr>
          </a:p>
        </p:txBody>
      </p:sp>
      <p:pic>
        <p:nvPicPr>
          <p:cNvPr id="137" name="Google Shape;137;g304eb0169a4_0_59"/>
          <p:cNvPicPr preferRelativeResize="0"/>
          <p:nvPr/>
        </p:nvPicPr>
        <p:blipFill rotWithShape="1">
          <a:blip r:embed="rId4">
            <a:alphaModFix/>
          </a:blip>
          <a:srcRect b="0" l="0" r="0" t="0"/>
          <a:stretch/>
        </p:blipFill>
        <p:spPr>
          <a:xfrm>
            <a:off x="7163714" y="4451106"/>
            <a:ext cx="1623849" cy="463355"/>
          </a:xfrm>
          <a:prstGeom prst="rect">
            <a:avLst/>
          </a:prstGeom>
          <a:noFill/>
          <a:ln>
            <a:noFill/>
          </a:ln>
        </p:spPr>
      </p:pic>
      <p:sp>
        <p:nvSpPr>
          <p:cNvPr id="138" name="Google Shape;138;g304eb0169a4_0_59"/>
          <p:cNvSpPr/>
          <p:nvPr/>
        </p:nvSpPr>
        <p:spPr>
          <a:xfrm>
            <a:off x="614600" y="4669825"/>
            <a:ext cx="5741700" cy="463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3B4449"/>
                </a:solidFill>
                <a:latin typeface="Arial"/>
                <a:ea typeface="Arial"/>
                <a:cs typeface="Arial"/>
                <a:sym typeface="Arial"/>
              </a:rPr>
              <a:t>Fundamentos y principios de las metodologías de gestión </a:t>
            </a:r>
            <a:endParaRPr b="0" i="0" sz="1400" u="none" cap="none" strike="noStrike">
              <a:solidFill>
                <a:schemeClr val="dk2"/>
              </a:solidFill>
              <a:latin typeface="Arial"/>
              <a:ea typeface="Arial"/>
              <a:cs typeface="Arial"/>
              <a:sym typeface="Arial"/>
            </a:endParaRPr>
          </a:p>
        </p:txBody>
      </p:sp>
      <p:sp>
        <p:nvSpPr>
          <p:cNvPr id="139" name="Google Shape;139;g304eb0169a4_0_59"/>
          <p:cNvSpPr/>
          <p:nvPr/>
        </p:nvSpPr>
        <p:spPr>
          <a:xfrm>
            <a:off x="610525" y="818200"/>
            <a:ext cx="7065600" cy="4635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1" lang="es">
                <a:solidFill>
                  <a:schemeClr val="dk2"/>
                </a:solidFill>
              </a:rPr>
              <a:t>CASO 2 - </a:t>
            </a:r>
            <a:r>
              <a:rPr b="1" lang="es">
                <a:solidFill>
                  <a:schemeClr val="dk2"/>
                </a:solidFill>
              </a:rPr>
              <a:t>Lanzamiento de un Nuevo Servicio en la Nube</a:t>
            </a:r>
            <a:r>
              <a:rPr b="1" lang="es">
                <a:solidFill>
                  <a:schemeClr val="dk2"/>
                </a:solidFill>
              </a:rPr>
              <a:t> - Parte B</a:t>
            </a:r>
            <a:endParaRPr b="1" i="0" sz="1400" u="none" cap="none" strike="noStrike">
              <a:solidFill>
                <a:schemeClr val="dk2"/>
              </a:solidFill>
              <a:latin typeface="Arial"/>
              <a:ea typeface="Arial"/>
              <a:cs typeface="Arial"/>
              <a:sym typeface="Arial"/>
            </a:endParaRPr>
          </a:p>
        </p:txBody>
      </p:sp>
      <p:graphicFrame>
        <p:nvGraphicFramePr>
          <p:cNvPr id="140" name="Google Shape;140;g304eb0169a4_0_59"/>
          <p:cNvGraphicFramePr/>
          <p:nvPr/>
        </p:nvGraphicFramePr>
        <p:xfrm>
          <a:off x="814225" y="1273700"/>
          <a:ext cx="3000000" cy="3000000"/>
        </p:xfrm>
        <a:graphic>
          <a:graphicData uri="http://schemas.openxmlformats.org/drawingml/2006/table">
            <a:tbl>
              <a:tblPr>
                <a:noFill/>
                <a:tableStyleId>{083F6A6F-06C8-4D1A-ABC7-433DCE45A8D4}</a:tableStyleId>
              </a:tblPr>
              <a:tblGrid>
                <a:gridCol w="2981950"/>
                <a:gridCol w="4991400"/>
              </a:tblGrid>
              <a:tr h="381000">
                <a:tc>
                  <a:txBody>
                    <a:bodyPr/>
                    <a:lstStyle/>
                    <a:p>
                      <a:pPr indent="0" lvl="0" marL="0" rtl="0" algn="ctr">
                        <a:spcBef>
                          <a:spcPts val="0"/>
                        </a:spcBef>
                        <a:spcAft>
                          <a:spcPts val="0"/>
                        </a:spcAft>
                        <a:buNone/>
                      </a:pPr>
                      <a:r>
                        <a:rPr b="1" lang="es">
                          <a:solidFill>
                            <a:schemeClr val="lt1"/>
                          </a:solidFill>
                        </a:rPr>
                        <a:t>Area</a:t>
                      </a:r>
                      <a:endParaRPr b="1">
                        <a:solidFill>
                          <a:schemeClr val="lt1"/>
                        </a:solidFill>
                      </a:endParaRPr>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solidFill>
                      <a:srgbClr val="6D9EEB"/>
                    </a:solidFill>
                  </a:tcPr>
                </a:tc>
                <a:tc>
                  <a:txBody>
                    <a:bodyPr/>
                    <a:lstStyle/>
                    <a:p>
                      <a:pPr indent="0" lvl="0" marL="0" rtl="0" algn="ctr">
                        <a:spcBef>
                          <a:spcPts val="0"/>
                        </a:spcBef>
                        <a:spcAft>
                          <a:spcPts val="0"/>
                        </a:spcAft>
                        <a:buNone/>
                      </a:pPr>
                      <a:r>
                        <a:rPr b="1" lang="es">
                          <a:solidFill>
                            <a:schemeClr val="lt1"/>
                          </a:solidFill>
                        </a:rPr>
                        <a:t>Descripción</a:t>
                      </a:r>
                      <a:endParaRPr b="1">
                        <a:solidFill>
                          <a:schemeClr val="lt1"/>
                        </a:solidFill>
                      </a:endParaRPr>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solidFill>
                      <a:srgbClr val="6D9EEB"/>
                    </a:solidFill>
                  </a:tcPr>
                </a:tc>
              </a:tr>
              <a:tr h="381000">
                <a:tc>
                  <a:txBody>
                    <a:bodyPr/>
                    <a:lstStyle/>
                    <a:p>
                      <a:pPr indent="0" lvl="0" marL="0" rtl="0" algn="l">
                        <a:spcBef>
                          <a:spcPts val="0"/>
                        </a:spcBef>
                        <a:spcAft>
                          <a:spcPts val="0"/>
                        </a:spcAft>
                        <a:buNone/>
                      </a:pPr>
                      <a:r>
                        <a:rPr b="1" lang="es"/>
                        <a:t>Prácticas aplicadas</a:t>
                      </a:r>
                      <a:endParaRPr b="1"/>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c>
                  <a:txBody>
                    <a:bodyPr/>
                    <a:lstStyle/>
                    <a:p>
                      <a:pPr indent="-298450" lvl="0" marL="457200" rtl="0" algn="l">
                        <a:spcBef>
                          <a:spcPts val="0"/>
                        </a:spcBef>
                        <a:spcAft>
                          <a:spcPts val="0"/>
                        </a:spcAft>
                        <a:buSzPts val="1100"/>
                        <a:buChar char="❖"/>
                      </a:pPr>
                      <a:r>
                        <a:rPr lang="es" sz="1100"/>
                        <a:t>Gestión del cambio para controlar los despliegues.</a:t>
                      </a:r>
                      <a:endParaRPr sz="1100"/>
                    </a:p>
                    <a:p>
                      <a:pPr indent="-298450" lvl="0" marL="457200" rtl="0" algn="l">
                        <a:spcBef>
                          <a:spcPts val="0"/>
                        </a:spcBef>
                        <a:spcAft>
                          <a:spcPts val="0"/>
                        </a:spcAft>
                        <a:buSzPts val="1100"/>
                        <a:buChar char="❖"/>
                      </a:pPr>
                      <a:r>
                        <a:rPr lang="es" sz="1100"/>
                        <a:t>Gestión de disponibilidad para asegurar uptime.</a:t>
                      </a:r>
                      <a:endParaRPr sz="1100"/>
                    </a:p>
                    <a:p>
                      <a:pPr indent="-298450" lvl="0" marL="457200" rtl="0" algn="l">
                        <a:spcBef>
                          <a:spcPts val="0"/>
                        </a:spcBef>
                        <a:spcAft>
                          <a:spcPts val="0"/>
                        </a:spcAft>
                        <a:buSzPts val="1100"/>
                        <a:buChar char="❖"/>
                      </a:pPr>
                      <a:r>
                        <a:rPr lang="es" sz="1100"/>
                        <a:t>Gestión de relaciones con proveedores (AWS, software de terceros).</a:t>
                      </a:r>
                      <a:endParaRPr sz="1100"/>
                    </a:p>
                    <a:p>
                      <a:pPr indent="-298450" lvl="0" marL="457200" rtl="0" algn="l">
                        <a:spcBef>
                          <a:spcPts val="0"/>
                        </a:spcBef>
                        <a:spcAft>
                          <a:spcPts val="0"/>
                        </a:spcAft>
                        <a:buSzPts val="1100"/>
                        <a:buChar char="❖"/>
                      </a:pPr>
                      <a:r>
                        <a:rPr lang="es" sz="1100"/>
                        <a:t>Despliegue y versiones con ambientes seguros de rollback.</a:t>
                      </a:r>
                      <a:endParaRPr sz="1100"/>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r>
              <a:tr h="353900">
                <a:tc>
                  <a:txBody>
                    <a:bodyPr/>
                    <a:lstStyle/>
                    <a:p>
                      <a:pPr indent="0" lvl="0" marL="0" rtl="0" algn="l">
                        <a:spcBef>
                          <a:spcPts val="0"/>
                        </a:spcBef>
                        <a:spcAft>
                          <a:spcPts val="0"/>
                        </a:spcAft>
                        <a:buNone/>
                      </a:pPr>
                      <a:r>
                        <a:rPr b="1" lang="es"/>
                        <a:t>Componentes del SVS </a:t>
                      </a:r>
                      <a:endParaRPr b="1"/>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c>
                  <a:txBody>
                    <a:bodyPr/>
                    <a:lstStyle/>
                    <a:p>
                      <a:pPr indent="-298450" lvl="0" marL="457200" rtl="0" algn="l">
                        <a:spcBef>
                          <a:spcPts val="0"/>
                        </a:spcBef>
                        <a:spcAft>
                          <a:spcPts val="0"/>
                        </a:spcAft>
                        <a:buSzPts val="1100"/>
                        <a:buChar char="❖"/>
                      </a:pPr>
                      <a:r>
                        <a:rPr lang="es" sz="1100"/>
                        <a:t>Gobernanza: comité de aprobación para go-live.</a:t>
                      </a:r>
                      <a:endParaRPr sz="1100"/>
                    </a:p>
                    <a:p>
                      <a:pPr indent="-298450" lvl="0" marL="457200" rtl="0" algn="l">
                        <a:spcBef>
                          <a:spcPts val="0"/>
                        </a:spcBef>
                        <a:spcAft>
                          <a:spcPts val="0"/>
                        </a:spcAft>
                        <a:buSzPts val="1100"/>
                        <a:buChar char="❖"/>
                      </a:pPr>
                      <a:r>
                        <a:rPr lang="es" sz="1100"/>
                        <a:t>Prácticas de mejora continua: feedback post-lanzamiento y mejoras iterativas.</a:t>
                      </a:r>
                      <a:endParaRPr sz="1100"/>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s"/>
                        <a:t>Resultados obtenidos</a:t>
                      </a:r>
                      <a:endParaRPr b="1"/>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c>
                  <a:txBody>
                    <a:bodyPr/>
                    <a:lstStyle/>
                    <a:p>
                      <a:pPr indent="-298450" lvl="0" marL="457200" rtl="0" algn="l">
                        <a:spcBef>
                          <a:spcPts val="0"/>
                        </a:spcBef>
                        <a:spcAft>
                          <a:spcPts val="0"/>
                        </a:spcAft>
                        <a:buClr>
                          <a:schemeClr val="dk1"/>
                        </a:buClr>
                        <a:buSzPts val="1100"/>
                        <a:buChar char="❖"/>
                      </a:pPr>
                      <a:r>
                        <a:rPr lang="es" sz="1100">
                          <a:solidFill>
                            <a:schemeClr val="dk1"/>
                          </a:solidFill>
                        </a:rPr>
                        <a:t>Servicio desplegado en 60 días (vs 90 estimado).</a:t>
                      </a:r>
                      <a:endParaRPr sz="1100">
                        <a:solidFill>
                          <a:schemeClr val="dk1"/>
                        </a:solidFill>
                      </a:endParaRPr>
                    </a:p>
                    <a:p>
                      <a:pPr indent="-298450" lvl="0" marL="457200" rtl="0" algn="l">
                        <a:spcBef>
                          <a:spcPts val="0"/>
                        </a:spcBef>
                        <a:spcAft>
                          <a:spcPts val="0"/>
                        </a:spcAft>
                        <a:buClr>
                          <a:schemeClr val="dk1"/>
                        </a:buClr>
                        <a:buSzPts val="1100"/>
                        <a:buChar char="❖"/>
                      </a:pPr>
                      <a:r>
                        <a:rPr lang="es" sz="1100">
                          <a:solidFill>
                            <a:schemeClr val="dk1"/>
                          </a:solidFill>
                        </a:rPr>
                        <a:t>Satisfacción de cliente final: +40% en encuestas.</a:t>
                      </a:r>
                      <a:endParaRPr sz="1100">
                        <a:solidFill>
                          <a:schemeClr val="dk1"/>
                        </a:solidFill>
                      </a:endParaRPr>
                    </a:p>
                    <a:p>
                      <a:pPr indent="-298450" lvl="0" marL="457200" rtl="0" algn="l">
                        <a:spcBef>
                          <a:spcPts val="0"/>
                        </a:spcBef>
                        <a:spcAft>
                          <a:spcPts val="0"/>
                        </a:spcAft>
                        <a:buClr>
                          <a:schemeClr val="dk1"/>
                        </a:buClr>
                        <a:buSzPts val="1100"/>
                        <a:buChar char="❖"/>
                      </a:pPr>
                      <a:r>
                        <a:rPr lang="es" sz="1100">
                          <a:solidFill>
                            <a:schemeClr val="dk1"/>
                          </a:solidFill>
                        </a:rPr>
                        <a:t>Infraestructura escalable y monitoreada 24/7.</a:t>
                      </a:r>
                      <a:endParaRPr sz="1100">
                        <a:solidFill>
                          <a:schemeClr val="dk1"/>
                        </a:solidFill>
                      </a:endParaRPr>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pic>
        <p:nvPicPr>
          <p:cNvPr descr="C:\Users\Idiomas\Downloads\Fadena-Negativo-FondoClaro (1).png" id="145" name="Google Shape;145;g356d56908db_0_0"/>
          <p:cNvPicPr preferRelativeResize="0"/>
          <p:nvPr/>
        </p:nvPicPr>
        <p:blipFill rotWithShape="1">
          <a:blip r:embed="rId3">
            <a:alphaModFix/>
          </a:blip>
          <a:srcRect b="0" l="0" r="0" t="0"/>
          <a:stretch/>
        </p:blipFill>
        <p:spPr>
          <a:xfrm>
            <a:off x="939113" y="3534517"/>
            <a:ext cx="2094466" cy="586452"/>
          </a:xfrm>
          <a:prstGeom prst="rect">
            <a:avLst/>
          </a:prstGeom>
          <a:noFill/>
          <a:ln>
            <a:noFill/>
          </a:ln>
        </p:spPr>
      </p:pic>
      <p:sp>
        <p:nvSpPr>
          <p:cNvPr id="146" name="Google Shape;146;g356d56908db_0_0"/>
          <p:cNvSpPr/>
          <p:nvPr/>
        </p:nvSpPr>
        <p:spPr>
          <a:xfrm>
            <a:off x="622948" y="810196"/>
            <a:ext cx="4255500" cy="4635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2"/>
              </a:solidFill>
              <a:latin typeface="Arial"/>
              <a:ea typeface="Arial"/>
              <a:cs typeface="Arial"/>
              <a:sym typeface="Arial"/>
            </a:endParaRPr>
          </a:p>
        </p:txBody>
      </p:sp>
      <p:pic>
        <p:nvPicPr>
          <p:cNvPr id="147" name="Google Shape;147;g356d56908db_0_0"/>
          <p:cNvPicPr preferRelativeResize="0"/>
          <p:nvPr/>
        </p:nvPicPr>
        <p:blipFill rotWithShape="1">
          <a:blip r:embed="rId4">
            <a:alphaModFix/>
          </a:blip>
          <a:srcRect b="0" l="0" r="0" t="0"/>
          <a:stretch/>
        </p:blipFill>
        <p:spPr>
          <a:xfrm>
            <a:off x="7163714" y="4451106"/>
            <a:ext cx="1623849" cy="463355"/>
          </a:xfrm>
          <a:prstGeom prst="rect">
            <a:avLst/>
          </a:prstGeom>
          <a:noFill/>
          <a:ln>
            <a:noFill/>
          </a:ln>
        </p:spPr>
      </p:pic>
      <p:sp>
        <p:nvSpPr>
          <p:cNvPr id="148" name="Google Shape;148;g356d56908db_0_0"/>
          <p:cNvSpPr/>
          <p:nvPr/>
        </p:nvSpPr>
        <p:spPr>
          <a:xfrm>
            <a:off x="614600" y="4669825"/>
            <a:ext cx="5741700" cy="463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3B4449"/>
                </a:solidFill>
                <a:latin typeface="Arial"/>
                <a:ea typeface="Arial"/>
                <a:cs typeface="Arial"/>
                <a:sym typeface="Arial"/>
              </a:rPr>
              <a:t>Fundamentos y principios de las metodologías de gestión </a:t>
            </a:r>
            <a:endParaRPr b="0" i="0" sz="1400" u="none" cap="none" strike="noStrike">
              <a:solidFill>
                <a:schemeClr val="dk2"/>
              </a:solidFill>
              <a:latin typeface="Arial"/>
              <a:ea typeface="Arial"/>
              <a:cs typeface="Arial"/>
              <a:sym typeface="Arial"/>
            </a:endParaRPr>
          </a:p>
        </p:txBody>
      </p:sp>
      <p:sp>
        <p:nvSpPr>
          <p:cNvPr id="149" name="Google Shape;149;g356d56908db_0_0"/>
          <p:cNvSpPr/>
          <p:nvPr/>
        </p:nvSpPr>
        <p:spPr>
          <a:xfrm>
            <a:off x="610525" y="818200"/>
            <a:ext cx="7157700" cy="4635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1" lang="es">
                <a:solidFill>
                  <a:schemeClr val="dk2"/>
                </a:solidFill>
              </a:rPr>
              <a:t>CASO 3 - </a:t>
            </a:r>
            <a:r>
              <a:rPr b="1" lang="es">
                <a:solidFill>
                  <a:schemeClr val="dk2"/>
                </a:solidFill>
              </a:rPr>
              <a:t>Gestión de Cambios Ágil en una Fintech</a:t>
            </a:r>
            <a:r>
              <a:rPr b="1" lang="es">
                <a:solidFill>
                  <a:schemeClr val="dk2"/>
                </a:solidFill>
              </a:rPr>
              <a:t> - Parte A</a:t>
            </a:r>
            <a:endParaRPr b="1" i="0" sz="1400" u="none" cap="none" strike="noStrike">
              <a:solidFill>
                <a:schemeClr val="dk2"/>
              </a:solidFill>
              <a:latin typeface="Arial"/>
              <a:ea typeface="Arial"/>
              <a:cs typeface="Arial"/>
              <a:sym typeface="Arial"/>
            </a:endParaRPr>
          </a:p>
        </p:txBody>
      </p:sp>
      <p:graphicFrame>
        <p:nvGraphicFramePr>
          <p:cNvPr id="150" name="Google Shape;150;g356d56908db_0_0"/>
          <p:cNvGraphicFramePr/>
          <p:nvPr/>
        </p:nvGraphicFramePr>
        <p:xfrm>
          <a:off x="814225" y="1273700"/>
          <a:ext cx="3000000" cy="3000000"/>
        </p:xfrm>
        <a:graphic>
          <a:graphicData uri="http://schemas.openxmlformats.org/drawingml/2006/table">
            <a:tbl>
              <a:tblPr>
                <a:noFill/>
                <a:tableStyleId>{083F6A6F-06C8-4D1A-ABC7-433DCE45A8D4}</a:tableStyleId>
              </a:tblPr>
              <a:tblGrid>
                <a:gridCol w="3048750"/>
                <a:gridCol w="4872350"/>
              </a:tblGrid>
              <a:tr h="381000">
                <a:tc>
                  <a:txBody>
                    <a:bodyPr/>
                    <a:lstStyle/>
                    <a:p>
                      <a:pPr indent="0" lvl="0" marL="0" rtl="0" algn="ctr">
                        <a:spcBef>
                          <a:spcPts val="0"/>
                        </a:spcBef>
                        <a:spcAft>
                          <a:spcPts val="0"/>
                        </a:spcAft>
                        <a:buNone/>
                      </a:pPr>
                      <a:r>
                        <a:rPr b="1" lang="es">
                          <a:solidFill>
                            <a:schemeClr val="lt1"/>
                          </a:solidFill>
                        </a:rPr>
                        <a:t>Area</a:t>
                      </a:r>
                      <a:endParaRPr b="1">
                        <a:solidFill>
                          <a:schemeClr val="lt1"/>
                        </a:solidFill>
                      </a:endParaRPr>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solidFill>
                      <a:srgbClr val="6D9EEB"/>
                    </a:solidFill>
                  </a:tcPr>
                </a:tc>
                <a:tc>
                  <a:txBody>
                    <a:bodyPr/>
                    <a:lstStyle/>
                    <a:p>
                      <a:pPr indent="0" lvl="0" marL="0" rtl="0" algn="ctr">
                        <a:spcBef>
                          <a:spcPts val="0"/>
                        </a:spcBef>
                        <a:spcAft>
                          <a:spcPts val="0"/>
                        </a:spcAft>
                        <a:buNone/>
                      </a:pPr>
                      <a:r>
                        <a:rPr b="1" lang="es">
                          <a:solidFill>
                            <a:schemeClr val="lt1"/>
                          </a:solidFill>
                        </a:rPr>
                        <a:t>Descripción</a:t>
                      </a:r>
                      <a:endParaRPr b="1">
                        <a:solidFill>
                          <a:schemeClr val="lt1"/>
                        </a:solidFill>
                      </a:endParaRPr>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solidFill>
                      <a:srgbClr val="6D9EEB"/>
                    </a:solidFill>
                  </a:tcPr>
                </a:tc>
              </a:tr>
              <a:tr h="381000">
                <a:tc>
                  <a:txBody>
                    <a:bodyPr/>
                    <a:lstStyle/>
                    <a:p>
                      <a:pPr indent="0" lvl="0" marL="0" rtl="0" algn="l">
                        <a:spcBef>
                          <a:spcPts val="0"/>
                        </a:spcBef>
                        <a:spcAft>
                          <a:spcPts val="0"/>
                        </a:spcAft>
                        <a:buNone/>
                      </a:pPr>
                      <a:r>
                        <a:rPr b="1" lang="es"/>
                        <a:t>Situación inicial</a:t>
                      </a:r>
                      <a:endParaRPr b="1"/>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c>
                  <a:txBody>
                    <a:bodyPr/>
                    <a:lstStyle/>
                    <a:p>
                      <a:pPr indent="0" lvl="0" marL="0" rtl="0" algn="l">
                        <a:spcBef>
                          <a:spcPts val="0"/>
                        </a:spcBef>
                        <a:spcAft>
                          <a:spcPts val="0"/>
                        </a:spcAft>
                        <a:buNone/>
                      </a:pPr>
                      <a:r>
                        <a:rPr lang="es" sz="1100"/>
                        <a:t>Fintech que lanza nuevas funcionalidades cada semana en su app de pagos. Alta presión por entregar rápido, sin afectar usuarios.</a:t>
                      </a:r>
                      <a:r>
                        <a:rPr lang="es" sz="1100"/>
                        <a:t>.</a:t>
                      </a:r>
                      <a:endParaRPr sz="1100"/>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s"/>
                        <a:t>Oportunidad / Demanda</a:t>
                      </a:r>
                      <a:endParaRPr b="1"/>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c>
                  <a:txBody>
                    <a:bodyPr/>
                    <a:lstStyle/>
                    <a:p>
                      <a:pPr indent="0" lvl="0" marL="0" rtl="0" algn="l">
                        <a:spcBef>
                          <a:spcPts val="0"/>
                        </a:spcBef>
                        <a:spcAft>
                          <a:spcPts val="0"/>
                        </a:spcAft>
                        <a:buNone/>
                      </a:pPr>
                      <a:r>
                        <a:rPr lang="es" sz="1100"/>
                        <a:t>Necesidad de implementar una gestión de cambios que acompañe la velocidad del negocio, sin burocracia, pero con control.</a:t>
                      </a:r>
                      <a:endParaRPr sz="1100"/>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s"/>
                        <a:t>Actividades de la cadena de valor</a:t>
                      </a:r>
                      <a:endParaRPr b="1"/>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c>
                  <a:txBody>
                    <a:bodyPr/>
                    <a:lstStyle/>
                    <a:p>
                      <a:pPr indent="-298450" lvl="0" marL="457200" rtl="0" algn="l">
                        <a:spcBef>
                          <a:spcPts val="0"/>
                        </a:spcBef>
                        <a:spcAft>
                          <a:spcPts val="0"/>
                        </a:spcAft>
                        <a:buClr>
                          <a:schemeClr val="dk1"/>
                        </a:buClr>
                        <a:buSzPts val="1100"/>
                        <a:buChar char="❖"/>
                      </a:pPr>
                      <a:r>
                        <a:rPr lang="es" sz="1100">
                          <a:solidFill>
                            <a:schemeClr val="dk1"/>
                          </a:solidFill>
                        </a:rPr>
                        <a:t>Plan &amp; Design: definición de tipos de cambio (estándar, normal, emergencia).</a:t>
                      </a:r>
                      <a:endParaRPr sz="1100">
                        <a:solidFill>
                          <a:schemeClr val="dk1"/>
                        </a:solidFill>
                      </a:endParaRPr>
                    </a:p>
                    <a:p>
                      <a:pPr indent="-298450" lvl="0" marL="457200" rtl="0" algn="l">
                        <a:spcBef>
                          <a:spcPts val="0"/>
                        </a:spcBef>
                        <a:spcAft>
                          <a:spcPts val="0"/>
                        </a:spcAft>
                        <a:buClr>
                          <a:schemeClr val="dk1"/>
                        </a:buClr>
                        <a:buSzPts val="1100"/>
                        <a:buChar char="❖"/>
                      </a:pPr>
                      <a:r>
                        <a:rPr lang="es" sz="1100">
                          <a:solidFill>
                            <a:schemeClr val="dk1"/>
                          </a:solidFill>
                        </a:rPr>
                        <a:t>Engage: colaboración entre Dev, Ops y negocio para priorización.</a:t>
                      </a:r>
                      <a:endParaRPr sz="1100">
                        <a:solidFill>
                          <a:schemeClr val="dk1"/>
                        </a:solidFill>
                      </a:endParaRPr>
                    </a:p>
                    <a:p>
                      <a:pPr indent="-298450" lvl="0" marL="457200" rtl="0" algn="l">
                        <a:spcBef>
                          <a:spcPts val="0"/>
                        </a:spcBef>
                        <a:spcAft>
                          <a:spcPts val="0"/>
                        </a:spcAft>
                        <a:buClr>
                          <a:schemeClr val="dk1"/>
                        </a:buClr>
                        <a:buSzPts val="1100"/>
                        <a:buChar char="❖"/>
                      </a:pPr>
                      <a:r>
                        <a:rPr lang="es" sz="1100">
                          <a:solidFill>
                            <a:schemeClr val="dk1"/>
                          </a:solidFill>
                        </a:rPr>
                        <a:t>Obtain/Build: automatización con CI/CD.</a:t>
                      </a:r>
                      <a:endParaRPr sz="1100">
                        <a:solidFill>
                          <a:schemeClr val="dk1"/>
                        </a:solidFill>
                      </a:endParaRPr>
                    </a:p>
                    <a:p>
                      <a:pPr indent="-298450" lvl="0" marL="457200" rtl="0" algn="l">
                        <a:spcBef>
                          <a:spcPts val="0"/>
                        </a:spcBef>
                        <a:spcAft>
                          <a:spcPts val="0"/>
                        </a:spcAft>
                        <a:buClr>
                          <a:schemeClr val="dk1"/>
                        </a:buClr>
                        <a:buSzPts val="1100"/>
                        <a:buChar char="❖"/>
                      </a:pPr>
                      <a:r>
                        <a:rPr lang="es" sz="1100">
                          <a:solidFill>
                            <a:schemeClr val="dk1"/>
                          </a:solidFill>
                        </a:rPr>
                        <a:t>Deliver &amp; Support: integración con incidentes y monitoreo.</a:t>
                      </a:r>
                      <a:endParaRPr sz="1100">
                        <a:solidFill>
                          <a:schemeClr val="dk1"/>
                        </a:solidFill>
                      </a:endParaRPr>
                    </a:p>
                    <a:p>
                      <a:pPr indent="0" lvl="0" marL="457200" rtl="0" algn="l">
                        <a:spcBef>
                          <a:spcPts val="0"/>
                        </a:spcBef>
                        <a:spcAft>
                          <a:spcPts val="0"/>
                        </a:spcAft>
                        <a:buNone/>
                      </a:pPr>
                      <a:r>
                        <a:t/>
                      </a:r>
                      <a:endParaRPr sz="1100">
                        <a:solidFill>
                          <a:schemeClr val="dk1"/>
                        </a:solidFill>
                      </a:endParaRPr>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pic>
        <p:nvPicPr>
          <p:cNvPr descr="C:\Users\Idiomas\Downloads\Fadena-Negativo-FondoClaro (1).png" id="155" name="Google Shape;155;g356d56908db_0_9"/>
          <p:cNvPicPr preferRelativeResize="0"/>
          <p:nvPr/>
        </p:nvPicPr>
        <p:blipFill rotWithShape="1">
          <a:blip r:embed="rId3">
            <a:alphaModFix/>
          </a:blip>
          <a:srcRect b="0" l="0" r="0" t="0"/>
          <a:stretch/>
        </p:blipFill>
        <p:spPr>
          <a:xfrm>
            <a:off x="939113" y="3534517"/>
            <a:ext cx="2094466" cy="586452"/>
          </a:xfrm>
          <a:prstGeom prst="rect">
            <a:avLst/>
          </a:prstGeom>
          <a:noFill/>
          <a:ln>
            <a:noFill/>
          </a:ln>
        </p:spPr>
      </p:pic>
      <p:sp>
        <p:nvSpPr>
          <p:cNvPr id="156" name="Google Shape;156;g356d56908db_0_9"/>
          <p:cNvSpPr/>
          <p:nvPr/>
        </p:nvSpPr>
        <p:spPr>
          <a:xfrm>
            <a:off x="622948" y="810196"/>
            <a:ext cx="4255500" cy="4635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2"/>
              </a:solidFill>
              <a:latin typeface="Arial"/>
              <a:ea typeface="Arial"/>
              <a:cs typeface="Arial"/>
              <a:sym typeface="Arial"/>
            </a:endParaRPr>
          </a:p>
        </p:txBody>
      </p:sp>
      <p:pic>
        <p:nvPicPr>
          <p:cNvPr id="157" name="Google Shape;157;g356d56908db_0_9"/>
          <p:cNvPicPr preferRelativeResize="0"/>
          <p:nvPr/>
        </p:nvPicPr>
        <p:blipFill rotWithShape="1">
          <a:blip r:embed="rId4">
            <a:alphaModFix/>
          </a:blip>
          <a:srcRect b="0" l="0" r="0" t="0"/>
          <a:stretch/>
        </p:blipFill>
        <p:spPr>
          <a:xfrm>
            <a:off x="7163714" y="4451106"/>
            <a:ext cx="1623849" cy="463355"/>
          </a:xfrm>
          <a:prstGeom prst="rect">
            <a:avLst/>
          </a:prstGeom>
          <a:noFill/>
          <a:ln>
            <a:noFill/>
          </a:ln>
        </p:spPr>
      </p:pic>
      <p:sp>
        <p:nvSpPr>
          <p:cNvPr id="158" name="Google Shape;158;g356d56908db_0_9"/>
          <p:cNvSpPr/>
          <p:nvPr/>
        </p:nvSpPr>
        <p:spPr>
          <a:xfrm>
            <a:off x="614600" y="4669825"/>
            <a:ext cx="5741700" cy="463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3B4449"/>
                </a:solidFill>
                <a:latin typeface="Arial"/>
                <a:ea typeface="Arial"/>
                <a:cs typeface="Arial"/>
                <a:sym typeface="Arial"/>
              </a:rPr>
              <a:t>Fundamentos y principios de las metodologías de gestión </a:t>
            </a:r>
            <a:endParaRPr b="0" i="0" sz="1400" u="none" cap="none" strike="noStrike">
              <a:solidFill>
                <a:schemeClr val="dk2"/>
              </a:solidFill>
              <a:latin typeface="Arial"/>
              <a:ea typeface="Arial"/>
              <a:cs typeface="Arial"/>
              <a:sym typeface="Arial"/>
            </a:endParaRPr>
          </a:p>
        </p:txBody>
      </p:sp>
      <p:sp>
        <p:nvSpPr>
          <p:cNvPr id="159" name="Google Shape;159;g356d56908db_0_9"/>
          <p:cNvSpPr/>
          <p:nvPr/>
        </p:nvSpPr>
        <p:spPr>
          <a:xfrm>
            <a:off x="610525" y="818200"/>
            <a:ext cx="7065600" cy="4635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1" lang="es">
                <a:solidFill>
                  <a:schemeClr val="dk2"/>
                </a:solidFill>
              </a:rPr>
              <a:t>CASO 3 - Gestión de Cambios Ágil en una Fintech </a:t>
            </a:r>
            <a:r>
              <a:rPr b="1" lang="es">
                <a:solidFill>
                  <a:schemeClr val="dk2"/>
                </a:solidFill>
              </a:rPr>
              <a:t> - Parte B</a:t>
            </a:r>
            <a:endParaRPr b="1" i="0" sz="1400" u="none" cap="none" strike="noStrike">
              <a:solidFill>
                <a:schemeClr val="dk2"/>
              </a:solidFill>
              <a:latin typeface="Arial"/>
              <a:ea typeface="Arial"/>
              <a:cs typeface="Arial"/>
              <a:sym typeface="Arial"/>
            </a:endParaRPr>
          </a:p>
        </p:txBody>
      </p:sp>
      <p:graphicFrame>
        <p:nvGraphicFramePr>
          <p:cNvPr id="160" name="Google Shape;160;g356d56908db_0_9"/>
          <p:cNvGraphicFramePr/>
          <p:nvPr/>
        </p:nvGraphicFramePr>
        <p:xfrm>
          <a:off x="814225" y="1273700"/>
          <a:ext cx="3000000" cy="3000000"/>
        </p:xfrm>
        <a:graphic>
          <a:graphicData uri="http://schemas.openxmlformats.org/drawingml/2006/table">
            <a:tbl>
              <a:tblPr>
                <a:noFill/>
                <a:tableStyleId>{083F6A6F-06C8-4D1A-ABC7-433DCE45A8D4}</a:tableStyleId>
              </a:tblPr>
              <a:tblGrid>
                <a:gridCol w="2981950"/>
                <a:gridCol w="4991400"/>
              </a:tblGrid>
              <a:tr h="381000">
                <a:tc>
                  <a:txBody>
                    <a:bodyPr/>
                    <a:lstStyle/>
                    <a:p>
                      <a:pPr indent="0" lvl="0" marL="0" rtl="0" algn="ctr">
                        <a:spcBef>
                          <a:spcPts val="0"/>
                        </a:spcBef>
                        <a:spcAft>
                          <a:spcPts val="0"/>
                        </a:spcAft>
                        <a:buNone/>
                      </a:pPr>
                      <a:r>
                        <a:rPr b="1" lang="es">
                          <a:solidFill>
                            <a:schemeClr val="lt1"/>
                          </a:solidFill>
                        </a:rPr>
                        <a:t>Area</a:t>
                      </a:r>
                      <a:endParaRPr b="1">
                        <a:solidFill>
                          <a:schemeClr val="lt1"/>
                        </a:solidFill>
                      </a:endParaRPr>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solidFill>
                      <a:srgbClr val="6D9EEB"/>
                    </a:solidFill>
                  </a:tcPr>
                </a:tc>
                <a:tc>
                  <a:txBody>
                    <a:bodyPr/>
                    <a:lstStyle/>
                    <a:p>
                      <a:pPr indent="0" lvl="0" marL="0" rtl="0" algn="ctr">
                        <a:spcBef>
                          <a:spcPts val="0"/>
                        </a:spcBef>
                        <a:spcAft>
                          <a:spcPts val="0"/>
                        </a:spcAft>
                        <a:buNone/>
                      </a:pPr>
                      <a:r>
                        <a:rPr b="1" lang="es">
                          <a:solidFill>
                            <a:schemeClr val="lt1"/>
                          </a:solidFill>
                        </a:rPr>
                        <a:t>Descripción</a:t>
                      </a:r>
                      <a:endParaRPr b="1">
                        <a:solidFill>
                          <a:schemeClr val="lt1"/>
                        </a:solidFill>
                      </a:endParaRPr>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solidFill>
                      <a:srgbClr val="6D9EEB"/>
                    </a:solidFill>
                  </a:tcPr>
                </a:tc>
              </a:tr>
              <a:tr h="381000">
                <a:tc>
                  <a:txBody>
                    <a:bodyPr/>
                    <a:lstStyle/>
                    <a:p>
                      <a:pPr indent="0" lvl="0" marL="0" rtl="0" algn="l">
                        <a:spcBef>
                          <a:spcPts val="0"/>
                        </a:spcBef>
                        <a:spcAft>
                          <a:spcPts val="0"/>
                        </a:spcAft>
                        <a:buNone/>
                      </a:pPr>
                      <a:r>
                        <a:rPr b="1" lang="es"/>
                        <a:t>Prácticas aplicadas</a:t>
                      </a:r>
                      <a:endParaRPr b="1"/>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c>
                  <a:txBody>
                    <a:bodyPr/>
                    <a:lstStyle/>
                    <a:p>
                      <a:pPr indent="-298450" lvl="0" marL="457200" rtl="0" algn="l">
                        <a:spcBef>
                          <a:spcPts val="0"/>
                        </a:spcBef>
                        <a:spcAft>
                          <a:spcPts val="0"/>
                        </a:spcAft>
                        <a:buSzPts val="1100"/>
                        <a:buChar char="❖"/>
                      </a:pPr>
                      <a:r>
                        <a:rPr lang="es" sz="1100"/>
                        <a:t>Gestión de Cambios</a:t>
                      </a:r>
                      <a:endParaRPr sz="1100"/>
                    </a:p>
                    <a:p>
                      <a:pPr indent="-298450" lvl="0" marL="457200" rtl="0" algn="l">
                        <a:spcBef>
                          <a:spcPts val="0"/>
                        </a:spcBef>
                        <a:spcAft>
                          <a:spcPts val="0"/>
                        </a:spcAft>
                        <a:buSzPts val="1100"/>
                        <a:buChar char="❖"/>
                      </a:pPr>
                      <a:r>
                        <a:rPr lang="es" sz="1100"/>
                        <a:t>Gestión de Despliegue</a:t>
                      </a:r>
                      <a:endParaRPr sz="1100"/>
                    </a:p>
                    <a:p>
                      <a:pPr indent="-298450" lvl="0" marL="457200" rtl="0" algn="l">
                        <a:spcBef>
                          <a:spcPts val="0"/>
                        </a:spcBef>
                        <a:spcAft>
                          <a:spcPts val="0"/>
                        </a:spcAft>
                        <a:buSzPts val="1100"/>
                        <a:buChar char="❖"/>
                      </a:pPr>
                      <a:r>
                        <a:rPr lang="es" sz="1100"/>
                        <a:t>Gestión de Incidentes</a:t>
                      </a:r>
                      <a:endParaRPr sz="1100"/>
                    </a:p>
                    <a:p>
                      <a:pPr indent="-298450" lvl="0" marL="457200" rtl="0" algn="l">
                        <a:spcBef>
                          <a:spcPts val="0"/>
                        </a:spcBef>
                        <a:spcAft>
                          <a:spcPts val="0"/>
                        </a:spcAft>
                        <a:buSzPts val="1100"/>
                        <a:buChar char="❖"/>
                      </a:pPr>
                      <a:r>
                        <a:rPr lang="es" sz="1100"/>
                        <a:t>Gestión del Conocimiento</a:t>
                      </a:r>
                      <a:r>
                        <a:rPr lang="es" sz="1100"/>
                        <a:t>.</a:t>
                      </a:r>
                      <a:endParaRPr sz="1100"/>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r>
              <a:tr h="353900">
                <a:tc>
                  <a:txBody>
                    <a:bodyPr/>
                    <a:lstStyle/>
                    <a:p>
                      <a:pPr indent="0" lvl="0" marL="0" rtl="0" algn="l">
                        <a:spcBef>
                          <a:spcPts val="0"/>
                        </a:spcBef>
                        <a:spcAft>
                          <a:spcPts val="0"/>
                        </a:spcAft>
                        <a:buNone/>
                      </a:pPr>
                      <a:r>
                        <a:rPr b="1" lang="es"/>
                        <a:t>Componentes del SVS </a:t>
                      </a:r>
                      <a:endParaRPr b="1"/>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c>
                  <a:txBody>
                    <a:bodyPr/>
                    <a:lstStyle/>
                    <a:p>
                      <a:pPr indent="-298450" lvl="0" marL="457200" rtl="0" algn="l">
                        <a:spcBef>
                          <a:spcPts val="0"/>
                        </a:spcBef>
                        <a:spcAft>
                          <a:spcPts val="0"/>
                        </a:spcAft>
                        <a:buSzPts val="1100"/>
                        <a:buChar char="❖"/>
                      </a:pPr>
                      <a:r>
                        <a:rPr lang="es" sz="1100"/>
                        <a:t>Governance: comité express para cambios normales/emergencia.</a:t>
                      </a:r>
                      <a:endParaRPr sz="1100"/>
                    </a:p>
                    <a:p>
                      <a:pPr indent="-298450" lvl="0" marL="457200" rtl="0" algn="l">
                        <a:spcBef>
                          <a:spcPts val="0"/>
                        </a:spcBef>
                        <a:spcAft>
                          <a:spcPts val="0"/>
                        </a:spcAft>
                        <a:buSzPts val="1100"/>
                        <a:buChar char="❖"/>
                      </a:pPr>
                      <a:r>
                        <a:rPr lang="es" sz="1100"/>
                        <a:t>Mejora continua: métricas de éxito, lecciones aprendidas, feedback entre equipos.</a:t>
                      </a:r>
                      <a:r>
                        <a:rPr lang="es" sz="1100"/>
                        <a:t>.</a:t>
                      </a:r>
                      <a:endParaRPr sz="1100"/>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s"/>
                        <a:t>Resultados obtenidos</a:t>
                      </a:r>
                      <a:endParaRPr b="1"/>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c>
                  <a:txBody>
                    <a:bodyPr/>
                    <a:lstStyle/>
                    <a:p>
                      <a:pPr indent="-298450" lvl="0" marL="457200" rtl="0" algn="l">
                        <a:spcBef>
                          <a:spcPts val="0"/>
                        </a:spcBef>
                        <a:spcAft>
                          <a:spcPts val="0"/>
                        </a:spcAft>
                        <a:buClr>
                          <a:schemeClr val="dk1"/>
                        </a:buClr>
                        <a:buSzPts val="1100"/>
                        <a:buChar char="❖"/>
                      </a:pPr>
                      <a:r>
                        <a:rPr lang="es" sz="1100">
                          <a:solidFill>
                            <a:schemeClr val="dk1"/>
                          </a:solidFill>
                        </a:rPr>
                        <a:t>Disminución del 45% de errores post-cambio.</a:t>
                      </a:r>
                      <a:endParaRPr sz="1100">
                        <a:solidFill>
                          <a:schemeClr val="dk1"/>
                        </a:solidFill>
                      </a:endParaRPr>
                    </a:p>
                    <a:p>
                      <a:pPr indent="-298450" lvl="0" marL="457200" rtl="0" algn="l">
                        <a:spcBef>
                          <a:spcPts val="0"/>
                        </a:spcBef>
                        <a:spcAft>
                          <a:spcPts val="0"/>
                        </a:spcAft>
                        <a:buClr>
                          <a:schemeClr val="dk1"/>
                        </a:buClr>
                        <a:buSzPts val="1100"/>
                        <a:buChar char="❖"/>
                      </a:pPr>
                      <a:r>
                        <a:rPr lang="es" sz="1100">
                          <a:solidFill>
                            <a:schemeClr val="dk1"/>
                          </a:solidFill>
                        </a:rPr>
                        <a:t>Cambios estándar desplegados en &lt; 24 h.</a:t>
                      </a:r>
                      <a:endParaRPr sz="1100">
                        <a:solidFill>
                          <a:schemeClr val="dk1"/>
                        </a:solidFill>
                      </a:endParaRPr>
                    </a:p>
                    <a:p>
                      <a:pPr indent="-298450" lvl="0" marL="457200" rtl="0" algn="l">
                        <a:spcBef>
                          <a:spcPts val="0"/>
                        </a:spcBef>
                        <a:spcAft>
                          <a:spcPts val="0"/>
                        </a:spcAft>
                        <a:buClr>
                          <a:schemeClr val="dk1"/>
                        </a:buClr>
                        <a:buSzPts val="1100"/>
                        <a:buChar char="❖"/>
                      </a:pPr>
                      <a:r>
                        <a:rPr lang="es" sz="1100">
                          <a:solidFill>
                            <a:schemeClr val="dk1"/>
                          </a:solidFill>
                        </a:rPr>
                        <a:t>Mejora de comunicación y coordinación entre desarrollo, operaciones y soporte</a:t>
                      </a:r>
                      <a:r>
                        <a:rPr lang="es" sz="1100">
                          <a:solidFill>
                            <a:schemeClr val="dk1"/>
                          </a:solidFill>
                        </a:rPr>
                        <a:t>.</a:t>
                      </a:r>
                      <a:endParaRPr sz="1100">
                        <a:solidFill>
                          <a:schemeClr val="dk1"/>
                        </a:solidFill>
                      </a:endParaRPr>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descr="C:\Users\Idiomas\Downloads\Fadena-Negativo-FondoClaro (1).png" id="165" name="Google Shape;165;g356d56908db_0_21"/>
          <p:cNvPicPr preferRelativeResize="0"/>
          <p:nvPr/>
        </p:nvPicPr>
        <p:blipFill rotWithShape="1">
          <a:blip r:embed="rId3">
            <a:alphaModFix/>
          </a:blip>
          <a:srcRect b="0" l="0" r="0" t="0"/>
          <a:stretch/>
        </p:blipFill>
        <p:spPr>
          <a:xfrm>
            <a:off x="939113" y="3534517"/>
            <a:ext cx="2094466" cy="586452"/>
          </a:xfrm>
          <a:prstGeom prst="rect">
            <a:avLst/>
          </a:prstGeom>
          <a:noFill/>
          <a:ln>
            <a:noFill/>
          </a:ln>
        </p:spPr>
      </p:pic>
      <p:sp>
        <p:nvSpPr>
          <p:cNvPr id="166" name="Google Shape;166;g356d56908db_0_21"/>
          <p:cNvSpPr/>
          <p:nvPr/>
        </p:nvSpPr>
        <p:spPr>
          <a:xfrm>
            <a:off x="622948" y="810196"/>
            <a:ext cx="4255500" cy="4635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2"/>
              </a:solidFill>
              <a:latin typeface="Arial"/>
              <a:ea typeface="Arial"/>
              <a:cs typeface="Arial"/>
              <a:sym typeface="Arial"/>
            </a:endParaRPr>
          </a:p>
        </p:txBody>
      </p:sp>
      <p:pic>
        <p:nvPicPr>
          <p:cNvPr id="167" name="Google Shape;167;g356d56908db_0_21"/>
          <p:cNvPicPr preferRelativeResize="0"/>
          <p:nvPr/>
        </p:nvPicPr>
        <p:blipFill rotWithShape="1">
          <a:blip r:embed="rId4">
            <a:alphaModFix/>
          </a:blip>
          <a:srcRect b="0" l="0" r="0" t="0"/>
          <a:stretch/>
        </p:blipFill>
        <p:spPr>
          <a:xfrm>
            <a:off x="7163714" y="4451106"/>
            <a:ext cx="1623849" cy="463355"/>
          </a:xfrm>
          <a:prstGeom prst="rect">
            <a:avLst/>
          </a:prstGeom>
          <a:noFill/>
          <a:ln>
            <a:noFill/>
          </a:ln>
        </p:spPr>
      </p:pic>
      <p:sp>
        <p:nvSpPr>
          <p:cNvPr id="168" name="Google Shape;168;g356d56908db_0_21"/>
          <p:cNvSpPr/>
          <p:nvPr/>
        </p:nvSpPr>
        <p:spPr>
          <a:xfrm>
            <a:off x="614600" y="4669825"/>
            <a:ext cx="5741700" cy="463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3B4449"/>
                </a:solidFill>
                <a:latin typeface="Arial"/>
                <a:ea typeface="Arial"/>
                <a:cs typeface="Arial"/>
                <a:sym typeface="Arial"/>
              </a:rPr>
              <a:t>Fundamentos y principios de las metodologías de gestión </a:t>
            </a:r>
            <a:endParaRPr b="0" i="0" sz="1400" u="none" cap="none" strike="noStrike">
              <a:solidFill>
                <a:schemeClr val="dk2"/>
              </a:solidFill>
              <a:latin typeface="Arial"/>
              <a:ea typeface="Arial"/>
              <a:cs typeface="Arial"/>
              <a:sym typeface="Arial"/>
            </a:endParaRPr>
          </a:p>
        </p:txBody>
      </p:sp>
      <p:sp>
        <p:nvSpPr>
          <p:cNvPr id="169" name="Google Shape;169;g356d56908db_0_21"/>
          <p:cNvSpPr/>
          <p:nvPr/>
        </p:nvSpPr>
        <p:spPr>
          <a:xfrm>
            <a:off x="610525" y="818200"/>
            <a:ext cx="7745700" cy="4635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1" lang="es">
                <a:solidFill>
                  <a:schemeClr val="dk2"/>
                </a:solidFill>
              </a:rPr>
              <a:t>CASO 4 - </a:t>
            </a:r>
            <a:r>
              <a:rPr b="1" lang="es">
                <a:solidFill>
                  <a:schemeClr val="dk2"/>
                </a:solidFill>
              </a:rPr>
              <a:t>Automatización del Soporte con Chatbot y Base de Conocimiento</a:t>
            </a:r>
            <a:r>
              <a:rPr b="1" lang="es">
                <a:solidFill>
                  <a:schemeClr val="dk2"/>
                </a:solidFill>
              </a:rPr>
              <a:t> - Parte A</a:t>
            </a:r>
            <a:endParaRPr b="1" i="0" sz="1400" u="none" cap="none" strike="noStrike">
              <a:solidFill>
                <a:schemeClr val="dk2"/>
              </a:solidFill>
              <a:latin typeface="Arial"/>
              <a:ea typeface="Arial"/>
              <a:cs typeface="Arial"/>
              <a:sym typeface="Arial"/>
            </a:endParaRPr>
          </a:p>
        </p:txBody>
      </p:sp>
      <p:graphicFrame>
        <p:nvGraphicFramePr>
          <p:cNvPr id="170" name="Google Shape;170;g356d56908db_0_21"/>
          <p:cNvGraphicFramePr/>
          <p:nvPr/>
        </p:nvGraphicFramePr>
        <p:xfrm>
          <a:off x="814225" y="1273700"/>
          <a:ext cx="3000000" cy="3000000"/>
        </p:xfrm>
        <a:graphic>
          <a:graphicData uri="http://schemas.openxmlformats.org/drawingml/2006/table">
            <a:tbl>
              <a:tblPr>
                <a:noFill/>
                <a:tableStyleId>{083F6A6F-06C8-4D1A-ABC7-433DCE45A8D4}</a:tableStyleId>
              </a:tblPr>
              <a:tblGrid>
                <a:gridCol w="3048750"/>
                <a:gridCol w="4872350"/>
              </a:tblGrid>
              <a:tr h="381000">
                <a:tc>
                  <a:txBody>
                    <a:bodyPr/>
                    <a:lstStyle/>
                    <a:p>
                      <a:pPr indent="0" lvl="0" marL="0" rtl="0" algn="ctr">
                        <a:spcBef>
                          <a:spcPts val="0"/>
                        </a:spcBef>
                        <a:spcAft>
                          <a:spcPts val="0"/>
                        </a:spcAft>
                        <a:buNone/>
                      </a:pPr>
                      <a:r>
                        <a:rPr b="1" lang="es">
                          <a:solidFill>
                            <a:schemeClr val="lt1"/>
                          </a:solidFill>
                        </a:rPr>
                        <a:t>Area</a:t>
                      </a:r>
                      <a:endParaRPr b="1">
                        <a:solidFill>
                          <a:schemeClr val="lt1"/>
                        </a:solidFill>
                      </a:endParaRPr>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solidFill>
                      <a:srgbClr val="6D9EEB"/>
                    </a:solidFill>
                  </a:tcPr>
                </a:tc>
                <a:tc>
                  <a:txBody>
                    <a:bodyPr/>
                    <a:lstStyle/>
                    <a:p>
                      <a:pPr indent="0" lvl="0" marL="0" rtl="0" algn="ctr">
                        <a:spcBef>
                          <a:spcPts val="0"/>
                        </a:spcBef>
                        <a:spcAft>
                          <a:spcPts val="0"/>
                        </a:spcAft>
                        <a:buNone/>
                      </a:pPr>
                      <a:r>
                        <a:rPr b="1" lang="es">
                          <a:solidFill>
                            <a:schemeClr val="lt1"/>
                          </a:solidFill>
                        </a:rPr>
                        <a:t>Descripción</a:t>
                      </a:r>
                      <a:endParaRPr b="1">
                        <a:solidFill>
                          <a:schemeClr val="lt1"/>
                        </a:solidFill>
                      </a:endParaRPr>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solidFill>
                      <a:srgbClr val="6D9EEB"/>
                    </a:solidFill>
                  </a:tcPr>
                </a:tc>
              </a:tr>
              <a:tr h="381000">
                <a:tc>
                  <a:txBody>
                    <a:bodyPr/>
                    <a:lstStyle/>
                    <a:p>
                      <a:pPr indent="0" lvl="0" marL="0" rtl="0" algn="l">
                        <a:spcBef>
                          <a:spcPts val="0"/>
                        </a:spcBef>
                        <a:spcAft>
                          <a:spcPts val="0"/>
                        </a:spcAft>
                        <a:buNone/>
                      </a:pPr>
                      <a:r>
                        <a:rPr b="1" lang="es"/>
                        <a:t>Situación inicial</a:t>
                      </a:r>
                      <a:endParaRPr b="1"/>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c>
                  <a:txBody>
                    <a:bodyPr/>
                    <a:lstStyle/>
                    <a:p>
                      <a:pPr indent="0" lvl="0" marL="0" rtl="0" algn="l">
                        <a:spcBef>
                          <a:spcPts val="0"/>
                        </a:spcBef>
                        <a:spcAft>
                          <a:spcPts val="0"/>
                        </a:spcAft>
                        <a:buNone/>
                      </a:pPr>
                      <a:r>
                        <a:rPr lang="es" sz="1100"/>
                        <a:t>Organización con alto volumen de tickets repetitivos (consultas sobre contraseñas, accesos, errores comunes). Los tiempos de respuesta eran largos y los analistas de soporte estaban saturados.</a:t>
                      </a:r>
                      <a:endParaRPr sz="1100"/>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s"/>
                        <a:t>Oportunidad / Demanda</a:t>
                      </a:r>
                      <a:endParaRPr b="1"/>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c>
                  <a:txBody>
                    <a:bodyPr/>
                    <a:lstStyle/>
                    <a:p>
                      <a:pPr indent="0" lvl="0" marL="0" rtl="0" algn="l">
                        <a:spcBef>
                          <a:spcPts val="0"/>
                        </a:spcBef>
                        <a:spcAft>
                          <a:spcPts val="0"/>
                        </a:spcAft>
                        <a:buNone/>
                      </a:pPr>
                      <a:r>
                        <a:rPr lang="es" sz="1100"/>
                        <a:t>Mejorar la experiencia del usuario final, reducir la carga del equipo de soporte y aumentar la disponibilidad de soluciones inmediatas 24/7</a:t>
                      </a:r>
                      <a:r>
                        <a:rPr lang="es" sz="1100"/>
                        <a:t>.</a:t>
                      </a:r>
                      <a:endParaRPr sz="1100"/>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s"/>
                        <a:t>Actividades de la cadena de valor</a:t>
                      </a:r>
                      <a:endParaRPr b="1"/>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c>
                  <a:txBody>
                    <a:bodyPr/>
                    <a:lstStyle/>
                    <a:p>
                      <a:pPr indent="-298450" lvl="0" marL="457200" rtl="0" algn="l">
                        <a:spcBef>
                          <a:spcPts val="0"/>
                        </a:spcBef>
                        <a:spcAft>
                          <a:spcPts val="0"/>
                        </a:spcAft>
                        <a:buClr>
                          <a:schemeClr val="dk1"/>
                        </a:buClr>
                        <a:buSzPts val="1100"/>
                        <a:buChar char="❖"/>
                      </a:pPr>
                      <a:r>
                        <a:rPr lang="es" sz="1100">
                          <a:solidFill>
                            <a:schemeClr val="dk1"/>
                          </a:solidFill>
                        </a:rPr>
                        <a:t>Plan &amp; Improve: análisis de tickets frecuentes y rediseño del proceso de soporte.</a:t>
                      </a:r>
                      <a:endParaRPr sz="1100">
                        <a:solidFill>
                          <a:schemeClr val="dk1"/>
                        </a:solidFill>
                      </a:endParaRPr>
                    </a:p>
                    <a:p>
                      <a:pPr indent="-298450" lvl="0" marL="457200" rtl="0" algn="l">
                        <a:spcBef>
                          <a:spcPts val="0"/>
                        </a:spcBef>
                        <a:spcAft>
                          <a:spcPts val="0"/>
                        </a:spcAft>
                        <a:buClr>
                          <a:schemeClr val="dk1"/>
                        </a:buClr>
                        <a:buSzPts val="1100"/>
                        <a:buChar char="❖"/>
                      </a:pPr>
                      <a:r>
                        <a:rPr lang="es" sz="1100">
                          <a:solidFill>
                            <a:schemeClr val="dk1"/>
                          </a:solidFill>
                        </a:rPr>
                        <a:t>Engage: relevamiento de necesidades con usuarios y soporte.</a:t>
                      </a:r>
                      <a:endParaRPr sz="1100">
                        <a:solidFill>
                          <a:schemeClr val="dk1"/>
                        </a:solidFill>
                      </a:endParaRPr>
                    </a:p>
                    <a:p>
                      <a:pPr indent="-298450" lvl="0" marL="457200" rtl="0" algn="l">
                        <a:spcBef>
                          <a:spcPts val="0"/>
                        </a:spcBef>
                        <a:spcAft>
                          <a:spcPts val="0"/>
                        </a:spcAft>
                        <a:buClr>
                          <a:schemeClr val="dk1"/>
                        </a:buClr>
                        <a:buSzPts val="1100"/>
                        <a:buChar char="❖"/>
                      </a:pPr>
                      <a:r>
                        <a:rPr lang="es" sz="1100">
                          <a:solidFill>
                            <a:schemeClr val="dk1"/>
                          </a:solidFill>
                        </a:rPr>
                        <a:t>Deliver &amp; Support: implementación de chatbot + portal de autoservicio.</a:t>
                      </a:r>
                      <a:r>
                        <a:rPr lang="es" sz="1100">
                          <a:solidFill>
                            <a:schemeClr val="dk1"/>
                          </a:solidFill>
                        </a:rPr>
                        <a:t>.</a:t>
                      </a:r>
                      <a:endParaRPr sz="1100">
                        <a:solidFill>
                          <a:schemeClr val="dk1"/>
                        </a:solidFill>
                      </a:endParaRPr>
                    </a:p>
                    <a:p>
                      <a:pPr indent="0" lvl="0" marL="457200" rtl="0" algn="l">
                        <a:spcBef>
                          <a:spcPts val="0"/>
                        </a:spcBef>
                        <a:spcAft>
                          <a:spcPts val="0"/>
                        </a:spcAft>
                        <a:buNone/>
                      </a:pPr>
                      <a:r>
                        <a:t/>
                      </a:r>
                      <a:endParaRPr sz="1100">
                        <a:solidFill>
                          <a:schemeClr val="dk1"/>
                        </a:solidFill>
                      </a:endParaRPr>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pic>
        <p:nvPicPr>
          <p:cNvPr descr="C:\Users\Idiomas\Downloads\Fadena-Negativo-FondoClaro (1).png" id="175" name="Google Shape;175;g356d56908db_0_30"/>
          <p:cNvPicPr preferRelativeResize="0"/>
          <p:nvPr/>
        </p:nvPicPr>
        <p:blipFill rotWithShape="1">
          <a:blip r:embed="rId3">
            <a:alphaModFix/>
          </a:blip>
          <a:srcRect b="0" l="0" r="0" t="0"/>
          <a:stretch/>
        </p:blipFill>
        <p:spPr>
          <a:xfrm>
            <a:off x="939113" y="3534517"/>
            <a:ext cx="2094466" cy="586452"/>
          </a:xfrm>
          <a:prstGeom prst="rect">
            <a:avLst/>
          </a:prstGeom>
          <a:noFill/>
          <a:ln>
            <a:noFill/>
          </a:ln>
        </p:spPr>
      </p:pic>
      <p:sp>
        <p:nvSpPr>
          <p:cNvPr id="176" name="Google Shape;176;g356d56908db_0_30"/>
          <p:cNvSpPr/>
          <p:nvPr/>
        </p:nvSpPr>
        <p:spPr>
          <a:xfrm>
            <a:off x="622948" y="810196"/>
            <a:ext cx="4255500" cy="4635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2"/>
              </a:solidFill>
              <a:latin typeface="Arial"/>
              <a:ea typeface="Arial"/>
              <a:cs typeface="Arial"/>
              <a:sym typeface="Arial"/>
            </a:endParaRPr>
          </a:p>
        </p:txBody>
      </p:sp>
      <p:pic>
        <p:nvPicPr>
          <p:cNvPr id="177" name="Google Shape;177;g356d56908db_0_30"/>
          <p:cNvPicPr preferRelativeResize="0"/>
          <p:nvPr/>
        </p:nvPicPr>
        <p:blipFill rotWithShape="1">
          <a:blip r:embed="rId4">
            <a:alphaModFix/>
          </a:blip>
          <a:srcRect b="0" l="0" r="0" t="0"/>
          <a:stretch/>
        </p:blipFill>
        <p:spPr>
          <a:xfrm>
            <a:off x="7163714" y="4451106"/>
            <a:ext cx="1623849" cy="463355"/>
          </a:xfrm>
          <a:prstGeom prst="rect">
            <a:avLst/>
          </a:prstGeom>
          <a:noFill/>
          <a:ln>
            <a:noFill/>
          </a:ln>
        </p:spPr>
      </p:pic>
      <p:sp>
        <p:nvSpPr>
          <p:cNvPr id="178" name="Google Shape;178;g356d56908db_0_30"/>
          <p:cNvSpPr/>
          <p:nvPr/>
        </p:nvSpPr>
        <p:spPr>
          <a:xfrm>
            <a:off x="614600" y="4669825"/>
            <a:ext cx="5741700" cy="463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3B4449"/>
                </a:solidFill>
                <a:latin typeface="Arial"/>
                <a:ea typeface="Arial"/>
                <a:cs typeface="Arial"/>
                <a:sym typeface="Arial"/>
              </a:rPr>
              <a:t>Fundamentos y principios de las metodologías de gestión </a:t>
            </a:r>
            <a:endParaRPr b="0" i="0" sz="1400" u="none" cap="none" strike="noStrike">
              <a:solidFill>
                <a:schemeClr val="dk2"/>
              </a:solidFill>
              <a:latin typeface="Arial"/>
              <a:ea typeface="Arial"/>
              <a:cs typeface="Arial"/>
              <a:sym typeface="Arial"/>
            </a:endParaRPr>
          </a:p>
        </p:txBody>
      </p:sp>
      <p:sp>
        <p:nvSpPr>
          <p:cNvPr id="179" name="Google Shape;179;g356d56908db_0_30"/>
          <p:cNvSpPr/>
          <p:nvPr/>
        </p:nvSpPr>
        <p:spPr>
          <a:xfrm>
            <a:off x="610525" y="818200"/>
            <a:ext cx="7605600" cy="4635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1" lang="es">
                <a:solidFill>
                  <a:schemeClr val="dk2"/>
                </a:solidFill>
              </a:rPr>
              <a:t>CASO 4 - </a:t>
            </a:r>
            <a:r>
              <a:rPr b="1" lang="es">
                <a:solidFill>
                  <a:schemeClr val="dk2"/>
                </a:solidFill>
              </a:rPr>
              <a:t>Automatización del Soporte con Chatbot y Base de Conocimiento</a:t>
            </a:r>
            <a:r>
              <a:rPr b="1" lang="es">
                <a:solidFill>
                  <a:schemeClr val="dk2"/>
                </a:solidFill>
              </a:rPr>
              <a:t>  - Parte B</a:t>
            </a:r>
            <a:endParaRPr b="1" i="0" sz="1400" u="none" cap="none" strike="noStrike">
              <a:solidFill>
                <a:schemeClr val="dk2"/>
              </a:solidFill>
              <a:latin typeface="Arial"/>
              <a:ea typeface="Arial"/>
              <a:cs typeface="Arial"/>
              <a:sym typeface="Arial"/>
            </a:endParaRPr>
          </a:p>
        </p:txBody>
      </p:sp>
      <p:graphicFrame>
        <p:nvGraphicFramePr>
          <p:cNvPr id="180" name="Google Shape;180;g356d56908db_0_30"/>
          <p:cNvGraphicFramePr/>
          <p:nvPr/>
        </p:nvGraphicFramePr>
        <p:xfrm>
          <a:off x="814225" y="1273700"/>
          <a:ext cx="3000000" cy="3000000"/>
        </p:xfrm>
        <a:graphic>
          <a:graphicData uri="http://schemas.openxmlformats.org/drawingml/2006/table">
            <a:tbl>
              <a:tblPr>
                <a:noFill/>
                <a:tableStyleId>{083F6A6F-06C8-4D1A-ABC7-433DCE45A8D4}</a:tableStyleId>
              </a:tblPr>
              <a:tblGrid>
                <a:gridCol w="2981950"/>
                <a:gridCol w="4991400"/>
              </a:tblGrid>
              <a:tr h="381000">
                <a:tc>
                  <a:txBody>
                    <a:bodyPr/>
                    <a:lstStyle/>
                    <a:p>
                      <a:pPr indent="0" lvl="0" marL="0" rtl="0" algn="ctr">
                        <a:spcBef>
                          <a:spcPts val="0"/>
                        </a:spcBef>
                        <a:spcAft>
                          <a:spcPts val="0"/>
                        </a:spcAft>
                        <a:buNone/>
                      </a:pPr>
                      <a:r>
                        <a:rPr b="1" lang="es">
                          <a:solidFill>
                            <a:schemeClr val="lt1"/>
                          </a:solidFill>
                        </a:rPr>
                        <a:t>Area</a:t>
                      </a:r>
                      <a:endParaRPr b="1">
                        <a:solidFill>
                          <a:schemeClr val="lt1"/>
                        </a:solidFill>
                      </a:endParaRPr>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solidFill>
                      <a:srgbClr val="6D9EEB"/>
                    </a:solidFill>
                  </a:tcPr>
                </a:tc>
                <a:tc>
                  <a:txBody>
                    <a:bodyPr/>
                    <a:lstStyle/>
                    <a:p>
                      <a:pPr indent="0" lvl="0" marL="0" rtl="0" algn="ctr">
                        <a:spcBef>
                          <a:spcPts val="0"/>
                        </a:spcBef>
                        <a:spcAft>
                          <a:spcPts val="0"/>
                        </a:spcAft>
                        <a:buNone/>
                      </a:pPr>
                      <a:r>
                        <a:rPr b="1" lang="es">
                          <a:solidFill>
                            <a:schemeClr val="lt1"/>
                          </a:solidFill>
                        </a:rPr>
                        <a:t>Descripción</a:t>
                      </a:r>
                      <a:endParaRPr b="1">
                        <a:solidFill>
                          <a:schemeClr val="lt1"/>
                        </a:solidFill>
                      </a:endParaRPr>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solidFill>
                      <a:srgbClr val="6D9EEB"/>
                    </a:solidFill>
                  </a:tcPr>
                </a:tc>
              </a:tr>
              <a:tr h="381000">
                <a:tc>
                  <a:txBody>
                    <a:bodyPr/>
                    <a:lstStyle/>
                    <a:p>
                      <a:pPr indent="0" lvl="0" marL="0" rtl="0" algn="l">
                        <a:spcBef>
                          <a:spcPts val="0"/>
                        </a:spcBef>
                        <a:spcAft>
                          <a:spcPts val="0"/>
                        </a:spcAft>
                        <a:buNone/>
                      </a:pPr>
                      <a:r>
                        <a:rPr b="1" lang="es"/>
                        <a:t>Prácticas aplicadas</a:t>
                      </a:r>
                      <a:endParaRPr b="1"/>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c>
                  <a:txBody>
                    <a:bodyPr/>
                    <a:lstStyle/>
                    <a:p>
                      <a:pPr indent="-298450" lvl="0" marL="457200" rtl="0" algn="l">
                        <a:spcBef>
                          <a:spcPts val="0"/>
                        </a:spcBef>
                        <a:spcAft>
                          <a:spcPts val="0"/>
                        </a:spcAft>
                        <a:buSzPts val="1100"/>
                        <a:buChar char="❖"/>
                      </a:pPr>
                      <a:r>
                        <a:rPr lang="es" sz="1100"/>
                        <a:t>Gestión de Incidentes</a:t>
                      </a:r>
                      <a:endParaRPr sz="1100"/>
                    </a:p>
                    <a:p>
                      <a:pPr indent="-298450" lvl="0" marL="457200" rtl="0" algn="l">
                        <a:spcBef>
                          <a:spcPts val="0"/>
                        </a:spcBef>
                        <a:spcAft>
                          <a:spcPts val="0"/>
                        </a:spcAft>
                        <a:buSzPts val="1100"/>
                        <a:buChar char="❖"/>
                      </a:pPr>
                      <a:r>
                        <a:rPr lang="es" sz="1100"/>
                        <a:t>Gestión del Conocimiento</a:t>
                      </a:r>
                      <a:endParaRPr sz="1100"/>
                    </a:p>
                    <a:p>
                      <a:pPr indent="-298450" lvl="0" marL="457200" rtl="0" algn="l">
                        <a:spcBef>
                          <a:spcPts val="0"/>
                        </a:spcBef>
                        <a:spcAft>
                          <a:spcPts val="0"/>
                        </a:spcAft>
                        <a:buSzPts val="1100"/>
                        <a:buChar char="❖"/>
                      </a:pPr>
                      <a:r>
                        <a:rPr lang="es" sz="1100"/>
                        <a:t>Habilitación de Servicio</a:t>
                      </a:r>
                      <a:endParaRPr sz="1100"/>
                    </a:p>
                    <a:p>
                      <a:pPr indent="-298450" lvl="0" marL="457200" rtl="0" algn="l">
                        <a:spcBef>
                          <a:spcPts val="0"/>
                        </a:spcBef>
                        <a:spcAft>
                          <a:spcPts val="0"/>
                        </a:spcAft>
                        <a:buSzPts val="1100"/>
                        <a:buChar char="❖"/>
                      </a:pPr>
                      <a:r>
                        <a:rPr lang="es" sz="1100"/>
                        <a:t>Mejora Continua</a:t>
                      </a:r>
                      <a:r>
                        <a:rPr lang="es" sz="1100"/>
                        <a:t>.</a:t>
                      </a:r>
                      <a:endParaRPr sz="1100"/>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r>
              <a:tr h="353900">
                <a:tc>
                  <a:txBody>
                    <a:bodyPr/>
                    <a:lstStyle/>
                    <a:p>
                      <a:pPr indent="0" lvl="0" marL="0" rtl="0" algn="l">
                        <a:spcBef>
                          <a:spcPts val="0"/>
                        </a:spcBef>
                        <a:spcAft>
                          <a:spcPts val="0"/>
                        </a:spcAft>
                        <a:buNone/>
                      </a:pPr>
                      <a:r>
                        <a:rPr b="1" lang="es"/>
                        <a:t>Componentes del SVS en acción</a:t>
                      </a:r>
                      <a:endParaRPr b="1"/>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c>
                  <a:txBody>
                    <a:bodyPr/>
                    <a:lstStyle/>
                    <a:p>
                      <a:pPr indent="-298450" lvl="0" marL="457200" rtl="0" algn="l">
                        <a:spcBef>
                          <a:spcPts val="0"/>
                        </a:spcBef>
                        <a:spcAft>
                          <a:spcPts val="0"/>
                        </a:spcAft>
                        <a:buSzPts val="1100"/>
                        <a:buChar char="❖"/>
                      </a:pPr>
                      <a:r>
                        <a:rPr lang="es" sz="1100"/>
                        <a:t>Planificación y Mejora Continua: análisis de métricas de uso del chatbot y evolución de la base de conocimiento.</a:t>
                      </a:r>
                      <a:endParaRPr sz="1100"/>
                    </a:p>
                    <a:p>
                      <a:pPr indent="-298450" lvl="0" marL="457200" rtl="0" algn="l">
                        <a:spcBef>
                          <a:spcPts val="0"/>
                        </a:spcBef>
                        <a:spcAft>
                          <a:spcPts val="0"/>
                        </a:spcAft>
                        <a:buSzPts val="1100"/>
                        <a:buChar char="❖"/>
                      </a:pPr>
                      <a:r>
                        <a:rPr lang="es" sz="1100"/>
                        <a:t>Gobernanza: validación de contenido por áreas responsables antes de su publicación.</a:t>
                      </a:r>
                      <a:endParaRPr sz="1100"/>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s"/>
                        <a:t>Resultados obtenidos</a:t>
                      </a:r>
                      <a:endParaRPr b="1"/>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c>
                  <a:txBody>
                    <a:bodyPr/>
                    <a:lstStyle/>
                    <a:p>
                      <a:pPr indent="-298450" lvl="0" marL="457200" rtl="0" algn="l">
                        <a:spcBef>
                          <a:spcPts val="0"/>
                        </a:spcBef>
                        <a:spcAft>
                          <a:spcPts val="0"/>
                        </a:spcAft>
                        <a:buClr>
                          <a:schemeClr val="dk1"/>
                        </a:buClr>
                        <a:buSzPts val="1100"/>
                        <a:buChar char="❖"/>
                      </a:pPr>
                      <a:r>
                        <a:rPr lang="es" sz="1100">
                          <a:solidFill>
                            <a:schemeClr val="dk1"/>
                          </a:solidFill>
                        </a:rPr>
                        <a:t>Reducción del 60% en tickets manuales.</a:t>
                      </a:r>
                      <a:endParaRPr sz="1100">
                        <a:solidFill>
                          <a:schemeClr val="dk1"/>
                        </a:solidFill>
                      </a:endParaRPr>
                    </a:p>
                    <a:p>
                      <a:pPr indent="-298450" lvl="0" marL="457200" rtl="0" algn="l">
                        <a:spcBef>
                          <a:spcPts val="0"/>
                        </a:spcBef>
                        <a:spcAft>
                          <a:spcPts val="0"/>
                        </a:spcAft>
                        <a:buClr>
                          <a:schemeClr val="dk1"/>
                        </a:buClr>
                        <a:buSzPts val="1100"/>
                        <a:buChar char="❖"/>
                      </a:pPr>
                      <a:r>
                        <a:rPr lang="es" sz="1100">
                          <a:solidFill>
                            <a:schemeClr val="dk1"/>
                          </a:solidFill>
                        </a:rPr>
                        <a:t>Aumento del 35% en la satisfacción del usuario.</a:t>
                      </a:r>
                      <a:endParaRPr sz="1100">
                        <a:solidFill>
                          <a:schemeClr val="dk1"/>
                        </a:solidFill>
                      </a:endParaRPr>
                    </a:p>
                    <a:p>
                      <a:pPr indent="-298450" lvl="0" marL="457200" rtl="0" algn="l">
                        <a:spcBef>
                          <a:spcPts val="0"/>
                        </a:spcBef>
                        <a:spcAft>
                          <a:spcPts val="0"/>
                        </a:spcAft>
                        <a:buClr>
                          <a:schemeClr val="dk1"/>
                        </a:buClr>
                        <a:buSzPts val="1100"/>
                        <a:buChar char="❖"/>
                      </a:pPr>
                      <a:r>
                        <a:rPr lang="es" sz="1100">
                          <a:solidFill>
                            <a:schemeClr val="dk1"/>
                          </a:solidFill>
                        </a:rPr>
                        <a:t>Liberación de analistas de soporte para casos más complejos.</a:t>
                      </a:r>
                      <a:endParaRPr sz="1100">
                        <a:solidFill>
                          <a:schemeClr val="dk1"/>
                        </a:solidFill>
                      </a:endParaRPr>
                    </a:p>
                    <a:p>
                      <a:pPr indent="-298450" lvl="0" marL="457200" rtl="0" algn="l">
                        <a:spcBef>
                          <a:spcPts val="0"/>
                        </a:spcBef>
                        <a:spcAft>
                          <a:spcPts val="0"/>
                        </a:spcAft>
                        <a:buClr>
                          <a:schemeClr val="dk1"/>
                        </a:buClr>
                        <a:buSzPts val="1100"/>
                        <a:buChar char="❖"/>
                      </a:pPr>
                      <a:r>
                        <a:rPr lang="es" sz="1100">
                          <a:solidFill>
                            <a:schemeClr val="dk1"/>
                          </a:solidFill>
                        </a:rPr>
                        <a:t>Disponibilidad 24/7 de soporte para temas frecuentes.</a:t>
                      </a:r>
                      <a:endParaRPr sz="1100">
                        <a:solidFill>
                          <a:schemeClr val="dk1"/>
                        </a:solidFill>
                      </a:endParaRPr>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pic>
        <p:nvPicPr>
          <p:cNvPr descr="C:\Users\Idiomas\Downloads\Fadena-Negativo-FondoClaro (1).png" id="185" name="Google Shape;185;g356d56908db_0_44"/>
          <p:cNvPicPr preferRelativeResize="0"/>
          <p:nvPr/>
        </p:nvPicPr>
        <p:blipFill rotWithShape="1">
          <a:blip r:embed="rId3">
            <a:alphaModFix/>
          </a:blip>
          <a:srcRect b="0" l="0" r="0" t="0"/>
          <a:stretch/>
        </p:blipFill>
        <p:spPr>
          <a:xfrm>
            <a:off x="939113" y="3534517"/>
            <a:ext cx="2094466" cy="586452"/>
          </a:xfrm>
          <a:prstGeom prst="rect">
            <a:avLst/>
          </a:prstGeom>
          <a:noFill/>
          <a:ln>
            <a:noFill/>
          </a:ln>
        </p:spPr>
      </p:pic>
      <p:sp>
        <p:nvSpPr>
          <p:cNvPr id="186" name="Google Shape;186;g356d56908db_0_44"/>
          <p:cNvSpPr/>
          <p:nvPr/>
        </p:nvSpPr>
        <p:spPr>
          <a:xfrm>
            <a:off x="622948" y="810196"/>
            <a:ext cx="4255500" cy="4635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2"/>
              </a:solidFill>
              <a:latin typeface="Arial"/>
              <a:ea typeface="Arial"/>
              <a:cs typeface="Arial"/>
              <a:sym typeface="Arial"/>
            </a:endParaRPr>
          </a:p>
        </p:txBody>
      </p:sp>
      <p:pic>
        <p:nvPicPr>
          <p:cNvPr id="187" name="Google Shape;187;g356d56908db_0_44"/>
          <p:cNvPicPr preferRelativeResize="0"/>
          <p:nvPr/>
        </p:nvPicPr>
        <p:blipFill rotWithShape="1">
          <a:blip r:embed="rId4">
            <a:alphaModFix/>
          </a:blip>
          <a:srcRect b="0" l="0" r="0" t="0"/>
          <a:stretch/>
        </p:blipFill>
        <p:spPr>
          <a:xfrm>
            <a:off x="7163714" y="4451106"/>
            <a:ext cx="1623849" cy="463355"/>
          </a:xfrm>
          <a:prstGeom prst="rect">
            <a:avLst/>
          </a:prstGeom>
          <a:noFill/>
          <a:ln>
            <a:noFill/>
          </a:ln>
        </p:spPr>
      </p:pic>
      <p:sp>
        <p:nvSpPr>
          <p:cNvPr id="188" name="Google Shape;188;g356d56908db_0_44"/>
          <p:cNvSpPr/>
          <p:nvPr/>
        </p:nvSpPr>
        <p:spPr>
          <a:xfrm>
            <a:off x="614600" y="4669825"/>
            <a:ext cx="5741700" cy="463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3B4449"/>
                </a:solidFill>
                <a:latin typeface="Arial"/>
                <a:ea typeface="Arial"/>
                <a:cs typeface="Arial"/>
                <a:sym typeface="Arial"/>
              </a:rPr>
              <a:t>Fundamentos y principios de las metodologías de gestión </a:t>
            </a:r>
            <a:endParaRPr b="0" i="0" sz="1400" u="none" cap="none" strike="noStrike">
              <a:solidFill>
                <a:schemeClr val="dk2"/>
              </a:solidFill>
              <a:latin typeface="Arial"/>
              <a:ea typeface="Arial"/>
              <a:cs typeface="Arial"/>
              <a:sym typeface="Arial"/>
            </a:endParaRPr>
          </a:p>
        </p:txBody>
      </p:sp>
      <p:sp>
        <p:nvSpPr>
          <p:cNvPr id="189" name="Google Shape;189;g356d56908db_0_44"/>
          <p:cNvSpPr/>
          <p:nvPr/>
        </p:nvSpPr>
        <p:spPr>
          <a:xfrm>
            <a:off x="610525" y="818200"/>
            <a:ext cx="7745700" cy="4635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1" lang="es">
                <a:solidFill>
                  <a:schemeClr val="dk2"/>
                </a:solidFill>
              </a:rPr>
              <a:t>CASO 5 - </a:t>
            </a:r>
            <a:r>
              <a:rPr b="1" lang="es">
                <a:solidFill>
                  <a:schemeClr val="dk2"/>
                </a:solidFill>
              </a:rPr>
              <a:t>Mejora del servicio mediante tercerización controlada</a:t>
            </a:r>
            <a:r>
              <a:rPr b="1" lang="es">
                <a:solidFill>
                  <a:schemeClr val="dk2"/>
                </a:solidFill>
              </a:rPr>
              <a:t> - Parte A</a:t>
            </a:r>
            <a:endParaRPr b="1" i="0" sz="1400" u="none" cap="none" strike="noStrike">
              <a:solidFill>
                <a:schemeClr val="dk2"/>
              </a:solidFill>
              <a:latin typeface="Arial"/>
              <a:ea typeface="Arial"/>
              <a:cs typeface="Arial"/>
              <a:sym typeface="Arial"/>
            </a:endParaRPr>
          </a:p>
        </p:txBody>
      </p:sp>
      <p:graphicFrame>
        <p:nvGraphicFramePr>
          <p:cNvPr id="190" name="Google Shape;190;g356d56908db_0_44"/>
          <p:cNvGraphicFramePr/>
          <p:nvPr/>
        </p:nvGraphicFramePr>
        <p:xfrm>
          <a:off x="814225" y="1273700"/>
          <a:ext cx="3000000" cy="3000000"/>
        </p:xfrm>
        <a:graphic>
          <a:graphicData uri="http://schemas.openxmlformats.org/drawingml/2006/table">
            <a:tbl>
              <a:tblPr>
                <a:noFill/>
                <a:tableStyleId>{083F6A6F-06C8-4D1A-ABC7-433DCE45A8D4}</a:tableStyleId>
              </a:tblPr>
              <a:tblGrid>
                <a:gridCol w="3048750"/>
                <a:gridCol w="4872350"/>
              </a:tblGrid>
              <a:tr h="381000">
                <a:tc>
                  <a:txBody>
                    <a:bodyPr/>
                    <a:lstStyle/>
                    <a:p>
                      <a:pPr indent="0" lvl="0" marL="0" rtl="0" algn="ctr">
                        <a:spcBef>
                          <a:spcPts val="0"/>
                        </a:spcBef>
                        <a:spcAft>
                          <a:spcPts val="0"/>
                        </a:spcAft>
                        <a:buNone/>
                      </a:pPr>
                      <a:r>
                        <a:rPr b="1" lang="es">
                          <a:solidFill>
                            <a:schemeClr val="lt1"/>
                          </a:solidFill>
                        </a:rPr>
                        <a:t>Area</a:t>
                      </a:r>
                      <a:endParaRPr b="1">
                        <a:solidFill>
                          <a:schemeClr val="lt1"/>
                        </a:solidFill>
                      </a:endParaRPr>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solidFill>
                      <a:srgbClr val="6D9EEB"/>
                    </a:solidFill>
                  </a:tcPr>
                </a:tc>
                <a:tc>
                  <a:txBody>
                    <a:bodyPr/>
                    <a:lstStyle/>
                    <a:p>
                      <a:pPr indent="0" lvl="0" marL="0" rtl="0" algn="ctr">
                        <a:spcBef>
                          <a:spcPts val="0"/>
                        </a:spcBef>
                        <a:spcAft>
                          <a:spcPts val="0"/>
                        </a:spcAft>
                        <a:buNone/>
                      </a:pPr>
                      <a:r>
                        <a:rPr b="1" lang="es">
                          <a:solidFill>
                            <a:schemeClr val="lt1"/>
                          </a:solidFill>
                        </a:rPr>
                        <a:t>Descripción</a:t>
                      </a:r>
                      <a:endParaRPr b="1">
                        <a:solidFill>
                          <a:schemeClr val="lt1"/>
                        </a:solidFill>
                      </a:endParaRPr>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solidFill>
                      <a:srgbClr val="6D9EEB"/>
                    </a:solidFill>
                  </a:tcPr>
                </a:tc>
              </a:tr>
              <a:tr h="381000">
                <a:tc>
                  <a:txBody>
                    <a:bodyPr/>
                    <a:lstStyle/>
                    <a:p>
                      <a:pPr indent="0" lvl="0" marL="0" rtl="0" algn="l">
                        <a:spcBef>
                          <a:spcPts val="0"/>
                        </a:spcBef>
                        <a:spcAft>
                          <a:spcPts val="0"/>
                        </a:spcAft>
                        <a:buNone/>
                      </a:pPr>
                      <a:r>
                        <a:rPr b="1" lang="es"/>
                        <a:t>Situación inicial</a:t>
                      </a:r>
                      <a:endParaRPr b="1"/>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c>
                  <a:txBody>
                    <a:bodyPr/>
                    <a:lstStyle/>
                    <a:p>
                      <a:pPr indent="0" lvl="0" marL="0" rtl="0" algn="l">
                        <a:spcBef>
                          <a:spcPts val="0"/>
                        </a:spcBef>
                        <a:spcAft>
                          <a:spcPts val="0"/>
                        </a:spcAft>
                        <a:buNone/>
                      </a:pPr>
                      <a:r>
                        <a:rPr lang="es" sz="1100"/>
                        <a:t>Empresa con área de TI interna sobrecargada: soporte básico (nivel 1) tomaba tiempo crítico al personal especializado, generando demoras en proyectos estratégicos.</a:t>
                      </a:r>
                      <a:endParaRPr sz="1100"/>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s"/>
                        <a:t>Oportunidad / Demanda</a:t>
                      </a:r>
                      <a:endParaRPr b="1"/>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c>
                  <a:txBody>
                    <a:bodyPr/>
                    <a:lstStyle/>
                    <a:p>
                      <a:pPr indent="0" lvl="0" marL="0" rtl="0" algn="l">
                        <a:spcBef>
                          <a:spcPts val="0"/>
                        </a:spcBef>
                        <a:spcAft>
                          <a:spcPts val="0"/>
                        </a:spcAft>
                        <a:buNone/>
                      </a:pPr>
                      <a:r>
                        <a:rPr lang="es" sz="1100"/>
                        <a:t>Mejorar el tiempo de atención al usuario, profesionalizar el soporte básico, y liberar recursos internos para tareas de mayor valor.</a:t>
                      </a:r>
                      <a:endParaRPr sz="1100"/>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s"/>
                        <a:t>Actividades de la cadena de valor</a:t>
                      </a:r>
                      <a:endParaRPr b="1"/>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c>
                  <a:txBody>
                    <a:bodyPr/>
                    <a:lstStyle/>
                    <a:p>
                      <a:pPr indent="-298450" lvl="0" marL="457200" rtl="0" algn="l">
                        <a:spcBef>
                          <a:spcPts val="0"/>
                        </a:spcBef>
                        <a:spcAft>
                          <a:spcPts val="0"/>
                        </a:spcAft>
                        <a:buClr>
                          <a:schemeClr val="dk1"/>
                        </a:buClr>
                        <a:buSzPts val="1100"/>
                        <a:buChar char="❖"/>
                      </a:pPr>
                      <a:r>
                        <a:rPr lang="es" sz="1100">
                          <a:solidFill>
                            <a:schemeClr val="dk1"/>
                          </a:solidFill>
                        </a:rPr>
                        <a:t>Plan &amp; Improve: análisis de costos y calidad de servicio interno.</a:t>
                      </a:r>
                      <a:endParaRPr sz="1100">
                        <a:solidFill>
                          <a:schemeClr val="dk1"/>
                        </a:solidFill>
                      </a:endParaRPr>
                    </a:p>
                    <a:p>
                      <a:pPr indent="-298450" lvl="0" marL="457200" rtl="0" algn="l">
                        <a:spcBef>
                          <a:spcPts val="0"/>
                        </a:spcBef>
                        <a:spcAft>
                          <a:spcPts val="0"/>
                        </a:spcAft>
                        <a:buClr>
                          <a:schemeClr val="dk1"/>
                        </a:buClr>
                        <a:buSzPts val="1100"/>
                        <a:buChar char="❖"/>
                      </a:pPr>
                      <a:r>
                        <a:rPr lang="es" sz="1100">
                          <a:solidFill>
                            <a:schemeClr val="dk1"/>
                          </a:solidFill>
                        </a:rPr>
                        <a:t>Engage: selección de proveedor, acuerdos de servicio, gestión de relación.</a:t>
                      </a:r>
                      <a:endParaRPr sz="1100">
                        <a:solidFill>
                          <a:schemeClr val="dk1"/>
                        </a:solidFill>
                      </a:endParaRPr>
                    </a:p>
                    <a:p>
                      <a:pPr indent="-298450" lvl="0" marL="457200" rtl="0" algn="l">
                        <a:spcBef>
                          <a:spcPts val="0"/>
                        </a:spcBef>
                        <a:spcAft>
                          <a:spcPts val="0"/>
                        </a:spcAft>
                        <a:buClr>
                          <a:schemeClr val="dk1"/>
                        </a:buClr>
                        <a:buSzPts val="1100"/>
                        <a:buChar char="❖"/>
                      </a:pPr>
                      <a:r>
                        <a:rPr lang="es" sz="1100">
                          <a:solidFill>
                            <a:schemeClr val="dk1"/>
                          </a:solidFill>
                        </a:rPr>
                        <a:t>Deliver &amp; Support: onboarding del proveedor, seguimiento de SLAs.</a:t>
                      </a:r>
                      <a:endParaRPr sz="1100">
                        <a:solidFill>
                          <a:schemeClr val="dk1"/>
                        </a:solidFill>
                      </a:endParaRPr>
                    </a:p>
                    <a:p>
                      <a:pPr indent="0" lvl="0" marL="457200" rtl="0" algn="l">
                        <a:spcBef>
                          <a:spcPts val="0"/>
                        </a:spcBef>
                        <a:spcAft>
                          <a:spcPts val="0"/>
                        </a:spcAft>
                        <a:buNone/>
                      </a:pPr>
                      <a:r>
                        <a:t/>
                      </a:r>
                      <a:endParaRPr sz="1100">
                        <a:solidFill>
                          <a:schemeClr val="dk1"/>
                        </a:solidFill>
                      </a:endParaRPr>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pic>
        <p:nvPicPr>
          <p:cNvPr descr="C:\Users\Idiomas\Downloads\Fadena-Negativo-FondoClaro (1).png" id="195" name="Google Shape;195;g356d56908db_0_53"/>
          <p:cNvPicPr preferRelativeResize="0"/>
          <p:nvPr/>
        </p:nvPicPr>
        <p:blipFill rotWithShape="1">
          <a:blip r:embed="rId3">
            <a:alphaModFix/>
          </a:blip>
          <a:srcRect b="0" l="0" r="0" t="0"/>
          <a:stretch/>
        </p:blipFill>
        <p:spPr>
          <a:xfrm>
            <a:off x="939113" y="3534517"/>
            <a:ext cx="2094466" cy="586452"/>
          </a:xfrm>
          <a:prstGeom prst="rect">
            <a:avLst/>
          </a:prstGeom>
          <a:noFill/>
          <a:ln>
            <a:noFill/>
          </a:ln>
        </p:spPr>
      </p:pic>
      <p:sp>
        <p:nvSpPr>
          <p:cNvPr id="196" name="Google Shape;196;g356d56908db_0_53"/>
          <p:cNvSpPr/>
          <p:nvPr/>
        </p:nvSpPr>
        <p:spPr>
          <a:xfrm>
            <a:off x="622948" y="810196"/>
            <a:ext cx="4255500" cy="4635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2"/>
              </a:solidFill>
              <a:latin typeface="Arial"/>
              <a:ea typeface="Arial"/>
              <a:cs typeface="Arial"/>
              <a:sym typeface="Arial"/>
            </a:endParaRPr>
          </a:p>
        </p:txBody>
      </p:sp>
      <p:pic>
        <p:nvPicPr>
          <p:cNvPr id="197" name="Google Shape;197;g356d56908db_0_53"/>
          <p:cNvPicPr preferRelativeResize="0"/>
          <p:nvPr/>
        </p:nvPicPr>
        <p:blipFill rotWithShape="1">
          <a:blip r:embed="rId4">
            <a:alphaModFix/>
          </a:blip>
          <a:srcRect b="0" l="0" r="0" t="0"/>
          <a:stretch/>
        </p:blipFill>
        <p:spPr>
          <a:xfrm>
            <a:off x="7163714" y="4451106"/>
            <a:ext cx="1623849" cy="463355"/>
          </a:xfrm>
          <a:prstGeom prst="rect">
            <a:avLst/>
          </a:prstGeom>
          <a:noFill/>
          <a:ln>
            <a:noFill/>
          </a:ln>
        </p:spPr>
      </p:pic>
      <p:sp>
        <p:nvSpPr>
          <p:cNvPr id="198" name="Google Shape;198;g356d56908db_0_53"/>
          <p:cNvSpPr/>
          <p:nvPr/>
        </p:nvSpPr>
        <p:spPr>
          <a:xfrm>
            <a:off x="614600" y="4669825"/>
            <a:ext cx="5741700" cy="463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3B4449"/>
                </a:solidFill>
                <a:latin typeface="Arial"/>
                <a:ea typeface="Arial"/>
                <a:cs typeface="Arial"/>
                <a:sym typeface="Arial"/>
              </a:rPr>
              <a:t>Fundamentos y principios de las metodologías de gestión </a:t>
            </a:r>
            <a:endParaRPr b="0" i="0" sz="1400" u="none" cap="none" strike="noStrike">
              <a:solidFill>
                <a:schemeClr val="dk2"/>
              </a:solidFill>
              <a:latin typeface="Arial"/>
              <a:ea typeface="Arial"/>
              <a:cs typeface="Arial"/>
              <a:sym typeface="Arial"/>
            </a:endParaRPr>
          </a:p>
        </p:txBody>
      </p:sp>
      <p:sp>
        <p:nvSpPr>
          <p:cNvPr id="199" name="Google Shape;199;g356d56908db_0_53"/>
          <p:cNvSpPr/>
          <p:nvPr/>
        </p:nvSpPr>
        <p:spPr>
          <a:xfrm>
            <a:off x="610525" y="818200"/>
            <a:ext cx="7605600" cy="4635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1" lang="es">
                <a:solidFill>
                  <a:schemeClr val="dk2"/>
                </a:solidFill>
              </a:rPr>
              <a:t>CASO 5 - </a:t>
            </a:r>
            <a:r>
              <a:rPr b="1" lang="es">
                <a:solidFill>
                  <a:schemeClr val="dk2"/>
                </a:solidFill>
              </a:rPr>
              <a:t>Mejora del servicio mediante tercerización controlada</a:t>
            </a:r>
            <a:r>
              <a:rPr b="1" lang="es">
                <a:solidFill>
                  <a:schemeClr val="dk2"/>
                </a:solidFill>
              </a:rPr>
              <a:t>  - Parte B</a:t>
            </a:r>
            <a:endParaRPr b="1" i="0" sz="1400" u="none" cap="none" strike="noStrike">
              <a:solidFill>
                <a:schemeClr val="dk2"/>
              </a:solidFill>
              <a:latin typeface="Arial"/>
              <a:ea typeface="Arial"/>
              <a:cs typeface="Arial"/>
              <a:sym typeface="Arial"/>
            </a:endParaRPr>
          </a:p>
        </p:txBody>
      </p:sp>
      <p:graphicFrame>
        <p:nvGraphicFramePr>
          <p:cNvPr id="200" name="Google Shape;200;g356d56908db_0_53"/>
          <p:cNvGraphicFramePr/>
          <p:nvPr/>
        </p:nvGraphicFramePr>
        <p:xfrm>
          <a:off x="814225" y="1273700"/>
          <a:ext cx="3000000" cy="3000000"/>
        </p:xfrm>
        <a:graphic>
          <a:graphicData uri="http://schemas.openxmlformats.org/drawingml/2006/table">
            <a:tbl>
              <a:tblPr>
                <a:noFill/>
                <a:tableStyleId>{083F6A6F-06C8-4D1A-ABC7-433DCE45A8D4}</a:tableStyleId>
              </a:tblPr>
              <a:tblGrid>
                <a:gridCol w="2981950"/>
                <a:gridCol w="4991400"/>
              </a:tblGrid>
              <a:tr h="381000">
                <a:tc>
                  <a:txBody>
                    <a:bodyPr/>
                    <a:lstStyle/>
                    <a:p>
                      <a:pPr indent="0" lvl="0" marL="0" rtl="0" algn="ctr">
                        <a:spcBef>
                          <a:spcPts val="0"/>
                        </a:spcBef>
                        <a:spcAft>
                          <a:spcPts val="0"/>
                        </a:spcAft>
                        <a:buNone/>
                      </a:pPr>
                      <a:r>
                        <a:rPr b="1" lang="es">
                          <a:solidFill>
                            <a:schemeClr val="lt1"/>
                          </a:solidFill>
                        </a:rPr>
                        <a:t>Area</a:t>
                      </a:r>
                      <a:endParaRPr b="1">
                        <a:solidFill>
                          <a:schemeClr val="lt1"/>
                        </a:solidFill>
                      </a:endParaRPr>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solidFill>
                      <a:srgbClr val="6D9EEB"/>
                    </a:solidFill>
                  </a:tcPr>
                </a:tc>
                <a:tc>
                  <a:txBody>
                    <a:bodyPr/>
                    <a:lstStyle/>
                    <a:p>
                      <a:pPr indent="0" lvl="0" marL="0" rtl="0" algn="ctr">
                        <a:spcBef>
                          <a:spcPts val="0"/>
                        </a:spcBef>
                        <a:spcAft>
                          <a:spcPts val="0"/>
                        </a:spcAft>
                        <a:buNone/>
                      </a:pPr>
                      <a:r>
                        <a:rPr b="1" lang="es">
                          <a:solidFill>
                            <a:schemeClr val="lt1"/>
                          </a:solidFill>
                        </a:rPr>
                        <a:t>Descripción</a:t>
                      </a:r>
                      <a:endParaRPr b="1">
                        <a:solidFill>
                          <a:schemeClr val="lt1"/>
                        </a:solidFill>
                      </a:endParaRPr>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solidFill>
                      <a:srgbClr val="6D9EEB"/>
                    </a:solidFill>
                  </a:tcPr>
                </a:tc>
              </a:tr>
              <a:tr h="381000">
                <a:tc>
                  <a:txBody>
                    <a:bodyPr/>
                    <a:lstStyle/>
                    <a:p>
                      <a:pPr indent="0" lvl="0" marL="0" rtl="0" algn="l">
                        <a:spcBef>
                          <a:spcPts val="0"/>
                        </a:spcBef>
                        <a:spcAft>
                          <a:spcPts val="0"/>
                        </a:spcAft>
                        <a:buNone/>
                      </a:pPr>
                      <a:r>
                        <a:rPr b="1" lang="es"/>
                        <a:t>Prácticas aplicadas</a:t>
                      </a:r>
                      <a:endParaRPr b="1"/>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c>
                  <a:txBody>
                    <a:bodyPr/>
                    <a:lstStyle/>
                    <a:p>
                      <a:pPr indent="-298450" lvl="0" marL="457200" rtl="0" algn="l">
                        <a:spcBef>
                          <a:spcPts val="0"/>
                        </a:spcBef>
                        <a:spcAft>
                          <a:spcPts val="0"/>
                        </a:spcAft>
                        <a:buSzPts val="1100"/>
                        <a:buChar char="❖"/>
                      </a:pPr>
                      <a:r>
                        <a:rPr lang="es" sz="1100"/>
                        <a:t>Gestión de Proveedores</a:t>
                      </a:r>
                      <a:endParaRPr sz="1100"/>
                    </a:p>
                    <a:p>
                      <a:pPr indent="-298450" lvl="0" marL="457200" rtl="0" algn="l">
                        <a:spcBef>
                          <a:spcPts val="0"/>
                        </a:spcBef>
                        <a:spcAft>
                          <a:spcPts val="0"/>
                        </a:spcAft>
                        <a:buSzPts val="1100"/>
                        <a:buChar char="❖"/>
                      </a:pPr>
                      <a:r>
                        <a:rPr lang="es" sz="1100"/>
                        <a:t>Gestión de la Relación con el Negocio</a:t>
                      </a:r>
                      <a:endParaRPr sz="1100"/>
                    </a:p>
                    <a:p>
                      <a:pPr indent="-298450" lvl="0" marL="457200" rtl="0" algn="l">
                        <a:spcBef>
                          <a:spcPts val="0"/>
                        </a:spcBef>
                        <a:spcAft>
                          <a:spcPts val="0"/>
                        </a:spcAft>
                        <a:buSzPts val="1100"/>
                        <a:buChar char="❖"/>
                      </a:pPr>
                      <a:r>
                        <a:rPr lang="es" sz="1100"/>
                        <a:t>Monitoreo y Gestión de Eventos</a:t>
                      </a:r>
                      <a:endParaRPr sz="1100"/>
                    </a:p>
                    <a:p>
                      <a:pPr indent="-298450" lvl="0" marL="457200" rtl="0" algn="l">
                        <a:spcBef>
                          <a:spcPts val="0"/>
                        </a:spcBef>
                        <a:spcAft>
                          <a:spcPts val="0"/>
                        </a:spcAft>
                        <a:buSzPts val="1100"/>
                        <a:buChar char="❖"/>
                      </a:pPr>
                      <a:r>
                        <a:rPr lang="es" sz="1100"/>
                        <a:t>Medición y Reportes de Servicio</a:t>
                      </a:r>
                      <a:r>
                        <a:rPr lang="es" sz="1100"/>
                        <a:t>.</a:t>
                      </a:r>
                      <a:endParaRPr sz="1100"/>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r>
              <a:tr h="694000">
                <a:tc>
                  <a:txBody>
                    <a:bodyPr/>
                    <a:lstStyle/>
                    <a:p>
                      <a:pPr indent="0" lvl="0" marL="0" rtl="0" algn="l">
                        <a:spcBef>
                          <a:spcPts val="0"/>
                        </a:spcBef>
                        <a:spcAft>
                          <a:spcPts val="0"/>
                        </a:spcAft>
                        <a:buNone/>
                      </a:pPr>
                      <a:r>
                        <a:rPr b="1" lang="es"/>
                        <a:t>Componentes del SVS en acción</a:t>
                      </a:r>
                      <a:endParaRPr b="1"/>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c>
                  <a:txBody>
                    <a:bodyPr/>
                    <a:lstStyle/>
                    <a:p>
                      <a:pPr indent="-298450" lvl="0" marL="457200" rtl="0" algn="l">
                        <a:spcBef>
                          <a:spcPts val="0"/>
                        </a:spcBef>
                        <a:spcAft>
                          <a:spcPts val="0"/>
                        </a:spcAft>
                        <a:buSzPts val="1100"/>
                        <a:buChar char="❖"/>
                      </a:pPr>
                      <a:r>
                        <a:rPr lang="es" sz="1100"/>
                        <a:t>Governance: aprobación del modelo de sourcing, control de contratos.</a:t>
                      </a:r>
                      <a:endParaRPr sz="1100"/>
                    </a:p>
                    <a:p>
                      <a:pPr indent="-298450" lvl="0" marL="457200" rtl="0" algn="l">
                        <a:spcBef>
                          <a:spcPts val="0"/>
                        </a:spcBef>
                        <a:spcAft>
                          <a:spcPts val="0"/>
                        </a:spcAft>
                        <a:buSzPts val="1100"/>
                        <a:buChar char="❖"/>
                      </a:pPr>
                      <a:r>
                        <a:rPr lang="es" sz="1100"/>
                        <a:t>Mejora Continua: revisión periódica de KPIs y feedback del negocio.</a:t>
                      </a:r>
                      <a:endParaRPr sz="1100"/>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s"/>
                        <a:t>Resultados obtenidos</a:t>
                      </a:r>
                      <a:endParaRPr b="1"/>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c>
                  <a:txBody>
                    <a:bodyPr/>
                    <a:lstStyle/>
                    <a:p>
                      <a:pPr indent="-298450" lvl="0" marL="457200" rtl="0" algn="l">
                        <a:spcBef>
                          <a:spcPts val="0"/>
                        </a:spcBef>
                        <a:spcAft>
                          <a:spcPts val="0"/>
                        </a:spcAft>
                        <a:buClr>
                          <a:schemeClr val="dk1"/>
                        </a:buClr>
                        <a:buSzPts val="1100"/>
                        <a:buChar char="❖"/>
                      </a:pPr>
                      <a:r>
                        <a:rPr lang="es" sz="1100">
                          <a:solidFill>
                            <a:schemeClr val="dk1"/>
                          </a:solidFill>
                        </a:rPr>
                        <a:t>85% de los incidentes resueltos por el proveedor en menos de 2 horas.</a:t>
                      </a:r>
                      <a:endParaRPr sz="1100">
                        <a:solidFill>
                          <a:schemeClr val="dk1"/>
                        </a:solidFill>
                      </a:endParaRPr>
                    </a:p>
                    <a:p>
                      <a:pPr indent="-298450" lvl="0" marL="457200" rtl="0" algn="l">
                        <a:spcBef>
                          <a:spcPts val="0"/>
                        </a:spcBef>
                        <a:spcAft>
                          <a:spcPts val="0"/>
                        </a:spcAft>
                        <a:buClr>
                          <a:schemeClr val="dk1"/>
                        </a:buClr>
                        <a:buSzPts val="1100"/>
                        <a:buChar char="❖"/>
                      </a:pPr>
                      <a:r>
                        <a:rPr lang="es" sz="1100">
                          <a:solidFill>
                            <a:schemeClr val="dk1"/>
                          </a:solidFill>
                        </a:rPr>
                        <a:t>Reducción del backlog interno en un 40%.</a:t>
                      </a:r>
                      <a:endParaRPr sz="1100">
                        <a:solidFill>
                          <a:schemeClr val="dk1"/>
                        </a:solidFill>
                      </a:endParaRPr>
                    </a:p>
                    <a:p>
                      <a:pPr indent="-298450" lvl="0" marL="457200" rtl="0" algn="l">
                        <a:spcBef>
                          <a:spcPts val="0"/>
                        </a:spcBef>
                        <a:spcAft>
                          <a:spcPts val="0"/>
                        </a:spcAft>
                        <a:buClr>
                          <a:schemeClr val="dk1"/>
                        </a:buClr>
                        <a:buSzPts val="1100"/>
                        <a:buChar char="❖"/>
                      </a:pPr>
                      <a:r>
                        <a:rPr lang="es" sz="1100">
                          <a:solidFill>
                            <a:schemeClr val="dk1"/>
                          </a:solidFill>
                        </a:rPr>
                        <a:t>Aumento de satisfacción del usuario y disponibilidad de tiempo del equipo interno.</a:t>
                      </a:r>
                      <a:r>
                        <a:rPr lang="es" sz="1100">
                          <a:solidFill>
                            <a:schemeClr val="dk1"/>
                          </a:solidFill>
                        </a:rPr>
                        <a:t>.</a:t>
                      </a:r>
                      <a:endParaRPr sz="1100">
                        <a:solidFill>
                          <a:schemeClr val="dk1"/>
                        </a:solidFill>
                      </a:endParaRPr>
                    </a:p>
                  </a:txBody>
                  <a:tcPr marT="91425" marB="91425" marR="91425" marL="91425">
                    <a:lnL cap="flat" cmpd="sng" w="9525">
                      <a:solidFill>
                        <a:srgbClr val="6D9EEB"/>
                      </a:solidFill>
                      <a:prstDash val="solid"/>
                      <a:round/>
                      <a:headEnd len="sm" w="sm" type="none"/>
                      <a:tailEnd len="sm" w="sm" type="none"/>
                    </a:lnL>
                    <a:lnR cap="flat" cmpd="sng" w="9525">
                      <a:solidFill>
                        <a:srgbClr val="6D9EEB"/>
                      </a:solidFill>
                      <a:prstDash val="solid"/>
                      <a:round/>
                      <a:headEnd len="sm" w="sm" type="none"/>
                      <a:tailEnd len="sm" w="sm" type="none"/>
                    </a:lnR>
                    <a:lnT cap="flat" cmpd="sng" w="9525">
                      <a:solidFill>
                        <a:srgbClr val="6D9EEB"/>
                      </a:solidFill>
                      <a:prstDash val="solid"/>
                      <a:round/>
                      <a:headEnd len="sm" w="sm" type="none"/>
                      <a:tailEnd len="sm" w="sm" type="none"/>
                    </a:lnT>
                    <a:lnB cap="flat" cmpd="sng" w="9525">
                      <a:solidFill>
                        <a:srgbClr val="6D9EEB"/>
                      </a:solidFill>
                      <a:prstDash val="solid"/>
                      <a:round/>
                      <a:headEnd len="sm" w="sm" type="none"/>
                      <a:tailEnd len="sm" w="sm" type="none"/>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pic>
        <p:nvPicPr>
          <p:cNvPr descr="C:\Users\Idiomas\Downloads\Fadena-Negativo-FondoClaro (1).png" id="205" name="Google Shape;205;p5"/>
          <p:cNvPicPr preferRelativeResize="0"/>
          <p:nvPr/>
        </p:nvPicPr>
        <p:blipFill rotWithShape="1">
          <a:blip r:embed="rId3">
            <a:alphaModFix/>
          </a:blip>
          <a:srcRect b="0" l="0" r="0" t="0"/>
          <a:stretch/>
        </p:blipFill>
        <p:spPr>
          <a:xfrm>
            <a:off x="939113" y="3534517"/>
            <a:ext cx="2094466" cy="586452"/>
          </a:xfrm>
          <a:prstGeom prst="rect">
            <a:avLst/>
          </a:prstGeom>
          <a:noFill/>
          <a:ln>
            <a:noFill/>
          </a:ln>
        </p:spPr>
      </p:pic>
      <p:sp>
        <p:nvSpPr>
          <p:cNvPr id="206" name="Google Shape;206;p5"/>
          <p:cNvSpPr/>
          <p:nvPr/>
        </p:nvSpPr>
        <p:spPr>
          <a:xfrm>
            <a:off x="622948" y="810196"/>
            <a:ext cx="4255500" cy="4635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1" i="0" lang="es" sz="1400" u="none" cap="none" strike="noStrike">
                <a:solidFill>
                  <a:schemeClr val="dk2"/>
                </a:solidFill>
                <a:latin typeface="Arial"/>
                <a:ea typeface="Arial"/>
                <a:cs typeface="Arial"/>
                <a:sym typeface="Arial"/>
              </a:rPr>
              <a:t>ITIL </a:t>
            </a:r>
            <a:r>
              <a:rPr b="1" lang="es">
                <a:solidFill>
                  <a:schemeClr val="dk2"/>
                </a:solidFill>
              </a:rPr>
              <a:t>- Implementación</a:t>
            </a:r>
            <a:endParaRPr b="1" i="0" sz="1400" u="none" cap="none" strike="noStrike">
              <a:solidFill>
                <a:schemeClr val="dk2"/>
              </a:solidFill>
              <a:latin typeface="Arial"/>
              <a:ea typeface="Arial"/>
              <a:cs typeface="Arial"/>
              <a:sym typeface="Arial"/>
            </a:endParaRPr>
          </a:p>
        </p:txBody>
      </p:sp>
      <p:sp>
        <p:nvSpPr>
          <p:cNvPr id="207" name="Google Shape;207;p5"/>
          <p:cNvSpPr/>
          <p:nvPr/>
        </p:nvSpPr>
        <p:spPr>
          <a:xfrm>
            <a:off x="610525" y="1281700"/>
            <a:ext cx="7898400" cy="3632700"/>
          </a:xfrm>
          <a:prstGeom prst="rect">
            <a:avLst/>
          </a:prstGeom>
          <a:noFill/>
          <a:ln>
            <a:noFill/>
          </a:ln>
        </p:spPr>
        <p:txBody>
          <a:bodyPr anchorCtr="0" anchor="t" bIns="34275" lIns="68575" spcFirstLastPara="1" rIns="68575" wrap="square" tIns="34275">
            <a:noAutofit/>
          </a:bodyPr>
          <a:lstStyle/>
          <a:p>
            <a:pPr indent="-304800" lvl="0" marL="457200" marR="0" rtl="0" algn="just">
              <a:lnSpc>
                <a:spcPct val="100000"/>
              </a:lnSpc>
              <a:spcBef>
                <a:spcPts val="0"/>
              </a:spcBef>
              <a:spcAft>
                <a:spcPts val="0"/>
              </a:spcAft>
              <a:buClr>
                <a:schemeClr val="dk2"/>
              </a:buClr>
              <a:buSzPts val="1200"/>
              <a:buFont typeface="Arial"/>
              <a:buChar char="❖"/>
            </a:pPr>
            <a:r>
              <a:rPr b="1" lang="es" sz="1200">
                <a:solidFill>
                  <a:schemeClr val="dk2"/>
                </a:solidFill>
              </a:rPr>
              <a:t>Identificar un área o dolor real (no empezar por todas las prácticas)</a:t>
            </a:r>
            <a:endParaRPr b="1" sz="1200">
              <a:solidFill>
                <a:schemeClr val="dk2"/>
              </a:solidFill>
            </a:endParaRPr>
          </a:p>
          <a:p>
            <a:pPr indent="-304800" lvl="1" marL="914400" marR="0" rtl="0" algn="just">
              <a:lnSpc>
                <a:spcPct val="100000"/>
              </a:lnSpc>
              <a:spcBef>
                <a:spcPts val="0"/>
              </a:spcBef>
              <a:spcAft>
                <a:spcPts val="0"/>
              </a:spcAft>
              <a:buClr>
                <a:schemeClr val="dk2"/>
              </a:buClr>
              <a:buSzPts val="1200"/>
              <a:buFont typeface="Arial"/>
              <a:buChar char="○"/>
            </a:pPr>
            <a:r>
              <a:rPr lang="es" sz="1200">
                <a:solidFill>
                  <a:schemeClr val="dk2"/>
                </a:solidFill>
              </a:rPr>
              <a:t>Ej.: alto volumen de incidentes, mala experiencia de usuario, retrasos en cambios.</a:t>
            </a:r>
            <a:endParaRPr sz="1200">
              <a:solidFill>
                <a:schemeClr val="dk2"/>
              </a:solidFill>
            </a:endParaRPr>
          </a:p>
          <a:p>
            <a:pPr indent="0" lvl="0" marL="914400" marR="0" rtl="0" algn="just">
              <a:lnSpc>
                <a:spcPct val="100000"/>
              </a:lnSpc>
              <a:spcBef>
                <a:spcPts val="0"/>
              </a:spcBef>
              <a:spcAft>
                <a:spcPts val="0"/>
              </a:spcAft>
              <a:buNone/>
            </a:pPr>
            <a:r>
              <a:t/>
            </a:r>
            <a:endParaRPr sz="1200">
              <a:solidFill>
                <a:schemeClr val="dk2"/>
              </a:solidFill>
            </a:endParaRPr>
          </a:p>
          <a:p>
            <a:pPr indent="-304800" lvl="0" marL="457200" marR="0" rtl="0" algn="just">
              <a:lnSpc>
                <a:spcPct val="100000"/>
              </a:lnSpc>
              <a:spcBef>
                <a:spcPts val="0"/>
              </a:spcBef>
              <a:spcAft>
                <a:spcPts val="0"/>
              </a:spcAft>
              <a:buClr>
                <a:schemeClr val="dk2"/>
              </a:buClr>
              <a:buSzPts val="1200"/>
              <a:buFont typeface="Arial"/>
              <a:buChar char="❖"/>
            </a:pPr>
            <a:r>
              <a:rPr b="1" lang="es" sz="1200">
                <a:solidFill>
                  <a:schemeClr val="dk2"/>
                </a:solidFill>
              </a:rPr>
              <a:t>Seleccionar prácticas relevantes y entender su propósito</a:t>
            </a:r>
            <a:endParaRPr b="1" sz="1200">
              <a:solidFill>
                <a:schemeClr val="dk2"/>
              </a:solidFill>
            </a:endParaRPr>
          </a:p>
          <a:p>
            <a:pPr indent="-304800" lvl="1" marL="914400" marR="0" rtl="0" algn="just">
              <a:lnSpc>
                <a:spcPct val="100000"/>
              </a:lnSpc>
              <a:spcBef>
                <a:spcPts val="0"/>
              </a:spcBef>
              <a:spcAft>
                <a:spcPts val="0"/>
              </a:spcAft>
              <a:buClr>
                <a:schemeClr val="dk2"/>
              </a:buClr>
              <a:buSzPts val="1200"/>
              <a:buFont typeface="Arial"/>
              <a:buChar char="○"/>
            </a:pPr>
            <a:r>
              <a:rPr lang="es" sz="1200">
                <a:solidFill>
                  <a:schemeClr val="dk2"/>
                </a:solidFill>
              </a:rPr>
              <a:t>Ej.: Para mejorar soporte → Gestión de Incidentes + Gestión del Conocimiento.</a:t>
            </a:r>
            <a:endParaRPr sz="1200">
              <a:solidFill>
                <a:schemeClr val="dk2"/>
              </a:solidFill>
            </a:endParaRPr>
          </a:p>
          <a:p>
            <a:pPr indent="0" lvl="0" marL="914400" marR="0" rtl="0" algn="just">
              <a:lnSpc>
                <a:spcPct val="100000"/>
              </a:lnSpc>
              <a:spcBef>
                <a:spcPts val="0"/>
              </a:spcBef>
              <a:spcAft>
                <a:spcPts val="0"/>
              </a:spcAft>
              <a:buNone/>
            </a:pPr>
            <a:r>
              <a:t/>
            </a:r>
            <a:endParaRPr sz="1200">
              <a:solidFill>
                <a:schemeClr val="dk2"/>
              </a:solidFill>
            </a:endParaRPr>
          </a:p>
          <a:p>
            <a:pPr indent="-304800" lvl="0" marL="457200" marR="0" rtl="0" algn="just">
              <a:lnSpc>
                <a:spcPct val="100000"/>
              </a:lnSpc>
              <a:spcBef>
                <a:spcPts val="0"/>
              </a:spcBef>
              <a:spcAft>
                <a:spcPts val="0"/>
              </a:spcAft>
              <a:buClr>
                <a:schemeClr val="dk2"/>
              </a:buClr>
              <a:buSzPts val="1200"/>
              <a:buFont typeface="Arial"/>
              <a:buChar char="❖"/>
            </a:pPr>
            <a:r>
              <a:rPr b="1" lang="es" sz="1200">
                <a:solidFill>
                  <a:schemeClr val="dk2"/>
                </a:solidFill>
              </a:rPr>
              <a:t>Diagnóstico actual: ¿qué procesos existen? ¿quién hace qué?</a:t>
            </a:r>
            <a:endParaRPr b="1" sz="1200">
              <a:solidFill>
                <a:schemeClr val="dk2"/>
              </a:solidFill>
            </a:endParaRPr>
          </a:p>
          <a:p>
            <a:pPr indent="-304800" lvl="1" marL="914400" marR="0" rtl="0" algn="just">
              <a:lnSpc>
                <a:spcPct val="100000"/>
              </a:lnSpc>
              <a:spcBef>
                <a:spcPts val="0"/>
              </a:spcBef>
              <a:spcAft>
                <a:spcPts val="0"/>
              </a:spcAft>
              <a:buClr>
                <a:schemeClr val="dk2"/>
              </a:buClr>
              <a:buSzPts val="1200"/>
              <a:buFont typeface="Arial"/>
              <a:buChar char="○"/>
            </a:pPr>
            <a:r>
              <a:rPr lang="es" sz="1200">
                <a:solidFill>
                  <a:schemeClr val="dk2"/>
                </a:solidFill>
              </a:rPr>
              <a:t>Mapear flujos existentes (aunque sean informales) y roles actuales.</a:t>
            </a:r>
            <a:endParaRPr sz="1200">
              <a:solidFill>
                <a:schemeClr val="dk2"/>
              </a:solidFill>
            </a:endParaRPr>
          </a:p>
          <a:p>
            <a:pPr indent="0" lvl="0" marL="914400" marR="0" rtl="0" algn="just">
              <a:lnSpc>
                <a:spcPct val="100000"/>
              </a:lnSpc>
              <a:spcBef>
                <a:spcPts val="0"/>
              </a:spcBef>
              <a:spcAft>
                <a:spcPts val="0"/>
              </a:spcAft>
              <a:buNone/>
            </a:pPr>
            <a:r>
              <a:t/>
            </a:r>
            <a:endParaRPr sz="1200">
              <a:solidFill>
                <a:schemeClr val="dk2"/>
              </a:solidFill>
            </a:endParaRPr>
          </a:p>
          <a:p>
            <a:pPr indent="-304800" lvl="0" marL="457200" marR="0" rtl="0" algn="just">
              <a:lnSpc>
                <a:spcPct val="100000"/>
              </a:lnSpc>
              <a:spcBef>
                <a:spcPts val="0"/>
              </a:spcBef>
              <a:spcAft>
                <a:spcPts val="0"/>
              </a:spcAft>
              <a:buClr>
                <a:schemeClr val="dk2"/>
              </a:buClr>
              <a:buSzPts val="1200"/>
              <a:buFont typeface="Arial"/>
              <a:buChar char="❖"/>
            </a:pPr>
            <a:r>
              <a:rPr b="1" lang="es" sz="1200">
                <a:solidFill>
                  <a:schemeClr val="dk2"/>
                </a:solidFill>
              </a:rPr>
              <a:t>Rediseñar procesos y flujos donde sea necesario</a:t>
            </a:r>
            <a:endParaRPr sz="1200">
              <a:solidFill>
                <a:schemeClr val="dk2"/>
              </a:solidFill>
            </a:endParaRPr>
          </a:p>
          <a:p>
            <a:pPr indent="0" lvl="0" marL="914400" marR="0" rtl="0" algn="just">
              <a:lnSpc>
                <a:spcPct val="100000"/>
              </a:lnSpc>
              <a:spcBef>
                <a:spcPts val="0"/>
              </a:spcBef>
              <a:spcAft>
                <a:spcPts val="0"/>
              </a:spcAft>
              <a:buNone/>
            </a:pPr>
            <a:r>
              <a:t/>
            </a:r>
            <a:endParaRPr sz="1200">
              <a:solidFill>
                <a:schemeClr val="dk2"/>
              </a:solidFill>
            </a:endParaRPr>
          </a:p>
          <a:p>
            <a:pPr indent="-304800" lvl="0" marL="457200" marR="0" rtl="0" algn="just">
              <a:lnSpc>
                <a:spcPct val="100000"/>
              </a:lnSpc>
              <a:spcBef>
                <a:spcPts val="0"/>
              </a:spcBef>
              <a:spcAft>
                <a:spcPts val="0"/>
              </a:spcAft>
              <a:buClr>
                <a:schemeClr val="dk2"/>
              </a:buClr>
              <a:buSzPts val="1200"/>
              <a:buFont typeface="Arial"/>
              <a:buChar char="❖"/>
            </a:pPr>
            <a:r>
              <a:rPr b="1" lang="es" sz="1200">
                <a:solidFill>
                  <a:schemeClr val="dk2"/>
                </a:solidFill>
              </a:rPr>
              <a:t>Definir indicadores y puntos de control</a:t>
            </a:r>
            <a:endParaRPr sz="1200">
              <a:solidFill>
                <a:schemeClr val="dk2"/>
              </a:solidFill>
            </a:endParaRPr>
          </a:p>
          <a:p>
            <a:pPr indent="0" lvl="0" marL="914400" marR="0" rtl="0" algn="just">
              <a:lnSpc>
                <a:spcPct val="100000"/>
              </a:lnSpc>
              <a:spcBef>
                <a:spcPts val="0"/>
              </a:spcBef>
              <a:spcAft>
                <a:spcPts val="0"/>
              </a:spcAft>
              <a:buNone/>
            </a:pPr>
            <a:r>
              <a:t/>
            </a:r>
            <a:endParaRPr sz="1200">
              <a:solidFill>
                <a:schemeClr val="dk2"/>
              </a:solidFill>
            </a:endParaRPr>
          </a:p>
          <a:p>
            <a:pPr indent="-304800" lvl="0" marL="457200" marR="0" rtl="0" algn="just">
              <a:lnSpc>
                <a:spcPct val="100000"/>
              </a:lnSpc>
              <a:spcBef>
                <a:spcPts val="0"/>
              </a:spcBef>
              <a:spcAft>
                <a:spcPts val="0"/>
              </a:spcAft>
              <a:buClr>
                <a:schemeClr val="dk2"/>
              </a:buClr>
              <a:buSzPts val="1200"/>
              <a:buFont typeface="Arial"/>
              <a:buChar char="❖"/>
            </a:pPr>
            <a:r>
              <a:rPr b="1" lang="es" sz="1200">
                <a:solidFill>
                  <a:schemeClr val="dk2"/>
                </a:solidFill>
              </a:rPr>
              <a:t> Comunicar y capacitar a los involucrados</a:t>
            </a:r>
            <a:endParaRPr b="1" sz="1200">
              <a:solidFill>
                <a:schemeClr val="dk2"/>
              </a:solidFill>
            </a:endParaRPr>
          </a:p>
          <a:p>
            <a:pPr indent="0" lvl="0" marL="457200" marR="0" rtl="0" algn="just">
              <a:lnSpc>
                <a:spcPct val="100000"/>
              </a:lnSpc>
              <a:spcBef>
                <a:spcPts val="0"/>
              </a:spcBef>
              <a:spcAft>
                <a:spcPts val="0"/>
              </a:spcAft>
              <a:buNone/>
            </a:pPr>
            <a:r>
              <a:t/>
            </a:r>
            <a:endParaRPr b="1" sz="1200">
              <a:solidFill>
                <a:schemeClr val="dk2"/>
              </a:solidFill>
            </a:endParaRPr>
          </a:p>
          <a:p>
            <a:pPr indent="-304800" lvl="0" marL="457200" marR="0" rtl="0" algn="just">
              <a:lnSpc>
                <a:spcPct val="200000"/>
              </a:lnSpc>
              <a:spcBef>
                <a:spcPts val="0"/>
              </a:spcBef>
              <a:spcAft>
                <a:spcPts val="0"/>
              </a:spcAft>
              <a:buClr>
                <a:schemeClr val="dk2"/>
              </a:buClr>
              <a:buSzPts val="1200"/>
              <a:buFont typeface="Arial"/>
              <a:buChar char="❖"/>
            </a:pPr>
            <a:r>
              <a:rPr b="1" lang="es" sz="1200">
                <a:solidFill>
                  <a:schemeClr val="dk2"/>
                </a:solidFill>
              </a:rPr>
              <a:t>Iterar y mejorar (no buscar la perfección inicial)</a:t>
            </a:r>
            <a:endParaRPr b="1" sz="1200">
              <a:solidFill>
                <a:schemeClr val="dk2"/>
              </a:solidFill>
            </a:endParaRPr>
          </a:p>
        </p:txBody>
      </p:sp>
      <p:pic>
        <p:nvPicPr>
          <p:cNvPr id="208" name="Google Shape;208;p5"/>
          <p:cNvPicPr preferRelativeResize="0"/>
          <p:nvPr/>
        </p:nvPicPr>
        <p:blipFill rotWithShape="1">
          <a:blip r:embed="rId4">
            <a:alphaModFix/>
          </a:blip>
          <a:srcRect b="0" l="0" r="0" t="0"/>
          <a:stretch/>
        </p:blipFill>
        <p:spPr>
          <a:xfrm>
            <a:off x="7163714" y="4451106"/>
            <a:ext cx="1623849" cy="463355"/>
          </a:xfrm>
          <a:prstGeom prst="rect">
            <a:avLst/>
          </a:prstGeom>
          <a:noFill/>
          <a:ln>
            <a:noFill/>
          </a:ln>
        </p:spPr>
      </p:pic>
      <p:sp>
        <p:nvSpPr>
          <p:cNvPr id="209" name="Google Shape;209;p5"/>
          <p:cNvSpPr/>
          <p:nvPr/>
        </p:nvSpPr>
        <p:spPr>
          <a:xfrm>
            <a:off x="614600" y="4669825"/>
            <a:ext cx="5741700" cy="463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3B4449"/>
                </a:solidFill>
                <a:latin typeface="Arial"/>
                <a:ea typeface="Arial"/>
                <a:cs typeface="Arial"/>
                <a:sym typeface="Arial"/>
              </a:rPr>
              <a:t>Fundamentos y principios de las metodologías de gestión </a:t>
            </a:r>
            <a:endParaRPr b="0" i="0" sz="1400" u="none" cap="none" strike="noStrike">
              <a:solidFill>
                <a:schemeClr val="dk2"/>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pic>
        <p:nvPicPr>
          <p:cNvPr descr="C:\Users\Idiomas\Downloads\Fadena-Negativo-FondoClaro (1).png" id="214" name="Google Shape;214;p6"/>
          <p:cNvPicPr preferRelativeResize="0"/>
          <p:nvPr/>
        </p:nvPicPr>
        <p:blipFill rotWithShape="1">
          <a:blip r:embed="rId3">
            <a:alphaModFix/>
          </a:blip>
          <a:srcRect b="0" l="0" r="0" t="0"/>
          <a:stretch/>
        </p:blipFill>
        <p:spPr>
          <a:xfrm>
            <a:off x="939113" y="3534517"/>
            <a:ext cx="2094466" cy="586452"/>
          </a:xfrm>
          <a:prstGeom prst="rect">
            <a:avLst/>
          </a:prstGeom>
          <a:noFill/>
          <a:ln>
            <a:noFill/>
          </a:ln>
        </p:spPr>
      </p:pic>
      <p:sp>
        <p:nvSpPr>
          <p:cNvPr id="215" name="Google Shape;215;p6"/>
          <p:cNvSpPr/>
          <p:nvPr/>
        </p:nvSpPr>
        <p:spPr>
          <a:xfrm>
            <a:off x="371001" y="139300"/>
            <a:ext cx="5367300" cy="4635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1" lang="es">
                <a:solidFill>
                  <a:schemeClr val="dk2"/>
                </a:solidFill>
              </a:rPr>
              <a:t>ITIL - Herramientas y Prácticas</a:t>
            </a:r>
            <a:endParaRPr b="1" i="0" sz="1400" u="none" cap="none" strike="noStrike">
              <a:solidFill>
                <a:schemeClr val="dk2"/>
              </a:solidFill>
              <a:latin typeface="Arial"/>
              <a:ea typeface="Arial"/>
              <a:cs typeface="Arial"/>
              <a:sym typeface="Arial"/>
            </a:endParaRPr>
          </a:p>
        </p:txBody>
      </p:sp>
      <p:sp>
        <p:nvSpPr>
          <p:cNvPr id="216" name="Google Shape;216;p6"/>
          <p:cNvSpPr/>
          <p:nvPr/>
        </p:nvSpPr>
        <p:spPr>
          <a:xfrm>
            <a:off x="610525" y="1281700"/>
            <a:ext cx="7898400" cy="2250600"/>
          </a:xfrm>
          <a:prstGeom prst="rect">
            <a:avLst/>
          </a:prstGeom>
          <a:noFill/>
          <a:ln>
            <a:noFill/>
          </a:ln>
        </p:spPr>
        <p:txBody>
          <a:bodyPr anchorCtr="0" anchor="t" bIns="34275" lIns="68575" spcFirstLastPara="1" rIns="68575" wrap="square" tIns="34275">
            <a:noAutofit/>
          </a:bodyPr>
          <a:lstStyle/>
          <a:p>
            <a:pPr indent="0" lvl="0" marL="457200" marR="0" rtl="0" algn="just">
              <a:lnSpc>
                <a:spcPct val="200000"/>
              </a:lnSpc>
              <a:spcBef>
                <a:spcPts val="0"/>
              </a:spcBef>
              <a:spcAft>
                <a:spcPts val="0"/>
              </a:spcAft>
              <a:buNone/>
            </a:pPr>
            <a:r>
              <a:t/>
            </a:r>
            <a:endParaRPr b="0" i="0" sz="1200" u="none" cap="none" strike="noStrike">
              <a:solidFill>
                <a:schemeClr val="dk2"/>
              </a:solidFill>
              <a:latin typeface="Arial"/>
              <a:ea typeface="Arial"/>
              <a:cs typeface="Arial"/>
              <a:sym typeface="Arial"/>
            </a:endParaRPr>
          </a:p>
        </p:txBody>
      </p:sp>
      <p:pic>
        <p:nvPicPr>
          <p:cNvPr id="217" name="Google Shape;217;p6"/>
          <p:cNvPicPr preferRelativeResize="0"/>
          <p:nvPr/>
        </p:nvPicPr>
        <p:blipFill rotWithShape="1">
          <a:blip r:embed="rId4">
            <a:alphaModFix/>
          </a:blip>
          <a:srcRect b="0" l="0" r="0" t="0"/>
          <a:stretch/>
        </p:blipFill>
        <p:spPr>
          <a:xfrm>
            <a:off x="7163714" y="4451106"/>
            <a:ext cx="1623849" cy="463355"/>
          </a:xfrm>
          <a:prstGeom prst="rect">
            <a:avLst/>
          </a:prstGeom>
          <a:noFill/>
          <a:ln>
            <a:noFill/>
          </a:ln>
        </p:spPr>
      </p:pic>
      <p:sp>
        <p:nvSpPr>
          <p:cNvPr id="218" name="Google Shape;218;p6"/>
          <p:cNvSpPr/>
          <p:nvPr/>
        </p:nvSpPr>
        <p:spPr>
          <a:xfrm>
            <a:off x="614600" y="4669825"/>
            <a:ext cx="5741700" cy="463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3B4449"/>
                </a:solidFill>
                <a:latin typeface="Arial"/>
                <a:ea typeface="Arial"/>
                <a:cs typeface="Arial"/>
                <a:sym typeface="Arial"/>
              </a:rPr>
              <a:t>Fundamentos y principios de las metodologías de gestión </a:t>
            </a:r>
            <a:endParaRPr b="0" i="0" sz="1400" u="none" cap="none" strike="noStrike">
              <a:solidFill>
                <a:schemeClr val="dk2"/>
              </a:solidFill>
              <a:latin typeface="Arial"/>
              <a:ea typeface="Arial"/>
              <a:cs typeface="Arial"/>
              <a:sym typeface="Arial"/>
            </a:endParaRPr>
          </a:p>
        </p:txBody>
      </p:sp>
      <p:graphicFrame>
        <p:nvGraphicFramePr>
          <p:cNvPr id="219" name="Google Shape;219;p6"/>
          <p:cNvGraphicFramePr/>
          <p:nvPr/>
        </p:nvGraphicFramePr>
        <p:xfrm>
          <a:off x="494713" y="602788"/>
          <a:ext cx="3000000" cy="3000000"/>
        </p:xfrm>
        <a:graphic>
          <a:graphicData uri="http://schemas.openxmlformats.org/drawingml/2006/table">
            <a:tbl>
              <a:tblPr>
                <a:noFill/>
                <a:tableStyleId>{F6A1BAB8-95AE-46C7-A7E8-77DEBBE2C8D1}</a:tableStyleId>
              </a:tblPr>
              <a:tblGrid>
                <a:gridCol w="1781400"/>
                <a:gridCol w="2656900"/>
                <a:gridCol w="2839650"/>
              </a:tblGrid>
              <a:tr h="293750">
                <a:tc>
                  <a:txBody>
                    <a:bodyPr/>
                    <a:lstStyle/>
                    <a:p>
                      <a:pPr indent="0" lvl="0" marL="0" rtl="0" algn="ctr">
                        <a:lnSpc>
                          <a:spcPct val="100000"/>
                        </a:lnSpc>
                        <a:spcBef>
                          <a:spcPts val="0"/>
                        </a:spcBef>
                        <a:spcAft>
                          <a:spcPts val="0"/>
                        </a:spcAft>
                        <a:buNone/>
                      </a:pPr>
                      <a:r>
                        <a:rPr b="1" lang="es" sz="900">
                          <a:solidFill>
                            <a:schemeClr val="lt1"/>
                          </a:solidFill>
                        </a:rPr>
                        <a:t>Práctica ITIL</a:t>
                      </a:r>
                      <a:endParaRPr b="1" sz="900">
                        <a:solidFill>
                          <a:schemeClr val="lt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D9EEB"/>
                    </a:solidFill>
                  </a:tcPr>
                </a:tc>
                <a:tc>
                  <a:txBody>
                    <a:bodyPr/>
                    <a:lstStyle/>
                    <a:p>
                      <a:pPr indent="0" lvl="0" marL="0" rtl="0" algn="ctr">
                        <a:lnSpc>
                          <a:spcPct val="100000"/>
                        </a:lnSpc>
                        <a:spcBef>
                          <a:spcPts val="0"/>
                        </a:spcBef>
                        <a:spcAft>
                          <a:spcPts val="0"/>
                        </a:spcAft>
                        <a:buNone/>
                      </a:pPr>
                      <a:r>
                        <a:rPr b="1" lang="es" sz="900">
                          <a:solidFill>
                            <a:schemeClr val="lt1"/>
                          </a:solidFill>
                        </a:rPr>
                        <a:t>Herramientas que la soportan</a:t>
                      </a:r>
                      <a:endParaRPr b="1" sz="900">
                        <a:solidFill>
                          <a:schemeClr val="lt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D9EEB"/>
                    </a:solidFill>
                  </a:tcPr>
                </a:tc>
                <a:tc>
                  <a:txBody>
                    <a:bodyPr/>
                    <a:lstStyle/>
                    <a:p>
                      <a:pPr indent="0" lvl="0" marL="0" rtl="0" algn="ctr">
                        <a:lnSpc>
                          <a:spcPct val="100000"/>
                        </a:lnSpc>
                        <a:spcBef>
                          <a:spcPts val="0"/>
                        </a:spcBef>
                        <a:spcAft>
                          <a:spcPts val="0"/>
                        </a:spcAft>
                        <a:buNone/>
                      </a:pPr>
                      <a:r>
                        <a:rPr b="1" lang="es" sz="900">
                          <a:solidFill>
                            <a:schemeClr val="lt1"/>
                          </a:solidFill>
                        </a:rPr>
                        <a:t>Funcionalidades típicas</a:t>
                      </a:r>
                      <a:endParaRPr b="1" sz="900">
                        <a:solidFill>
                          <a:schemeClr val="lt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D9EEB"/>
                    </a:solidFill>
                  </a:tcPr>
                </a:tc>
              </a:tr>
              <a:tr h="460625">
                <a:tc>
                  <a:txBody>
                    <a:bodyPr/>
                    <a:lstStyle/>
                    <a:p>
                      <a:pPr indent="0" lvl="0" marL="0" rtl="0" algn="l">
                        <a:lnSpc>
                          <a:spcPct val="100000"/>
                        </a:lnSpc>
                        <a:spcBef>
                          <a:spcPts val="0"/>
                        </a:spcBef>
                        <a:spcAft>
                          <a:spcPts val="0"/>
                        </a:spcAft>
                        <a:buNone/>
                      </a:pPr>
                      <a:r>
                        <a:rPr b="1" lang="es" sz="900"/>
                        <a:t>Gestión de Incidentes / Solicitudes de Servicio</a:t>
                      </a:r>
                      <a:endParaRPr b="1" sz="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s" sz="1000"/>
                        <a:t>ServiceNow, Freshservice, Zendesk, ManageEngine</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s" sz="1000"/>
                        <a:t>Registro de tickets, asignación automática, SLAs, workflows de atención</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60625">
                <a:tc>
                  <a:txBody>
                    <a:bodyPr/>
                    <a:lstStyle/>
                    <a:p>
                      <a:pPr indent="0" lvl="0" marL="0" rtl="0" algn="l">
                        <a:lnSpc>
                          <a:spcPct val="100000"/>
                        </a:lnSpc>
                        <a:spcBef>
                          <a:spcPts val="0"/>
                        </a:spcBef>
                        <a:spcAft>
                          <a:spcPts val="0"/>
                        </a:spcAft>
                        <a:buNone/>
                      </a:pPr>
                      <a:r>
                        <a:rPr b="1" lang="es" sz="900"/>
                        <a:t>Gestión del Conocimiento</a:t>
                      </a:r>
                      <a:endParaRPr b="1" sz="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s" sz="1000"/>
                        <a:t>Confluence, Guru, Notion, Freshservice KB</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s" sz="1000"/>
                        <a:t>Bases de conocimiento, FAQs, artículos internos, autoservicio</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60625">
                <a:tc>
                  <a:txBody>
                    <a:bodyPr/>
                    <a:lstStyle/>
                    <a:p>
                      <a:pPr indent="0" lvl="0" marL="0" rtl="0" algn="l">
                        <a:lnSpc>
                          <a:spcPct val="100000"/>
                        </a:lnSpc>
                        <a:spcBef>
                          <a:spcPts val="0"/>
                        </a:spcBef>
                        <a:spcAft>
                          <a:spcPts val="0"/>
                        </a:spcAft>
                        <a:buNone/>
                      </a:pPr>
                      <a:r>
                        <a:rPr b="1" lang="es" sz="900"/>
                        <a:t>Gestión de Cambios</a:t>
                      </a:r>
                      <a:endParaRPr b="1" sz="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s" sz="1000"/>
                        <a:t>Jira Service Management, BMC Remedy, ServiceNow</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s" sz="1000"/>
                        <a:t>Flujos de aprobación, CAB virtual, evaluación de impacto, auditoría</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60625">
                <a:tc>
                  <a:txBody>
                    <a:bodyPr/>
                    <a:lstStyle/>
                    <a:p>
                      <a:pPr indent="0" lvl="0" marL="0" rtl="0" algn="l">
                        <a:lnSpc>
                          <a:spcPct val="100000"/>
                        </a:lnSpc>
                        <a:spcBef>
                          <a:spcPts val="0"/>
                        </a:spcBef>
                        <a:spcAft>
                          <a:spcPts val="0"/>
                        </a:spcAft>
                        <a:buNone/>
                      </a:pPr>
                      <a:r>
                        <a:rPr b="1" lang="es" sz="900"/>
                        <a:t>Monitoreo y Gestión de Eventos</a:t>
                      </a:r>
                      <a:endParaRPr b="1" sz="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s" sz="1000"/>
                        <a:t>Zabbix, Nagios, Datadog, Splunk</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s" sz="1000"/>
                        <a:t>Alertas, correlación de eventos, detección temprana, visualización</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60625">
                <a:tc>
                  <a:txBody>
                    <a:bodyPr/>
                    <a:lstStyle/>
                    <a:p>
                      <a:pPr indent="0" lvl="0" marL="0" rtl="0" algn="l">
                        <a:lnSpc>
                          <a:spcPct val="100000"/>
                        </a:lnSpc>
                        <a:spcBef>
                          <a:spcPts val="0"/>
                        </a:spcBef>
                        <a:spcAft>
                          <a:spcPts val="0"/>
                        </a:spcAft>
                        <a:buNone/>
                      </a:pPr>
                      <a:r>
                        <a:rPr b="1" lang="es" sz="900"/>
                        <a:t>Gestión de Proveedores / SLAs</a:t>
                      </a:r>
                      <a:endParaRPr b="1" sz="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s" sz="1000"/>
                        <a:t>ServiceNow Vendor Mgmt, Ivanti, Excel + Power BI (para entornos simples)</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s" sz="1000"/>
                        <a:t>Contratos, cumplimiento de acuerdos, dashboards de desempeño</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60625">
                <a:tc>
                  <a:txBody>
                    <a:bodyPr/>
                    <a:lstStyle/>
                    <a:p>
                      <a:pPr indent="0" lvl="0" marL="0" rtl="0" algn="l">
                        <a:lnSpc>
                          <a:spcPct val="100000"/>
                        </a:lnSpc>
                        <a:spcBef>
                          <a:spcPts val="0"/>
                        </a:spcBef>
                        <a:spcAft>
                          <a:spcPts val="0"/>
                        </a:spcAft>
                        <a:buNone/>
                      </a:pPr>
                      <a:r>
                        <a:rPr b="1" lang="es" sz="900"/>
                        <a:t>Mejora Continua / Medición y Reportes</a:t>
                      </a:r>
                      <a:endParaRPr b="1" sz="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s" sz="1000"/>
                        <a:t>Power BI, Grafana, ServiceNow Reports, Excel Avanzado</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s" sz="1000"/>
                        <a:t>Dashboards, tendencias, análisis de KPIs, retroalimentación para decisiones</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60625">
                <a:tc>
                  <a:txBody>
                    <a:bodyPr/>
                    <a:lstStyle/>
                    <a:p>
                      <a:pPr indent="0" lvl="0" marL="0" rtl="0" algn="l">
                        <a:lnSpc>
                          <a:spcPct val="100000"/>
                        </a:lnSpc>
                        <a:spcBef>
                          <a:spcPts val="0"/>
                        </a:spcBef>
                        <a:spcAft>
                          <a:spcPts val="0"/>
                        </a:spcAft>
                        <a:buNone/>
                      </a:pPr>
                      <a:r>
                        <a:rPr b="1" lang="es" sz="900"/>
                        <a:t>Portal de autoservicio</a:t>
                      </a:r>
                      <a:endParaRPr b="1" sz="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s" sz="1000"/>
                        <a:t>Freshservice, Jira Portal, GLPI, Ivanti Neurons</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s" sz="1000"/>
                        <a:t>Catálogo de servicios, seguimiento de solicitudes, chatbot, formularios dinámicos</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pic>
        <p:nvPicPr>
          <p:cNvPr descr="C:\Users\Idiomas\Downloads\Fadena-Negativo-FondoClaro (1).png" id="224" name="Google Shape;224;g356d56908db_0_76"/>
          <p:cNvPicPr preferRelativeResize="0"/>
          <p:nvPr/>
        </p:nvPicPr>
        <p:blipFill rotWithShape="1">
          <a:blip r:embed="rId3">
            <a:alphaModFix/>
          </a:blip>
          <a:srcRect b="0" l="0" r="0" t="0"/>
          <a:stretch/>
        </p:blipFill>
        <p:spPr>
          <a:xfrm>
            <a:off x="939113" y="3534517"/>
            <a:ext cx="2094466" cy="586452"/>
          </a:xfrm>
          <a:prstGeom prst="rect">
            <a:avLst/>
          </a:prstGeom>
          <a:noFill/>
          <a:ln>
            <a:noFill/>
          </a:ln>
        </p:spPr>
      </p:pic>
      <p:sp>
        <p:nvSpPr>
          <p:cNvPr id="225" name="Google Shape;225;g356d56908db_0_76"/>
          <p:cNvSpPr/>
          <p:nvPr/>
        </p:nvSpPr>
        <p:spPr>
          <a:xfrm>
            <a:off x="622950" y="810200"/>
            <a:ext cx="6574800" cy="4635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1" i="0" lang="es" sz="1400" u="none" cap="none" strike="noStrike">
                <a:solidFill>
                  <a:schemeClr val="dk2"/>
                </a:solidFill>
                <a:latin typeface="Arial"/>
                <a:ea typeface="Arial"/>
                <a:cs typeface="Arial"/>
                <a:sym typeface="Arial"/>
              </a:rPr>
              <a:t>ITIL </a:t>
            </a:r>
            <a:r>
              <a:rPr b="1" lang="es">
                <a:solidFill>
                  <a:schemeClr val="dk2"/>
                </a:solidFill>
              </a:rPr>
              <a:t>- Práctica de </a:t>
            </a:r>
            <a:r>
              <a:rPr b="1" lang="es">
                <a:solidFill>
                  <a:schemeClr val="dk2"/>
                </a:solidFill>
              </a:rPr>
              <a:t>Gestión de Incidentes - Flujo – Ejemplo Práctico</a:t>
            </a:r>
            <a:endParaRPr b="1">
              <a:solidFill>
                <a:schemeClr val="dk2"/>
              </a:solidFill>
            </a:endParaRPr>
          </a:p>
        </p:txBody>
      </p:sp>
      <p:pic>
        <p:nvPicPr>
          <p:cNvPr id="226" name="Google Shape;226;g356d56908db_0_76"/>
          <p:cNvPicPr preferRelativeResize="0"/>
          <p:nvPr/>
        </p:nvPicPr>
        <p:blipFill rotWithShape="1">
          <a:blip r:embed="rId4">
            <a:alphaModFix/>
          </a:blip>
          <a:srcRect b="0" l="0" r="0" t="0"/>
          <a:stretch/>
        </p:blipFill>
        <p:spPr>
          <a:xfrm>
            <a:off x="7163714" y="4451106"/>
            <a:ext cx="1623849" cy="463355"/>
          </a:xfrm>
          <a:prstGeom prst="rect">
            <a:avLst/>
          </a:prstGeom>
          <a:noFill/>
          <a:ln>
            <a:noFill/>
          </a:ln>
        </p:spPr>
      </p:pic>
      <p:sp>
        <p:nvSpPr>
          <p:cNvPr id="227" name="Google Shape;227;g356d56908db_0_76"/>
          <p:cNvSpPr/>
          <p:nvPr/>
        </p:nvSpPr>
        <p:spPr>
          <a:xfrm>
            <a:off x="614600" y="4669825"/>
            <a:ext cx="5741700" cy="463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3B4449"/>
                </a:solidFill>
                <a:latin typeface="Arial"/>
                <a:ea typeface="Arial"/>
                <a:cs typeface="Arial"/>
                <a:sym typeface="Arial"/>
              </a:rPr>
              <a:t>Fundamentos y principios de las metodologías de gestión </a:t>
            </a:r>
            <a:endParaRPr b="0" i="0" sz="1400" u="none" cap="none" strike="noStrike">
              <a:solidFill>
                <a:schemeClr val="dk2"/>
              </a:solidFill>
              <a:latin typeface="Arial"/>
              <a:ea typeface="Arial"/>
              <a:cs typeface="Arial"/>
              <a:sym typeface="Arial"/>
            </a:endParaRPr>
          </a:p>
        </p:txBody>
      </p:sp>
      <p:pic>
        <p:nvPicPr>
          <p:cNvPr id="228" name="Google Shape;228;g356d56908db_0_76"/>
          <p:cNvPicPr preferRelativeResize="0"/>
          <p:nvPr/>
        </p:nvPicPr>
        <p:blipFill>
          <a:blip r:embed="rId5">
            <a:alphaModFix/>
          </a:blip>
          <a:stretch>
            <a:fillRect/>
          </a:stretch>
        </p:blipFill>
        <p:spPr>
          <a:xfrm>
            <a:off x="2834700" y="1214900"/>
            <a:ext cx="3704550" cy="34068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pic>
        <p:nvPicPr>
          <p:cNvPr descr="C:\Users\Idiomas\Downloads\Fadena-Negativo-FondoClaro (1).png" id="233" name="Google Shape;233;g356d56908db_0_96"/>
          <p:cNvPicPr preferRelativeResize="0"/>
          <p:nvPr/>
        </p:nvPicPr>
        <p:blipFill rotWithShape="1">
          <a:blip r:embed="rId3">
            <a:alphaModFix/>
          </a:blip>
          <a:srcRect b="0" l="0" r="0" t="0"/>
          <a:stretch/>
        </p:blipFill>
        <p:spPr>
          <a:xfrm>
            <a:off x="939113" y="3534517"/>
            <a:ext cx="2094466" cy="586452"/>
          </a:xfrm>
          <a:prstGeom prst="rect">
            <a:avLst/>
          </a:prstGeom>
          <a:noFill/>
          <a:ln>
            <a:noFill/>
          </a:ln>
        </p:spPr>
      </p:pic>
      <p:sp>
        <p:nvSpPr>
          <p:cNvPr id="234" name="Google Shape;234;g356d56908db_0_96"/>
          <p:cNvSpPr/>
          <p:nvPr/>
        </p:nvSpPr>
        <p:spPr>
          <a:xfrm>
            <a:off x="622950" y="810200"/>
            <a:ext cx="6921000" cy="4635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1" i="0" lang="es" sz="1400" u="none" cap="none" strike="noStrike">
                <a:solidFill>
                  <a:schemeClr val="dk2"/>
                </a:solidFill>
                <a:latin typeface="Arial"/>
                <a:ea typeface="Arial"/>
                <a:cs typeface="Arial"/>
                <a:sym typeface="Arial"/>
              </a:rPr>
              <a:t>ITIL </a:t>
            </a:r>
            <a:r>
              <a:rPr b="1" lang="es">
                <a:solidFill>
                  <a:schemeClr val="dk2"/>
                </a:solidFill>
              </a:rPr>
              <a:t>- </a:t>
            </a:r>
            <a:r>
              <a:rPr b="1" lang="es">
                <a:solidFill>
                  <a:schemeClr val="dk2"/>
                </a:solidFill>
              </a:rPr>
              <a:t>Práctica de Gestión del Conocimiento en Acción</a:t>
            </a:r>
            <a:r>
              <a:rPr b="1" lang="es">
                <a:solidFill>
                  <a:schemeClr val="dk2"/>
                </a:solidFill>
              </a:rPr>
              <a:t> - Ejemplo Práctico</a:t>
            </a:r>
            <a:endParaRPr b="1">
              <a:solidFill>
                <a:schemeClr val="dk2"/>
              </a:solidFill>
            </a:endParaRPr>
          </a:p>
        </p:txBody>
      </p:sp>
      <p:pic>
        <p:nvPicPr>
          <p:cNvPr id="235" name="Google Shape;235;g356d56908db_0_96"/>
          <p:cNvPicPr preferRelativeResize="0"/>
          <p:nvPr/>
        </p:nvPicPr>
        <p:blipFill rotWithShape="1">
          <a:blip r:embed="rId4">
            <a:alphaModFix/>
          </a:blip>
          <a:srcRect b="0" l="0" r="0" t="0"/>
          <a:stretch/>
        </p:blipFill>
        <p:spPr>
          <a:xfrm>
            <a:off x="7163714" y="4451106"/>
            <a:ext cx="1623849" cy="463355"/>
          </a:xfrm>
          <a:prstGeom prst="rect">
            <a:avLst/>
          </a:prstGeom>
          <a:noFill/>
          <a:ln>
            <a:noFill/>
          </a:ln>
        </p:spPr>
      </p:pic>
      <p:sp>
        <p:nvSpPr>
          <p:cNvPr id="236" name="Google Shape;236;g356d56908db_0_96"/>
          <p:cNvSpPr/>
          <p:nvPr/>
        </p:nvSpPr>
        <p:spPr>
          <a:xfrm>
            <a:off x="614600" y="4669825"/>
            <a:ext cx="5741700" cy="463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3B4449"/>
                </a:solidFill>
                <a:latin typeface="Arial"/>
                <a:ea typeface="Arial"/>
                <a:cs typeface="Arial"/>
                <a:sym typeface="Arial"/>
              </a:rPr>
              <a:t>Fundamentos y principios de las metodologías de gestión </a:t>
            </a:r>
            <a:endParaRPr b="0" i="0" sz="1400" u="none" cap="none" strike="noStrike">
              <a:solidFill>
                <a:schemeClr val="dk2"/>
              </a:solidFill>
              <a:latin typeface="Arial"/>
              <a:ea typeface="Arial"/>
              <a:cs typeface="Arial"/>
              <a:sym typeface="Arial"/>
            </a:endParaRPr>
          </a:p>
        </p:txBody>
      </p:sp>
      <p:sp>
        <p:nvSpPr>
          <p:cNvPr id="237" name="Google Shape;237;g356d56908db_0_96"/>
          <p:cNvSpPr txBox="1"/>
          <p:nvPr/>
        </p:nvSpPr>
        <p:spPr>
          <a:xfrm>
            <a:off x="656475" y="1190300"/>
            <a:ext cx="62598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100">
                <a:solidFill>
                  <a:schemeClr val="dk1"/>
                </a:solidFill>
              </a:rPr>
              <a:t>Escenario:</a:t>
            </a:r>
            <a:r>
              <a:rPr lang="es" sz="1100">
                <a:solidFill>
                  <a:schemeClr val="dk1"/>
                </a:solidFill>
              </a:rPr>
              <a:t> Soporte técnico con alta repetición de tickets por consultas comunes (Wi-Fi, accesos, contraseñas, etc.).</a:t>
            </a:r>
            <a:endParaRPr/>
          </a:p>
        </p:txBody>
      </p:sp>
      <p:graphicFrame>
        <p:nvGraphicFramePr>
          <p:cNvPr id="238" name="Google Shape;238;g356d56908db_0_96"/>
          <p:cNvGraphicFramePr/>
          <p:nvPr/>
        </p:nvGraphicFramePr>
        <p:xfrm>
          <a:off x="758375" y="1847513"/>
          <a:ext cx="3000000" cy="3000000"/>
        </p:xfrm>
        <a:graphic>
          <a:graphicData uri="http://schemas.openxmlformats.org/drawingml/2006/table">
            <a:tbl>
              <a:tblPr>
                <a:noFill/>
                <a:tableStyleId>{F6A1BAB8-95AE-46C7-A7E8-77DEBBE2C8D1}</a:tableStyleId>
              </a:tblPr>
              <a:tblGrid>
                <a:gridCol w="3169025"/>
                <a:gridCol w="4006100"/>
              </a:tblGrid>
              <a:tr h="200025">
                <a:tc>
                  <a:txBody>
                    <a:bodyPr/>
                    <a:lstStyle/>
                    <a:p>
                      <a:pPr indent="0" lvl="0" marL="0" rtl="0" algn="ctr">
                        <a:lnSpc>
                          <a:spcPct val="115000"/>
                        </a:lnSpc>
                        <a:spcBef>
                          <a:spcPts val="0"/>
                        </a:spcBef>
                        <a:spcAft>
                          <a:spcPts val="0"/>
                        </a:spcAft>
                        <a:buNone/>
                      </a:pPr>
                      <a:r>
                        <a:rPr b="1" i="1" lang="es" sz="1000"/>
                        <a:t>Paso en el Flujo</a:t>
                      </a:r>
                      <a:endParaRPr b="1" i="1" sz="1000"/>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A4C2F4"/>
                    </a:solidFill>
                  </a:tcPr>
                </a:tc>
                <a:tc>
                  <a:txBody>
                    <a:bodyPr/>
                    <a:lstStyle/>
                    <a:p>
                      <a:pPr indent="0" lvl="0" marL="0" rtl="0" algn="ctr">
                        <a:lnSpc>
                          <a:spcPct val="115000"/>
                        </a:lnSpc>
                        <a:spcBef>
                          <a:spcPts val="0"/>
                        </a:spcBef>
                        <a:spcAft>
                          <a:spcPts val="0"/>
                        </a:spcAft>
                        <a:buNone/>
                      </a:pPr>
                      <a:r>
                        <a:rPr b="1" i="1" lang="es" sz="1000"/>
                        <a:t>Detalle de Actividad</a:t>
                      </a:r>
                      <a:endParaRPr b="1" i="1" sz="1000"/>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A4C2F4"/>
                    </a:solidFill>
                  </a:tcPr>
                </a:tc>
              </a:tr>
              <a:tr h="228600">
                <a:tc>
                  <a:txBody>
                    <a:bodyPr/>
                    <a:lstStyle/>
                    <a:p>
                      <a:pPr indent="0" lvl="0" marL="0" rtl="0" algn="l">
                        <a:lnSpc>
                          <a:spcPct val="115000"/>
                        </a:lnSpc>
                        <a:spcBef>
                          <a:spcPts val="0"/>
                        </a:spcBef>
                        <a:spcAft>
                          <a:spcPts val="0"/>
                        </a:spcAft>
                        <a:buNone/>
                      </a:pPr>
                      <a:r>
                        <a:rPr b="1" lang="es" sz="1000"/>
                        <a:t>🔍</a:t>
                      </a:r>
                      <a:r>
                        <a:rPr lang="es" sz="1000"/>
                        <a:t> 1. Identificación</a:t>
                      </a:r>
                      <a:endParaRPr sz="1000"/>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Técnicos detectan preguntas repetidas (ej.: acceso a Wi-Fi, restablecer contraseña).</a:t>
                      </a:r>
                      <a:endParaRPr sz="1000"/>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r>
              <a:tr h="228600">
                <a:tc>
                  <a:txBody>
                    <a:bodyPr/>
                    <a:lstStyle/>
                    <a:p>
                      <a:pPr indent="0" lvl="0" marL="0" rtl="0" algn="l">
                        <a:lnSpc>
                          <a:spcPct val="115000"/>
                        </a:lnSpc>
                        <a:spcBef>
                          <a:spcPts val="0"/>
                        </a:spcBef>
                        <a:spcAft>
                          <a:spcPts val="0"/>
                        </a:spcAft>
                        <a:buNone/>
                      </a:pPr>
                      <a:r>
                        <a:rPr lang="es" sz="1000"/>
                        <a:t>✍️ 2. Captura</a:t>
                      </a:r>
                      <a:endParaRPr sz="1000"/>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Redacción de artículos simples y claros basados en casos reales.</a:t>
                      </a:r>
                      <a:endParaRPr sz="1000"/>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r>
              <a:tr h="228600">
                <a:tc>
                  <a:txBody>
                    <a:bodyPr/>
                    <a:lstStyle/>
                    <a:p>
                      <a:pPr indent="0" lvl="0" marL="0" rtl="0" algn="l">
                        <a:lnSpc>
                          <a:spcPct val="115000"/>
                        </a:lnSpc>
                        <a:spcBef>
                          <a:spcPts val="0"/>
                        </a:spcBef>
                        <a:spcAft>
                          <a:spcPts val="0"/>
                        </a:spcAft>
                        <a:buNone/>
                      </a:pPr>
                      <a:r>
                        <a:rPr lang="es" sz="1000"/>
                        <a:t>✅ 3. Revisión</a:t>
                      </a:r>
                      <a:endParaRPr sz="1000"/>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Validación del contenido por otro técnico o supervisor para asegurar claridad y precisión.</a:t>
                      </a:r>
                      <a:endParaRPr sz="1000"/>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r>
              <a:tr h="228600">
                <a:tc>
                  <a:txBody>
                    <a:bodyPr/>
                    <a:lstStyle/>
                    <a:p>
                      <a:pPr indent="0" lvl="0" marL="0" rtl="0" algn="l">
                        <a:lnSpc>
                          <a:spcPct val="115000"/>
                        </a:lnSpc>
                        <a:spcBef>
                          <a:spcPts val="0"/>
                        </a:spcBef>
                        <a:spcAft>
                          <a:spcPts val="0"/>
                        </a:spcAft>
                        <a:buNone/>
                      </a:pPr>
                      <a:r>
                        <a:rPr lang="es" sz="1000"/>
                        <a:t>🌐 4. Publicación</a:t>
                      </a:r>
                      <a:endParaRPr sz="1000"/>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Artículo aprobado se publica en la base de conocimiento interna (KB).</a:t>
                      </a:r>
                      <a:endParaRPr sz="1000"/>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r>
              <a:tr h="228600">
                <a:tc>
                  <a:txBody>
                    <a:bodyPr/>
                    <a:lstStyle/>
                    <a:p>
                      <a:pPr indent="0" lvl="0" marL="0" rtl="0" algn="l">
                        <a:lnSpc>
                          <a:spcPct val="115000"/>
                        </a:lnSpc>
                        <a:spcBef>
                          <a:spcPts val="0"/>
                        </a:spcBef>
                        <a:spcAft>
                          <a:spcPts val="0"/>
                        </a:spcAft>
                        <a:buNone/>
                      </a:pPr>
                      <a:r>
                        <a:rPr lang="es" sz="1000"/>
                        <a:t>💡 5. Uso</a:t>
                      </a:r>
                      <a:endParaRPr sz="1000"/>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Sugerencias automáticas en el portal o consola técnica durante nuevos incidentes.</a:t>
                      </a:r>
                      <a:endParaRPr sz="1000"/>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r>
              <a:tr h="228600">
                <a:tc>
                  <a:txBody>
                    <a:bodyPr/>
                    <a:lstStyle/>
                    <a:p>
                      <a:pPr indent="0" lvl="0" marL="0" rtl="0" algn="l">
                        <a:lnSpc>
                          <a:spcPct val="115000"/>
                        </a:lnSpc>
                        <a:spcBef>
                          <a:spcPts val="0"/>
                        </a:spcBef>
                        <a:spcAft>
                          <a:spcPts val="0"/>
                        </a:spcAft>
                        <a:buNone/>
                      </a:pPr>
                      <a:r>
                        <a:rPr lang="es" sz="1000"/>
                        <a:t>🔁 6. Mejora Continua</a:t>
                      </a:r>
                      <a:endParaRPr sz="1000"/>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Métricas de uso y feedback determinan qué actualizar, eliminar o destacar.</a:t>
                      </a:r>
                      <a:endParaRPr sz="1000"/>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pic>
        <p:nvPicPr>
          <p:cNvPr descr="C:\Users\Idiomas\Downloads\Fadena-Negativo-FondoClaro (1).png" id="243" name="Google Shape;243;g356d56908db_0_155"/>
          <p:cNvPicPr preferRelativeResize="0"/>
          <p:nvPr/>
        </p:nvPicPr>
        <p:blipFill rotWithShape="1">
          <a:blip r:embed="rId3">
            <a:alphaModFix/>
          </a:blip>
          <a:srcRect b="0" l="0" r="0" t="0"/>
          <a:stretch/>
        </p:blipFill>
        <p:spPr>
          <a:xfrm>
            <a:off x="939113" y="3534517"/>
            <a:ext cx="2094466" cy="586452"/>
          </a:xfrm>
          <a:prstGeom prst="rect">
            <a:avLst/>
          </a:prstGeom>
          <a:noFill/>
          <a:ln>
            <a:noFill/>
          </a:ln>
        </p:spPr>
      </p:pic>
      <p:sp>
        <p:nvSpPr>
          <p:cNvPr id="244" name="Google Shape;244;g356d56908db_0_155"/>
          <p:cNvSpPr/>
          <p:nvPr/>
        </p:nvSpPr>
        <p:spPr>
          <a:xfrm>
            <a:off x="622950" y="810200"/>
            <a:ext cx="7361100" cy="4635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1" i="0" lang="es" sz="1400" u="none" cap="none" strike="noStrike">
                <a:solidFill>
                  <a:schemeClr val="dk2"/>
                </a:solidFill>
                <a:latin typeface="Arial"/>
                <a:ea typeface="Arial"/>
                <a:cs typeface="Arial"/>
                <a:sym typeface="Arial"/>
              </a:rPr>
              <a:t>ITIL </a:t>
            </a:r>
            <a:r>
              <a:rPr b="1" lang="es">
                <a:solidFill>
                  <a:schemeClr val="dk2"/>
                </a:solidFill>
              </a:rPr>
              <a:t>- Flujo – Gestión de Cambios estándar - Ejemplo Práctico</a:t>
            </a:r>
            <a:endParaRPr b="1">
              <a:solidFill>
                <a:schemeClr val="dk2"/>
              </a:solidFill>
            </a:endParaRPr>
          </a:p>
        </p:txBody>
      </p:sp>
      <p:pic>
        <p:nvPicPr>
          <p:cNvPr id="245" name="Google Shape;245;g356d56908db_0_155"/>
          <p:cNvPicPr preferRelativeResize="0"/>
          <p:nvPr/>
        </p:nvPicPr>
        <p:blipFill rotWithShape="1">
          <a:blip r:embed="rId4">
            <a:alphaModFix/>
          </a:blip>
          <a:srcRect b="0" l="0" r="0" t="0"/>
          <a:stretch/>
        </p:blipFill>
        <p:spPr>
          <a:xfrm>
            <a:off x="7163714" y="4451106"/>
            <a:ext cx="1623849" cy="463355"/>
          </a:xfrm>
          <a:prstGeom prst="rect">
            <a:avLst/>
          </a:prstGeom>
          <a:noFill/>
          <a:ln>
            <a:noFill/>
          </a:ln>
        </p:spPr>
      </p:pic>
      <p:sp>
        <p:nvSpPr>
          <p:cNvPr id="246" name="Google Shape;246;g356d56908db_0_155"/>
          <p:cNvSpPr/>
          <p:nvPr/>
        </p:nvSpPr>
        <p:spPr>
          <a:xfrm>
            <a:off x="614600" y="4669825"/>
            <a:ext cx="5741700" cy="463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3B4449"/>
                </a:solidFill>
                <a:latin typeface="Arial"/>
                <a:ea typeface="Arial"/>
                <a:cs typeface="Arial"/>
                <a:sym typeface="Arial"/>
              </a:rPr>
              <a:t>Fundamentos y principios de las metodologías de gestión </a:t>
            </a:r>
            <a:endParaRPr b="0" i="0" sz="1400" u="none" cap="none" strike="noStrike">
              <a:solidFill>
                <a:schemeClr val="dk2"/>
              </a:solidFill>
              <a:latin typeface="Arial"/>
              <a:ea typeface="Arial"/>
              <a:cs typeface="Arial"/>
              <a:sym typeface="Arial"/>
            </a:endParaRPr>
          </a:p>
        </p:txBody>
      </p:sp>
      <p:sp>
        <p:nvSpPr>
          <p:cNvPr id="247" name="Google Shape;247;g356d56908db_0_155"/>
          <p:cNvSpPr txBox="1"/>
          <p:nvPr/>
        </p:nvSpPr>
        <p:spPr>
          <a:xfrm>
            <a:off x="656475" y="1190300"/>
            <a:ext cx="62598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100">
                <a:solidFill>
                  <a:schemeClr val="dk1"/>
                </a:solidFill>
              </a:rPr>
              <a:t>Escenario:</a:t>
            </a:r>
            <a:r>
              <a:rPr lang="es" sz="1100">
                <a:solidFill>
                  <a:schemeClr val="dk1"/>
                </a:solidFill>
              </a:rPr>
              <a:t> Soporte técnico con alta repetición de tickets por consultas comunes (Wi-Fi, accesos, contraseñas, etc.).</a:t>
            </a:r>
            <a:endParaRPr/>
          </a:p>
        </p:txBody>
      </p:sp>
      <p:graphicFrame>
        <p:nvGraphicFramePr>
          <p:cNvPr id="248" name="Google Shape;248;g356d56908db_0_155"/>
          <p:cNvGraphicFramePr/>
          <p:nvPr/>
        </p:nvGraphicFramePr>
        <p:xfrm>
          <a:off x="939125" y="1816438"/>
          <a:ext cx="3000000" cy="3000000"/>
        </p:xfrm>
        <a:graphic>
          <a:graphicData uri="http://schemas.openxmlformats.org/drawingml/2006/table">
            <a:tbl>
              <a:tblPr>
                <a:noFill/>
                <a:tableStyleId>{F6A1BAB8-95AE-46C7-A7E8-77DEBBE2C8D1}</a:tableStyleId>
              </a:tblPr>
              <a:tblGrid>
                <a:gridCol w="2923450"/>
                <a:gridCol w="3695700"/>
              </a:tblGrid>
              <a:tr h="259675">
                <a:tc>
                  <a:txBody>
                    <a:bodyPr/>
                    <a:lstStyle/>
                    <a:p>
                      <a:pPr indent="0" lvl="0" marL="0" rtl="0" algn="ctr">
                        <a:lnSpc>
                          <a:spcPct val="115000"/>
                        </a:lnSpc>
                        <a:spcBef>
                          <a:spcPts val="0"/>
                        </a:spcBef>
                        <a:spcAft>
                          <a:spcPts val="0"/>
                        </a:spcAft>
                        <a:buNone/>
                      </a:pPr>
                      <a:r>
                        <a:rPr b="1" i="1" lang="es" sz="1000"/>
                        <a:t>Etapa</a:t>
                      </a:r>
                      <a:endParaRPr b="1" i="1" sz="1000"/>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A4C2F4"/>
                    </a:solidFill>
                  </a:tcPr>
                </a:tc>
                <a:tc>
                  <a:txBody>
                    <a:bodyPr/>
                    <a:lstStyle/>
                    <a:p>
                      <a:pPr indent="0" lvl="0" marL="0" rtl="0" algn="ctr">
                        <a:lnSpc>
                          <a:spcPct val="115000"/>
                        </a:lnSpc>
                        <a:spcBef>
                          <a:spcPts val="0"/>
                        </a:spcBef>
                        <a:spcAft>
                          <a:spcPts val="0"/>
                        </a:spcAft>
                        <a:buNone/>
                      </a:pPr>
                      <a:r>
                        <a:rPr b="1" i="1" lang="es" sz="1000"/>
                        <a:t>Actividad</a:t>
                      </a:r>
                      <a:endParaRPr b="1" i="1" sz="1000"/>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A4C2F4"/>
                    </a:solidFill>
                  </a:tcPr>
                </a:tc>
              </a:tr>
              <a:tr h="283275">
                <a:tc>
                  <a:txBody>
                    <a:bodyPr/>
                    <a:lstStyle/>
                    <a:p>
                      <a:pPr indent="0" lvl="0" marL="0" rtl="0" algn="l">
                        <a:lnSpc>
                          <a:spcPct val="115000"/>
                        </a:lnSpc>
                        <a:spcBef>
                          <a:spcPts val="0"/>
                        </a:spcBef>
                        <a:spcAft>
                          <a:spcPts val="0"/>
                        </a:spcAft>
                        <a:buNone/>
                      </a:pPr>
                      <a:r>
                        <a:rPr b="1" lang="es" sz="1000"/>
                        <a:t>🟡 </a:t>
                      </a:r>
                      <a:r>
                        <a:rPr lang="es" sz="1000"/>
                        <a:t>Solicitud de Cambio (RFC) –START —</a:t>
                      </a:r>
                      <a:endParaRPr sz="1000"/>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Se inicia una solicitud con justificación, riesgo, impacto.</a:t>
                      </a:r>
                      <a:endParaRPr sz="1000"/>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r>
              <a:tr h="283275">
                <a:tc>
                  <a:txBody>
                    <a:bodyPr/>
                    <a:lstStyle/>
                    <a:p>
                      <a:pPr indent="0" lvl="0" marL="0" rtl="0" algn="l">
                        <a:lnSpc>
                          <a:spcPct val="115000"/>
                        </a:lnSpc>
                        <a:spcBef>
                          <a:spcPts val="0"/>
                        </a:spcBef>
                        <a:spcAft>
                          <a:spcPts val="0"/>
                        </a:spcAft>
                        <a:buNone/>
                      </a:pPr>
                      <a:r>
                        <a:rPr lang="es" sz="1000"/>
                        <a:t>🟢 Evaluación Inicial</a:t>
                      </a:r>
                      <a:endParaRPr sz="1000"/>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Validación de información, categorización (Normal / Urgente / Estándar).</a:t>
                      </a:r>
                      <a:endParaRPr sz="1000"/>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r>
              <a:tr h="283275">
                <a:tc>
                  <a:txBody>
                    <a:bodyPr/>
                    <a:lstStyle/>
                    <a:p>
                      <a:pPr indent="0" lvl="0" marL="0" rtl="0" algn="l">
                        <a:lnSpc>
                          <a:spcPct val="115000"/>
                        </a:lnSpc>
                        <a:spcBef>
                          <a:spcPts val="0"/>
                        </a:spcBef>
                        <a:spcAft>
                          <a:spcPts val="0"/>
                        </a:spcAft>
                        <a:buNone/>
                      </a:pPr>
                      <a:r>
                        <a:rPr lang="es" sz="1000"/>
                        <a:t>🔵 Análisis de Riesgo / Impacto</a:t>
                      </a:r>
                      <a:endParaRPr sz="1000"/>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Técnicos, áreas afectadas y seguridad evalúan impacto y posibles fallas.</a:t>
                      </a:r>
                      <a:endParaRPr sz="1000"/>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r>
              <a:tr h="472125">
                <a:tc>
                  <a:txBody>
                    <a:bodyPr/>
                    <a:lstStyle/>
                    <a:p>
                      <a:pPr indent="0" lvl="0" marL="0" rtl="0" algn="l">
                        <a:lnSpc>
                          <a:spcPct val="115000"/>
                        </a:lnSpc>
                        <a:spcBef>
                          <a:spcPts val="0"/>
                        </a:spcBef>
                        <a:spcAft>
                          <a:spcPts val="0"/>
                        </a:spcAft>
                        <a:buNone/>
                      </a:pPr>
                      <a:r>
                        <a:rPr lang="es" sz="1000"/>
                        <a:t>🟣 CAB / Aprobación</a:t>
                      </a:r>
                      <a:endParaRPr sz="1000"/>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Comité de Cambios (CAB) valida cambios de alto impacto. Aprobaciones automáticas en cambios menores.</a:t>
                      </a:r>
                      <a:endParaRPr sz="1000"/>
                    </a:p>
                  </a:txBody>
                  <a:tcPr marT="19050" marB="19050" marR="91425" marL="9142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r>
              <a:tr h="283275">
                <a:tc>
                  <a:txBody>
                    <a:bodyPr/>
                    <a:lstStyle/>
                    <a:p>
                      <a:pPr indent="0" lvl="0" marL="0" rtl="0" algn="l">
                        <a:lnSpc>
                          <a:spcPct val="115000"/>
                        </a:lnSpc>
                        <a:spcBef>
                          <a:spcPts val="0"/>
                        </a:spcBef>
                        <a:spcAft>
                          <a:spcPts val="0"/>
                        </a:spcAft>
                        <a:buNone/>
                      </a:pPr>
                      <a:r>
                        <a:rPr lang="es" sz="1000"/>
                        <a:t>🟠 Planificación e Implementación</a:t>
                      </a:r>
                      <a:endParaRPr sz="1000"/>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Se agenda y ejecuta con plan de reversión y comunicación definida.</a:t>
                      </a:r>
                      <a:endParaRPr sz="1000"/>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r>
              <a:tr h="283275">
                <a:tc>
                  <a:txBody>
                    <a:bodyPr/>
                    <a:lstStyle/>
                    <a:p>
                      <a:pPr indent="0" lvl="0" marL="0" rtl="0" algn="l">
                        <a:lnSpc>
                          <a:spcPct val="115000"/>
                        </a:lnSpc>
                        <a:spcBef>
                          <a:spcPts val="0"/>
                        </a:spcBef>
                        <a:spcAft>
                          <a:spcPts val="0"/>
                        </a:spcAft>
                        <a:buNone/>
                      </a:pPr>
                      <a:r>
                        <a:rPr lang="es" sz="1000"/>
                        <a:t>🔁 Revisión Posterior (PIR)</a:t>
                      </a:r>
                      <a:endParaRPr sz="1000"/>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Se analiza si hubo fallas, demoras o mejoras a incorporar.</a:t>
                      </a:r>
                      <a:endParaRPr sz="1000"/>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pic>
        <p:nvPicPr>
          <p:cNvPr descr="C:\Users\Idiomas\Downloads\Fadena-Negativo-FondoClaro (1).png" id="253" name="Google Shape;253;g356d56908db_0_164"/>
          <p:cNvPicPr preferRelativeResize="0"/>
          <p:nvPr/>
        </p:nvPicPr>
        <p:blipFill rotWithShape="1">
          <a:blip r:embed="rId3">
            <a:alphaModFix/>
          </a:blip>
          <a:srcRect b="0" l="0" r="0" t="0"/>
          <a:stretch/>
        </p:blipFill>
        <p:spPr>
          <a:xfrm>
            <a:off x="939113" y="3534517"/>
            <a:ext cx="2094466" cy="586452"/>
          </a:xfrm>
          <a:prstGeom prst="rect">
            <a:avLst/>
          </a:prstGeom>
          <a:noFill/>
          <a:ln>
            <a:noFill/>
          </a:ln>
        </p:spPr>
      </p:pic>
      <p:sp>
        <p:nvSpPr>
          <p:cNvPr id="254" name="Google Shape;254;g356d56908db_0_164"/>
          <p:cNvSpPr/>
          <p:nvPr/>
        </p:nvSpPr>
        <p:spPr>
          <a:xfrm>
            <a:off x="622950" y="810200"/>
            <a:ext cx="7361100" cy="4635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1" i="0" lang="es" sz="1400" u="none" cap="none" strike="noStrike">
                <a:solidFill>
                  <a:schemeClr val="dk2"/>
                </a:solidFill>
                <a:latin typeface="Arial"/>
                <a:ea typeface="Arial"/>
                <a:cs typeface="Arial"/>
                <a:sym typeface="Arial"/>
              </a:rPr>
              <a:t>ITIL </a:t>
            </a:r>
            <a:r>
              <a:rPr b="1" lang="es">
                <a:solidFill>
                  <a:schemeClr val="dk2"/>
                </a:solidFill>
              </a:rPr>
              <a:t>- Flujo – </a:t>
            </a:r>
            <a:r>
              <a:rPr b="1" lang="es">
                <a:solidFill>
                  <a:schemeClr val="dk2"/>
                </a:solidFill>
              </a:rPr>
              <a:t>Gestión</a:t>
            </a:r>
            <a:r>
              <a:rPr b="1" lang="es">
                <a:solidFill>
                  <a:schemeClr val="dk2"/>
                </a:solidFill>
              </a:rPr>
              <a:t> de Problemas - Ejemplo Práctico</a:t>
            </a:r>
            <a:endParaRPr b="1">
              <a:solidFill>
                <a:schemeClr val="dk2"/>
              </a:solidFill>
            </a:endParaRPr>
          </a:p>
        </p:txBody>
      </p:sp>
      <p:pic>
        <p:nvPicPr>
          <p:cNvPr id="255" name="Google Shape;255;g356d56908db_0_164"/>
          <p:cNvPicPr preferRelativeResize="0"/>
          <p:nvPr/>
        </p:nvPicPr>
        <p:blipFill rotWithShape="1">
          <a:blip r:embed="rId4">
            <a:alphaModFix/>
          </a:blip>
          <a:srcRect b="0" l="0" r="0" t="0"/>
          <a:stretch/>
        </p:blipFill>
        <p:spPr>
          <a:xfrm>
            <a:off x="7163714" y="4451106"/>
            <a:ext cx="1623849" cy="463355"/>
          </a:xfrm>
          <a:prstGeom prst="rect">
            <a:avLst/>
          </a:prstGeom>
          <a:noFill/>
          <a:ln>
            <a:noFill/>
          </a:ln>
        </p:spPr>
      </p:pic>
      <p:sp>
        <p:nvSpPr>
          <p:cNvPr id="256" name="Google Shape;256;g356d56908db_0_164"/>
          <p:cNvSpPr/>
          <p:nvPr/>
        </p:nvSpPr>
        <p:spPr>
          <a:xfrm>
            <a:off x="614600" y="4669825"/>
            <a:ext cx="5741700" cy="463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3B4449"/>
                </a:solidFill>
                <a:latin typeface="Arial"/>
                <a:ea typeface="Arial"/>
                <a:cs typeface="Arial"/>
                <a:sym typeface="Arial"/>
              </a:rPr>
              <a:t>Fundamentos y principios de las metodologías de gestión </a:t>
            </a:r>
            <a:endParaRPr b="0" i="0" sz="1400" u="none" cap="none" strike="noStrike">
              <a:solidFill>
                <a:schemeClr val="dk2"/>
              </a:solidFill>
              <a:latin typeface="Arial"/>
              <a:ea typeface="Arial"/>
              <a:cs typeface="Arial"/>
              <a:sym typeface="Arial"/>
            </a:endParaRPr>
          </a:p>
        </p:txBody>
      </p:sp>
      <p:sp>
        <p:nvSpPr>
          <p:cNvPr id="257" name="Google Shape;257;g356d56908db_0_164"/>
          <p:cNvSpPr txBox="1"/>
          <p:nvPr/>
        </p:nvSpPr>
        <p:spPr>
          <a:xfrm>
            <a:off x="656475" y="1190300"/>
            <a:ext cx="6259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100">
                <a:solidFill>
                  <a:schemeClr val="dk1"/>
                </a:solidFill>
              </a:rPr>
              <a:t>Escenario:</a:t>
            </a:r>
            <a:r>
              <a:rPr lang="es" sz="1100">
                <a:solidFill>
                  <a:schemeClr val="dk1"/>
                </a:solidFill>
              </a:rPr>
              <a:t> </a:t>
            </a:r>
            <a:r>
              <a:rPr lang="es" sz="1100">
                <a:solidFill>
                  <a:schemeClr val="dk1"/>
                </a:solidFill>
              </a:rPr>
              <a:t>Incidentes frecuentes de desconexión en VPN a la misma hora.</a:t>
            </a:r>
            <a:endParaRPr/>
          </a:p>
        </p:txBody>
      </p:sp>
      <p:graphicFrame>
        <p:nvGraphicFramePr>
          <p:cNvPr id="258" name="Google Shape;258;g356d56908db_0_164"/>
          <p:cNvGraphicFramePr/>
          <p:nvPr/>
        </p:nvGraphicFramePr>
        <p:xfrm>
          <a:off x="996425" y="1687500"/>
          <a:ext cx="3000000" cy="3000000"/>
        </p:xfrm>
        <a:graphic>
          <a:graphicData uri="http://schemas.openxmlformats.org/drawingml/2006/table">
            <a:tbl>
              <a:tblPr>
                <a:noFill/>
                <a:tableStyleId>{F6A1BAB8-95AE-46C7-A7E8-77DEBBE2C8D1}</a:tableStyleId>
              </a:tblPr>
              <a:tblGrid>
                <a:gridCol w="3026600"/>
                <a:gridCol w="3826050"/>
              </a:tblGrid>
              <a:tr h="245950">
                <a:tc>
                  <a:txBody>
                    <a:bodyPr/>
                    <a:lstStyle/>
                    <a:p>
                      <a:pPr indent="0" lvl="0" marL="0" rtl="0" algn="ctr">
                        <a:lnSpc>
                          <a:spcPct val="115000"/>
                        </a:lnSpc>
                        <a:spcBef>
                          <a:spcPts val="0"/>
                        </a:spcBef>
                        <a:spcAft>
                          <a:spcPts val="0"/>
                        </a:spcAft>
                        <a:buNone/>
                      </a:pPr>
                      <a:r>
                        <a:rPr b="1" i="1" lang="es" sz="1000"/>
                        <a:t>Etapa</a:t>
                      </a:r>
                      <a:endParaRPr b="1" i="1" sz="1000"/>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A4C2F4"/>
                    </a:solidFill>
                  </a:tcPr>
                </a:tc>
                <a:tc>
                  <a:txBody>
                    <a:bodyPr/>
                    <a:lstStyle/>
                    <a:p>
                      <a:pPr indent="0" lvl="0" marL="0" rtl="0" algn="ctr">
                        <a:lnSpc>
                          <a:spcPct val="115000"/>
                        </a:lnSpc>
                        <a:spcBef>
                          <a:spcPts val="0"/>
                        </a:spcBef>
                        <a:spcAft>
                          <a:spcPts val="0"/>
                        </a:spcAft>
                        <a:buNone/>
                      </a:pPr>
                      <a:r>
                        <a:rPr b="1" i="1" lang="es" sz="1000"/>
                        <a:t>Actividad</a:t>
                      </a:r>
                      <a:endParaRPr b="1" i="1" sz="1000"/>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A4C2F4"/>
                    </a:solidFill>
                  </a:tcPr>
                </a:tc>
              </a:tr>
              <a:tr h="320000">
                <a:tc>
                  <a:txBody>
                    <a:bodyPr/>
                    <a:lstStyle/>
                    <a:p>
                      <a:pPr indent="0" lvl="0" marL="0" rtl="0" algn="l">
                        <a:lnSpc>
                          <a:spcPct val="115000"/>
                        </a:lnSpc>
                        <a:spcBef>
                          <a:spcPts val="0"/>
                        </a:spcBef>
                        <a:spcAft>
                          <a:spcPts val="0"/>
                        </a:spcAft>
                        <a:buNone/>
                      </a:pPr>
                      <a:r>
                        <a:rPr b="1" lang="es" sz="1000"/>
                        <a:t>🔄 </a:t>
                      </a:r>
                      <a:r>
                        <a:rPr lang="es" sz="1000"/>
                        <a:t>Detección proactiva o reactiva</a:t>
                      </a:r>
                      <a:endParaRPr sz="1000"/>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Incidentes </a:t>
                      </a:r>
                      <a:r>
                        <a:rPr b="1" lang="es" sz="1000"/>
                        <a:t>recurrentes </a:t>
                      </a:r>
                      <a:r>
                        <a:rPr lang="es" sz="1000"/>
                        <a:t>o análisis de tendencias disparan un problema.</a:t>
                      </a:r>
                      <a:endParaRPr sz="1000"/>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r>
              <a:tr h="447200">
                <a:tc>
                  <a:txBody>
                    <a:bodyPr/>
                    <a:lstStyle/>
                    <a:p>
                      <a:pPr indent="0" lvl="0" marL="0" rtl="0" algn="l">
                        <a:lnSpc>
                          <a:spcPct val="115000"/>
                        </a:lnSpc>
                        <a:spcBef>
                          <a:spcPts val="0"/>
                        </a:spcBef>
                        <a:spcAft>
                          <a:spcPts val="0"/>
                        </a:spcAft>
                        <a:buNone/>
                      </a:pPr>
                      <a:r>
                        <a:rPr lang="es" sz="1000"/>
                        <a:t>📝 Registro del problema</a:t>
                      </a:r>
                      <a:endParaRPr sz="1000"/>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Se crea un ticket de problema con hipótesis, síntomas, componentes afectados.</a:t>
                      </a:r>
                      <a:endParaRPr sz="1000"/>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r>
              <a:tr h="320000">
                <a:tc>
                  <a:txBody>
                    <a:bodyPr/>
                    <a:lstStyle/>
                    <a:p>
                      <a:pPr indent="0" lvl="0" marL="0" rtl="0" algn="l">
                        <a:lnSpc>
                          <a:spcPct val="115000"/>
                        </a:lnSpc>
                        <a:spcBef>
                          <a:spcPts val="0"/>
                        </a:spcBef>
                        <a:spcAft>
                          <a:spcPts val="0"/>
                        </a:spcAft>
                        <a:buNone/>
                      </a:pPr>
                      <a:r>
                        <a:rPr lang="es" sz="1000"/>
                        <a:t>🔍 Análisis de causa raíz (RCA)</a:t>
                      </a:r>
                      <a:endParaRPr sz="1000"/>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Se usan técnicas como Ishikawa, 5 Porqués, registros de eventos.</a:t>
                      </a:r>
                      <a:endParaRPr sz="1000"/>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r>
              <a:tr h="447200">
                <a:tc>
                  <a:txBody>
                    <a:bodyPr/>
                    <a:lstStyle/>
                    <a:p>
                      <a:pPr indent="0" lvl="0" marL="0" rtl="0" algn="l">
                        <a:lnSpc>
                          <a:spcPct val="115000"/>
                        </a:lnSpc>
                        <a:spcBef>
                          <a:spcPts val="0"/>
                        </a:spcBef>
                        <a:spcAft>
                          <a:spcPts val="0"/>
                        </a:spcAft>
                        <a:buNone/>
                      </a:pPr>
                      <a:r>
                        <a:rPr lang="es" sz="1000"/>
                        <a:t>💡 Registro de errores conocidos</a:t>
                      </a:r>
                      <a:endParaRPr sz="1000"/>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Si no se puede solucionar de inmediato, se documenta una </a:t>
                      </a:r>
                      <a:r>
                        <a:rPr b="1" lang="es" sz="1000"/>
                        <a:t>solución temporal (workaround)</a:t>
                      </a:r>
                      <a:r>
                        <a:rPr lang="es" sz="1000"/>
                        <a:t>.</a:t>
                      </a:r>
                      <a:endParaRPr sz="1000"/>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r>
              <a:tr h="320000">
                <a:tc>
                  <a:txBody>
                    <a:bodyPr/>
                    <a:lstStyle/>
                    <a:p>
                      <a:pPr indent="0" lvl="0" marL="0" rtl="0" algn="l">
                        <a:lnSpc>
                          <a:spcPct val="115000"/>
                        </a:lnSpc>
                        <a:spcBef>
                          <a:spcPts val="0"/>
                        </a:spcBef>
                        <a:spcAft>
                          <a:spcPts val="0"/>
                        </a:spcAft>
                        <a:buNone/>
                      </a:pPr>
                      <a:r>
                        <a:rPr lang="es" sz="1000"/>
                        <a:t>🔧 Solución definitiva</a:t>
                      </a:r>
                      <a:endParaRPr sz="1000"/>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Cuando se valida, se aplica el cambio correspondiente (se inicia RFC).</a:t>
                      </a:r>
                      <a:endParaRPr sz="1000"/>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r>
              <a:tr h="245950">
                <a:tc>
                  <a:txBody>
                    <a:bodyPr/>
                    <a:lstStyle/>
                    <a:p>
                      <a:pPr indent="0" lvl="0" marL="0" rtl="0" algn="l">
                        <a:lnSpc>
                          <a:spcPct val="115000"/>
                        </a:lnSpc>
                        <a:spcBef>
                          <a:spcPts val="0"/>
                        </a:spcBef>
                        <a:spcAft>
                          <a:spcPts val="0"/>
                        </a:spcAft>
                        <a:buNone/>
                      </a:pPr>
                      <a:r>
                        <a:rPr lang="es" sz="1000"/>
                        <a:t>📊 Seguimiento y cierre</a:t>
                      </a:r>
                      <a:endParaRPr sz="1000"/>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Se valida efectividad de la solución y se cierra el problema.</a:t>
                      </a:r>
                      <a:endParaRPr sz="1000"/>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pic>
        <p:nvPicPr>
          <p:cNvPr descr="C:\Users\Idiomas\Downloads\Fadena-Negativo-FondoClaro (1).png" id="263" name="Google Shape;263;g356d56908db_0_179"/>
          <p:cNvPicPr preferRelativeResize="0"/>
          <p:nvPr/>
        </p:nvPicPr>
        <p:blipFill rotWithShape="1">
          <a:blip r:embed="rId3">
            <a:alphaModFix/>
          </a:blip>
          <a:srcRect b="0" l="0" r="0" t="0"/>
          <a:stretch/>
        </p:blipFill>
        <p:spPr>
          <a:xfrm>
            <a:off x="939113" y="3534517"/>
            <a:ext cx="2094466" cy="586452"/>
          </a:xfrm>
          <a:prstGeom prst="rect">
            <a:avLst/>
          </a:prstGeom>
          <a:noFill/>
          <a:ln>
            <a:noFill/>
          </a:ln>
        </p:spPr>
      </p:pic>
      <p:sp>
        <p:nvSpPr>
          <p:cNvPr id="264" name="Google Shape;264;g356d56908db_0_179"/>
          <p:cNvSpPr/>
          <p:nvPr/>
        </p:nvSpPr>
        <p:spPr>
          <a:xfrm>
            <a:off x="531250" y="400975"/>
            <a:ext cx="7361100" cy="4635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1" i="0" lang="es" sz="1400" u="none" cap="none" strike="noStrike">
                <a:solidFill>
                  <a:schemeClr val="dk2"/>
                </a:solidFill>
                <a:latin typeface="Arial"/>
                <a:ea typeface="Arial"/>
                <a:cs typeface="Arial"/>
                <a:sym typeface="Arial"/>
              </a:rPr>
              <a:t>ITIL </a:t>
            </a:r>
            <a:r>
              <a:rPr b="1" lang="es">
                <a:solidFill>
                  <a:schemeClr val="dk2"/>
                </a:solidFill>
              </a:rPr>
              <a:t>- Flujo – Gestión de Incidentes - Dashboards</a:t>
            </a:r>
            <a:endParaRPr b="1">
              <a:solidFill>
                <a:schemeClr val="dk2"/>
              </a:solidFill>
            </a:endParaRPr>
          </a:p>
        </p:txBody>
      </p:sp>
      <p:pic>
        <p:nvPicPr>
          <p:cNvPr id="265" name="Google Shape;265;g356d56908db_0_179"/>
          <p:cNvPicPr preferRelativeResize="0"/>
          <p:nvPr/>
        </p:nvPicPr>
        <p:blipFill rotWithShape="1">
          <a:blip r:embed="rId4">
            <a:alphaModFix/>
          </a:blip>
          <a:srcRect b="0" l="0" r="0" t="0"/>
          <a:stretch/>
        </p:blipFill>
        <p:spPr>
          <a:xfrm>
            <a:off x="7163714" y="4451106"/>
            <a:ext cx="1623849" cy="463355"/>
          </a:xfrm>
          <a:prstGeom prst="rect">
            <a:avLst/>
          </a:prstGeom>
          <a:noFill/>
          <a:ln>
            <a:noFill/>
          </a:ln>
        </p:spPr>
      </p:pic>
      <p:sp>
        <p:nvSpPr>
          <p:cNvPr id="266" name="Google Shape;266;g356d56908db_0_179"/>
          <p:cNvSpPr/>
          <p:nvPr/>
        </p:nvSpPr>
        <p:spPr>
          <a:xfrm>
            <a:off x="614600" y="4669825"/>
            <a:ext cx="5741700" cy="463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3B4449"/>
                </a:solidFill>
                <a:latin typeface="Arial"/>
                <a:ea typeface="Arial"/>
                <a:cs typeface="Arial"/>
                <a:sym typeface="Arial"/>
              </a:rPr>
              <a:t>Fundamentos y principios de las metodologías de gestión </a:t>
            </a:r>
            <a:endParaRPr b="0" i="0" sz="1400" u="none" cap="none" strike="noStrike">
              <a:solidFill>
                <a:schemeClr val="dk2"/>
              </a:solidFill>
              <a:latin typeface="Arial"/>
              <a:ea typeface="Arial"/>
              <a:cs typeface="Arial"/>
              <a:sym typeface="Arial"/>
            </a:endParaRPr>
          </a:p>
        </p:txBody>
      </p:sp>
      <p:pic>
        <p:nvPicPr>
          <p:cNvPr id="267" name="Google Shape;267;g356d56908db_0_179"/>
          <p:cNvPicPr preferRelativeResize="0"/>
          <p:nvPr/>
        </p:nvPicPr>
        <p:blipFill>
          <a:blip r:embed="rId5">
            <a:alphaModFix/>
          </a:blip>
          <a:stretch>
            <a:fillRect/>
          </a:stretch>
        </p:blipFill>
        <p:spPr>
          <a:xfrm>
            <a:off x="1661600" y="723375"/>
            <a:ext cx="5297626" cy="372772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pic>
        <p:nvPicPr>
          <p:cNvPr descr="C:\Users\Idiomas\Downloads\Fadena-Negativo-FondoClaro (1).png" id="272" name="Google Shape;272;g356d56908db_0_191"/>
          <p:cNvPicPr preferRelativeResize="0"/>
          <p:nvPr/>
        </p:nvPicPr>
        <p:blipFill rotWithShape="1">
          <a:blip r:embed="rId3">
            <a:alphaModFix/>
          </a:blip>
          <a:srcRect b="0" l="0" r="0" t="0"/>
          <a:stretch/>
        </p:blipFill>
        <p:spPr>
          <a:xfrm>
            <a:off x="939113" y="3534517"/>
            <a:ext cx="2094466" cy="586452"/>
          </a:xfrm>
          <a:prstGeom prst="rect">
            <a:avLst/>
          </a:prstGeom>
          <a:noFill/>
          <a:ln>
            <a:noFill/>
          </a:ln>
        </p:spPr>
      </p:pic>
      <p:sp>
        <p:nvSpPr>
          <p:cNvPr id="273" name="Google Shape;273;g356d56908db_0_191"/>
          <p:cNvSpPr/>
          <p:nvPr/>
        </p:nvSpPr>
        <p:spPr>
          <a:xfrm>
            <a:off x="531250" y="400975"/>
            <a:ext cx="7361100" cy="4635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1" i="0" lang="es" sz="1400" u="none" cap="none" strike="noStrike">
                <a:solidFill>
                  <a:schemeClr val="dk2"/>
                </a:solidFill>
                <a:latin typeface="Arial"/>
                <a:ea typeface="Arial"/>
                <a:cs typeface="Arial"/>
                <a:sym typeface="Arial"/>
              </a:rPr>
              <a:t>ITIL </a:t>
            </a:r>
            <a:r>
              <a:rPr b="1" lang="es">
                <a:solidFill>
                  <a:schemeClr val="dk2"/>
                </a:solidFill>
              </a:rPr>
              <a:t>- Flujo – Gestión de Cambios - Dashboards</a:t>
            </a:r>
            <a:endParaRPr b="1">
              <a:solidFill>
                <a:schemeClr val="dk2"/>
              </a:solidFill>
            </a:endParaRPr>
          </a:p>
        </p:txBody>
      </p:sp>
      <p:pic>
        <p:nvPicPr>
          <p:cNvPr id="274" name="Google Shape;274;g356d56908db_0_191"/>
          <p:cNvPicPr preferRelativeResize="0"/>
          <p:nvPr/>
        </p:nvPicPr>
        <p:blipFill rotWithShape="1">
          <a:blip r:embed="rId4">
            <a:alphaModFix/>
          </a:blip>
          <a:srcRect b="0" l="0" r="0" t="0"/>
          <a:stretch/>
        </p:blipFill>
        <p:spPr>
          <a:xfrm>
            <a:off x="7163714" y="4451106"/>
            <a:ext cx="1623849" cy="463355"/>
          </a:xfrm>
          <a:prstGeom prst="rect">
            <a:avLst/>
          </a:prstGeom>
          <a:noFill/>
          <a:ln>
            <a:noFill/>
          </a:ln>
        </p:spPr>
      </p:pic>
      <p:sp>
        <p:nvSpPr>
          <p:cNvPr id="275" name="Google Shape;275;g356d56908db_0_191"/>
          <p:cNvSpPr/>
          <p:nvPr/>
        </p:nvSpPr>
        <p:spPr>
          <a:xfrm>
            <a:off x="614600" y="4669825"/>
            <a:ext cx="5741700" cy="463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3B4449"/>
                </a:solidFill>
                <a:latin typeface="Arial"/>
                <a:ea typeface="Arial"/>
                <a:cs typeface="Arial"/>
                <a:sym typeface="Arial"/>
              </a:rPr>
              <a:t>Fundamentos y principios de las metodologías de gestión </a:t>
            </a:r>
            <a:endParaRPr b="0" i="0" sz="1400" u="none" cap="none" strike="noStrike">
              <a:solidFill>
                <a:schemeClr val="dk2"/>
              </a:solidFill>
              <a:latin typeface="Arial"/>
              <a:ea typeface="Arial"/>
              <a:cs typeface="Arial"/>
              <a:sym typeface="Arial"/>
            </a:endParaRPr>
          </a:p>
        </p:txBody>
      </p:sp>
      <p:pic>
        <p:nvPicPr>
          <p:cNvPr id="276" name="Google Shape;276;g356d56908db_0_191"/>
          <p:cNvPicPr preferRelativeResize="0"/>
          <p:nvPr/>
        </p:nvPicPr>
        <p:blipFill>
          <a:blip r:embed="rId5">
            <a:alphaModFix/>
          </a:blip>
          <a:stretch>
            <a:fillRect/>
          </a:stretch>
        </p:blipFill>
        <p:spPr>
          <a:xfrm>
            <a:off x="1296625" y="698850"/>
            <a:ext cx="5296899" cy="397097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pic>
        <p:nvPicPr>
          <p:cNvPr descr="C:\Users\Idiomas\Downloads\Fadena-Negativo-FondoClaro (1).png" id="281" name="Google Shape;281;p27"/>
          <p:cNvPicPr preferRelativeResize="0"/>
          <p:nvPr/>
        </p:nvPicPr>
        <p:blipFill rotWithShape="1">
          <a:blip r:embed="rId3">
            <a:alphaModFix/>
          </a:blip>
          <a:srcRect b="0" l="0" r="0" t="0"/>
          <a:stretch/>
        </p:blipFill>
        <p:spPr>
          <a:xfrm>
            <a:off x="939113" y="3534517"/>
            <a:ext cx="2094466" cy="586452"/>
          </a:xfrm>
          <a:prstGeom prst="rect">
            <a:avLst/>
          </a:prstGeom>
          <a:noFill/>
          <a:ln>
            <a:noFill/>
          </a:ln>
        </p:spPr>
      </p:pic>
      <p:pic>
        <p:nvPicPr>
          <p:cNvPr descr="C:\Users\Idiomas\Downloads\Fadena-Negativo-FondoClaro (1).png" id="282" name="Google Shape;282;p27"/>
          <p:cNvPicPr preferRelativeResize="0"/>
          <p:nvPr/>
        </p:nvPicPr>
        <p:blipFill rotWithShape="1">
          <a:blip r:embed="rId3">
            <a:alphaModFix/>
          </a:blip>
          <a:srcRect b="0" l="0" r="0" t="0"/>
          <a:stretch/>
        </p:blipFill>
        <p:spPr>
          <a:xfrm>
            <a:off x="1053413" y="3648817"/>
            <a:ext cx="2094466" cy="586452"/>
          </a:xfrm>
          <a:prstGeom prst="rect">
            <a:avLst/>
          </a:prstGeom>
          <a:noFill/>
          <a:ln>
            <a:noFill/>
          </a:ln>
        </p:spPr>
      </p:pic>
      <p:sp>
        <p:nvSpPr>
          <p:cNvPr id="283" name="Google Shape;283;p27"/>
          <p:cNvSpPr/>
          <p:nvPr/>
        </p:nvSpPr>
        <p:spPr>
          <a:xfrm>
            <a:off x="622951" y="810200"/>
            <a:ext cx="5197800" cy="276900"/>
          </a:xfrm>
          <a:prstGeom prst="rect">
            <a:avLst/>
          </a:prstGeom>
          <a:noFill/>
          <a:ln>
            <a:noFill/>
          </a:ln>
        </p:spPr>
        <p:txBody>
          <a:bodyPr anchorCtr="0" anchor="t" bIns="34275" lIns="68575" spcFirstLastPara="1" rIns="68575" wrap="square" tIns="34275">
            <a:noAutofit/>
          </a:bodyPr>
          <a:lstStyle/>
          <a:p>
            <a:pPr indent="0" lvl="0" marL="0" marR="0" rtl="0" algn="just">
              <a:lnSpc>
                <a:spcPct val="200000"/>
              </a:lnSpc>
              <a:spcBef>
                <a:spcPts val="0"/>
              </a:spcBef>
              <a:spcAft>
                <a:spcPts val="0"/>
              </a:spcAft>
              <a:buClr>
                <a:schemeClr val="dk1"/>
              </a:buClr>
              <a:buSzPts val="1100"/>
              <a:buFont typeface="Arial"/>
              <a:buNone/>
            </a:pPr>
            <a:r>
              <a:rPr b="1" i="0" lang="es" sz="1400" u="none" cap="none" strike="noStrike">
                <a:solidFill>
                  <a:schemeClr val="dk2"/>
                </a:solidFill>
                <a:latin typeface="Arial"/>
                <a:ea typeface="Arial"/>
                <a:cs typeface="Arial"/>
                <a:sym typeface="Arial"/>
              </a:rPr>
              <a:t>Cierre de la clase</a:t>
            </a:r>
            <a:endParaRPr b="1" i="0" sz="1500" u="none" cap="none" strike="noStrike">
              <a:solidFill>
                <a:schemeClr val="dk2"/>
              </a:solidFill>
              <a:latin typeface="Arial"/>
              <a:ea typeface="Arial"/>
              <a:cs typeface="Arial"/>
              <a:sym typeface="Arial"/>
            </a:endParaRPr>
          </a:p>
        </p:txBody>
      </p:sp>
      <p:pic>
        <p:nvPicPr>
          <p:cNvPr id="284" name="Google Shape;284;p27"/>
          <p:cNvPicPr preferRelativeResize="0"/>
          <p:nvPr/>
        </p:nvPicPr>
        <p:blipFill rotWithShape="1">
          <a:blip r:embed="rId4">
            <a:alphaModFix/>
          </a:blip>
          <a:srcRect b="0" l="0" r="0" t="0"/>
          <a:stretch/>
        </p:blipFill>
        <p:spPr>
          <a:xfrm>
            <a:off x="7163714" y="4451106"/>
            <a:ext cx="1623849" cy="463355"/>
          </a:xfrm>
          <a:prstGeom prst="rect">
            <a:avLst/>
          </a:prstGeom>
          <a:noFill/>
          <a:ln>
            <a:noFill/>
          </a:ln>
        </p:spPr>
      </p:pic>
      <p:sp>
        <p:nvSpPr>
          <p:cNvPr id="285" name="Google Shape;285;p27"/>
          <p:cNvSpPr txBox="1"/>
          <p:nvPr/>
        </p:nvSpPr>
        <p:spPr>
          <a:xfrm>
            <a:off x="614600" y="1267200"/>
            <a:ext cx="8508900" cy="2216400"/>
          </a:xfrm>
          <a:prstGeom prst="rect">
            <a:avLst/>
          </a:prstGeom>
          <a:noFill/>
          <a:ln>
            <a:noFill/>
          </a:ln>
        </p:spPr>
        <p:txBody>
          <a:bodyPr anchorCtr="0" anchor="t" bIns="91425" lIns="91425" spcFirstLastPara="1" rIns="91425" wrap="square" tIns="91425">
            <a:spAutoFit/>
          </a:bodyPr>
          <a:lstStyle/>
          <a:p>
            <a:pPr indent="-304800" lvl="0" marL="457200" marR="0" rtl="0" algn="l">
              <a:lnSpc>
                <a:spcPct val="200000"/>
              </a:lnSpc>
              <a:spcBef>
                <a:spcPts val="1200"/>
              </a:spcBef>
              <a:spcAft>
                <a:spcPts val="0"/>
              </a:spcAft>
              <a:buClr>
                <a:schemeClr val="dk2"/>
              </a:buClr>
              <a:buSzPts val="1200"/>
              <a:buFont typeface="Arial"/>
              <a:buChar char="❖"/>
            </a:pPr>
            <a:r>
              <a:rPr b="0" i="0" lang="es" sz="1200" u="none" cap="none" strike="noStrike">
                <a:solidFill>
                  <a:schemeClr val="dk2"/>
                </a:solidFill>
                <a:latin typeface="Arial"/>
                <a:ea typeface="Arial"/>
                <a:cs typeface="Arial"/>
                <a:sym typeface="Arial"/>
              </a:rPr>
              <a:t>Recapitulación de conceptos clave</a:t>
            </a:r>
            <a:endParaRPr b="0" i="0" sz="1200" u="none" cap="none" strike="noStrike">
              <a:solidFill>
                <a:schemeClr val="dk2"/>
              </a:solidFill>
              <a:latin typeface="Arial"/>
              <a:ea typeface="Arial"/>
              <a:cs typeface="Arial"/>
              <a:sym typeface="Arial"/>
            </a:endParaRPr>
          </a:p>
          <a:p>
            <a:pPr indent="-304800" lvl="0" marL="457200" marR="0" rtl="0" algn="l">
              <a:lnSpc>
                <a:spcPct val="200000"/>
              </a:lnSpc>
              <a:spcBef>
                <a:spcPts val="0"/>
              </a:spcBef>
              <a:spcAft>
                <a:spcPts val="0"/>
              </a:spcAft>
              <a:buClr>
                <a:schemeClr val="dk2"/>
              </a:buClr>
              <a:buSzPts val="1200"/>
              <a:buFont typeface="Arial"/>
              <a:buChar char="❖"/>
            </a:pPr>
            <a:r>
              <a:rPr b="0" i="0" lang="es" sz="1200" u="none" cap="none" strike="noStrike">
                <a:solidFill>
                  <a:schemeClr val="dk2"/>
                </a:solidFill>
                <a:latin typeface="Arial"/>
                <a:ea typeface="Arial"/>
                <a:cs typeface="Arial"/>
                <a:sym typeface="Arial"/>
              </a:rPr>
              <a:t>¿Dónde puedo continuar avanzando en profundizar sobre ITIL?</a:t>
            </a:r>
            <a:endParaRPr b="0" i="0" sz="1200" u="none" cap="none" strike="noStrike">
              <a:solidFill>
                <a:schemeClr val="dk2"/>
              </a:solidFill>
              <a:latin typeface="Arial"/>
              <a:ea typeface="Arial"/>
              <a:cs typeface="Arial"/>
              <a:sym typeface="Arial"/>
            </a:endParaRPr>
          </a:p>
          <a:p>
            <a:pPr indent="-304800" lvl="1" marL="914400" marR="0" rtl="0" algn="l">
              <a:lnSpc>
                <a:spcPct val="200000"/>
              </a:lnSpc>
              <a:spcBef>
                <a:spcPts val="0"/>
              </a:spcBef>
              <a:spcAft>
                <a:spcPts val="0"/>
              </a:spcAft>
              <a:buClr>
                <a:schemeClr val="dk2"/>
              </a:buClr>
              <a:buSzPts val="1200"/>
              <a:buFont typeface="Arial"/>
              <a:buChar char="➢"/>
            </a:pPr>
            <a:r>
              <a:rPr b="1" lang="es" sz="1200">
                <a:solidFill>
                  <a:schemeClr val="dk2"/>
                </a:solidFill>
              </a:rPr>
              <a:t>Herramientas de Gestión Basadas en ITIL.</a:t>
            </a:r>
            <a:endParaRPr b="1" sz="1200">
              <a:solidFill>
                <a:schemeClr val="dk2"/>
              </a:solidFill>
            </a:endParaRPr>
          </a:p>
          <a:p>
            <a:pPr indent="-304800" lvl="1" marL="914400" marR="0" rtl="0" algn="l">
              <a:lnSpc>
                <a:spcPct val="200000"/>
              </a:lnSpc>
              <a:spcBef>
                <a:spcPts val="0"/>
              </a:spcBef>
              <a:spcAft>
                <a:spcPts val="0"/>
              </a:spcAft>
              <a:buClr>
                <a:schemeClr val="dk2"/>
              </a:buClr>
              <a:buSzPts val="1200"/>
              <a:buChar char="➢"/>
            </a:pPr>
            <a:r>
              <a:rPr b="1" lang="es" sz="1200">
                <a:solidFill>
                  <a:schemeClr val="dk2"/>
                </a:solidFill>
              </a:rPr>
              <a:t>Análisis</a:t>
            </a:r>
            <a:r>
              <a:rPr b="1" lang="es" sz="1200">
                <a:solidFill>
                  <a:schemeClr val="dk2"/>
                </a:solidFill>
              </a:rPr>
              <a:t> de Servicios y consideraciones de Prácticas en ITIL.</a:t>
            </a:r>
            <a:endParaRPr b="1" sz="1200">
              <a:solidFill>
                <a:schemeClr val="dk2"/>
              </a:solidFill>
            </a:endParaRPr>
          </a:p>
          <a:p>
            <a:pPr indent="-304800" lvl="1" marL="914400" marR="0" rtl="0" algn="l">
              <a:lnSpc>
                <a:spcPct val="200000"/>
              </a:lnSpc>
              <a:spcBef>
                <a:spcPts val="0"/>
              </a:spcBef>
              <a:spcAft>
                <a:spcPts val="0"/>
              </a:spcAft>
              <a:buClr>
                <a:schemeClr val="dk2"/>
              </a:buClr>
              <a:buSzPts val="1200"/>
              <a:buChar char="➢"/>
            </a:pPr>
            <a:r>
              <a:rPr b="1" lang="es" sz="1200">
                <a:solidFill>
                  <a:schemeClr val="dk2"/>
                </a:solidFill>
              </a:rPr>
              <a:t>Posible Certificación ITIL Foundations para acreditar el conocimiento básico en ITIL.</a:t>
            </a:r>
            <a:endParaRPr b="1" i="0" sz="1200" u="none" cap="none" strike="noStrike">
              <a:solidFill>
                <a:schemeClr val="dk2"/>
              </a:solidFill>
              <a:latin typeface="Arial"/>
              <a:ea typeface="Arial"/>
              <a:cs typeface="Arial"/>
              <a:sym typeface="Arial"/>
            </a:endParaRPr>
          </a:p>
          <a:p>
            <a:pPr indent="-304800" lvl="0" marL="457200" marR="0" rtl="0" algn="l">
              <a:lnSpc>
                <a:spcPct val="200000"/>
              </a:lnSpc>
              <a:spcBef>
                <a:spcPts val="0"/>
              </a:spcBef>
              <a:spcAft>
                <a:spcPts val="0"/>
              </a:spcAft>
              <a:buClr>
                <a:schemeClr val="dk2"/>
              </a:buClr>
              <a:buSzPts val="1200"/>
              <a:buFont typeface="Arial"/>
              <a:buChar char="❖"/>
            </a:pPr>
            <a:r>
              <a:rPr b="0" i="0" lang="es" sz="1200" u="none" cap="none" strike="noStrike">
                <a:solidFill>
                  <a:schemeClr val="dk2"/>
                </a:solidFill>
                <a:latin typeface="Arial"/>
                <a:ea typeface="Arial"/>
                <a:cs typeface="Arial"/>
                <a:sym typeface="Arial"/>
              </a:rPr>
              <a:t>Próximos pasos: </a:t>
            </a:r>
            <a:r>
              <a:rPr lang="es" sz="1200">
                <a:solidFill>
                  <a:schemeClr val="dk2"/>
                </a:solidFill>
              </a:rPr>
              <a:t>Casos Prácticos de FitSM y Cobit</a:t>
            </a:r>
            <a:endParaRPr b="0" i="0" sz="1200" u="none" cap="none" strike="noStrike">
              <a:solidFill>
                <a:schemeClr val="dk2"/>
              </a:solidFill>
              <a:latin typeface="Arial"/>
              <a:ea typeface="Arial"/>
              <a:cs typeface="Arial"/>
              <a:sym typeface="Arial"/>
            </a:endParaRPr>
          </a:p>
        </p:txBody>
      </p:sp>
      <p:sp>
        <p:nvSpPr>
          <p:cNvPr id="286" name="Google Shape;286;p27"/>
          <p:cNvSpPr/>
          <p:nvPr/>
        </p:nvSpPr>
        <p:spPr>
          <a:xfrm>
            <a:off x="614600" y="4669825"/>
            <a:ext cx="5741700" cy="463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3B4449"/>
                </a:solidFill>
                <a:latin typeface="Arial"/>
                <a:ea typeface="Arial"/>
                <a:cs typeface="Arial"/>
                <a:sym typeface="Arial"/>
              </a:rPr>
              <a:t>Fundamentos y principios de las metodologías de gestión </a:t>
            </a:r>
            <a:endParaRPr b="0" i="0" sz="1400" u="none" cap="none" strike="noStrike">
              <a:solidFill>
                <a:schemeClr val="dk2"/>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