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78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4c3ac5b9b1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79400" lvl="0" indent="0" algn="l" rtl="0">
              <a:lnSpc>
                <a:spcPct val="115000"/>
              </a:lnSpc>
              <a:spcBef>
                <a:spcPts val="0"/>
              </a:spcBef>
              <a:spcAft>
                <a:spcPts val="0"/>
              </a:spcAft>
              <a:buClr>
                <a:schemeClr val="dk1"/>
              </a:buClr>
              <a:buSzPts val="1100"/>
              <a:buFont typeface="Arial"/>
              <a:buNone/>
            </a:pPr>
            <a:r>
              <a:rPr lang="es" sz="1300">
                <a:solidFill>
                  <a:srgbClr val="111111"/>
                </a:solidFill>
              </a:rPr>
              <a:t>Hola, ¿cómo están? Bienvenidos a esta nueva clase de Gestión de Servicios de Información.</a:t>
            </a: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endParaRPr sz="1300">
              <a:solidFill>
                <a:srgbClr val="111111"/>
              </a:solidFill>
            </a:endParaRPr>
          </a:p>
          <a:p>
            <a:pPr marL="279400" lvl="0" indent="0" algn="l" rtl="0">
              <a:lnSpc>
                <a:spcPct val="115000"/>
              </a:lnSpc>
              <a:spcBef>
                <a:spcPts val="0"/>
              </a:spcBef>
              <a:spcAft>
                <a:spcPts val="0"/>
              </a:spcAft>
              <a:buSzPts val="1100"/>
              <a:buNone/>
            </a:pPr>
            <a:r>
              <a:rPr lang="es" sz="1300">
                <a:solidFill>
                  <a:srgbClr val="111111"/>
                </a:solidFill>
              </a:rPr>
              <a:t>Hoy vamos a cambiar un poco el ritmo con respecto a la clase anterior. Vamos a pasar de los conceptos generales —qué es un servicio, qué pasa cuando no lo gestionamos, y qué principios debería seguir toda buena gestión— a algo mucho más concreto: los marcos de trabajo reales que existen para poder gestionar los servicios de información en una organización.</a:t>
            </a:r>
            <a:endParaRPr>
              <a:solidFill>
                <a:schemeClr val="dk1"/>
              </a:solidFill>
            </a:endParaRPr>
          </a:p>
        </p:txBody>
      </p:sp>
      <p:sp>
        <p:nvSpPr>
          <p:cNvPr id="58" name="Google Shape;58;g34c3ac5b9b1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4c3ac5b9b1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79400" lvl="0" indent="0" algn="l" rtl="0">
              <a:lnSpc>
                <a:spcPct val="115000"/>
              </a:lnSpc>
              <a:spcBef>
                <a:spcPts val="0"/>
              </a:spcBef>
              <a:spcAft>
                <a:spcPts val="0"/>
              </a:spcAft>
              <a:buClr>
                <a:schemeClr val="dk1"/>
              </a:buClr>
              <a:buSzPts val="1100"/>
              <a:buFont typeface="Arial"/>
              <a:buNone/>
            </a:pPr>
            <a:r>
              <a:rPr lang="es" sz="1300">
                <a:solidFill>
                  <a:srgbClr val="111111"/>
                </a:solidFill>
              </a:rPr>
              <a:t>Ahora, quizás alguno piense: “¿Por qué no empezar directamente por ITIL, que es el más famoso?”</a:t>
            </a: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r>
              <a:rPr lang="es" sz="1300">
                <a:solidFill>
                  <a:srgbClr val="111111"/>
                </a:solidFill>
              </a:rPr>
              <a:t>Bueno, esa pregunta es válida. Pero la respuesta tiene que ver con algo que les va a pasar también a ustedes si alguna vez tienen que implementar un modelo de gestión desde cero: no todo se puede abordar desde lo más complejo.</a:t>
            </a: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r>
              <a:rPr lang="es" sz="1300">
                <a:solidFill>
                  <a:srgbClr val="111111"/>
                </a:solidFill>
              </a:rPr>
              <a:t>Por eso vamos a arrancar con dos marcos complementarios: FitSM y COBIT.</a:t>
            </a:r>
            <a:endParaRPr sz="1300">
              <a:solidFill>
                <a:srgbClr val="111111"/>
              </a:solidFill>
            </a:endParaRPr>
          </a:p>
          <a:p>
            <a:pPr marL="279400" lvl="0" indent="0" algn="l" rtl="0">
              <a:lnSpc>
                <a:spcPct val="115000"/>
              </a:lnSpc>
              <a:spcBef>
                <a:spcPts val="900"/>
              </a:spcBef>
              <a:spcAft>
                <a:spcPts val="0"/>
              </a:spcAft>
              <a:buClr>
                <a:schemeClr val="dk1"/>
              </a:buClr>
              <a:buSzPts val="1100"/>
              <a:buFont typeface="Arial"/>
              <a:buNone/>
            </a:pPr>
            <a:r>
              <a:rPr lang="es" sz="1300">
                <a:solidFill>
                  <a:srgbClr val="111111"/>
                </a:solidFill>
              </a:rPr>
              <a:t>	•	FitSM es muy práctico, muy concreto. Ideal para cuando estamos en una organización donde no hay nada: no hay procesos, no hay roles definidos, no hay trazabilidad. Y necesitamos poner orden rápido.</a:t>
            </a:r>
            <a:endParaRPr sz="1300">
              <a:solidFill>
                <a:srgbClr val="111111"/>
              </a:solidFill>
            </a:endParaRPr>
          </a:p>
          <a:p>
            <a:pPr marL="279400" lvl="0" indent="0" algn="l" rtl="0">
              <a:lnSpc>
                <a:spcPct val="115000"/>
              </a:lnSpc>
              <a:spcBef>
                <a:spcPts val="900"/>
              </a:spcBef>
              <a:spcAft>
                <a:spcPts val="0"/>
              </a:spcAft>
              <a:buClr>
                <a:schemeClr val="dk1"/>
              </a:buClr>
              <a:buSzPts val="1100"/>
              <a:buFont typeface="Arial"/>
              <a:buNone/>
            </a:pPr>
            <a:r>
              <a:rPr lang="es" sz="1300">
                <a:solidFill>
                  <a:srgbClr val="111111"/>
                </a:solidFill>
              </a:rPr>
              <a:t>	•	COBIT, en cambio, es más institucional. Nos ayuda a pensar cómo la tecnología se alinea con la estrategia. ¿Qué decisiones toma el área de TI? ¿Dónde están los riesgos? ¿Cómo medimos si lo que hacemos en tecnología tiene impacto en la organización?</a:t>
            </a: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r>
              <a:rPr lang="es" sz="1300">
                <a:solidFill>
                  <a:srgbClr val="111111"/>
                </a:solidFill>
              </a:rPr>
              <a:t>Entonces… ¿por qué estos dos juntos en una sola clase? Porque si empezáramos por uno solo, no veríamos el contraste. Y ese contraste es lo más poderoso que nos pueden dejar estos marcos.</a:t>
            </a: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r>
              <a:rPr lang="es" sz="1300">
                <a:solidFill>
                  <a:srgbClr val="111111"/>
                </a:solidFill>
              </a:rPr>
              <a:t>FitSM nos ayuda a operar mejor. COBIT nos ayuda a decidir mejor. Y en el medio, estamos nosotros, gestionando servicios.</a:t>
            </a: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r>
              <a:rPr lang="es" sz="1300">
                <a:solidFill>
                  <a:srgbClr val="111111"/>
                </a:solidFill>
              </a:rPr>
              <a:t>Además, como les mencioné, FitSM fue pensado justamente como una alternativa más simple a marcos más robustos como ITIL, que vamos a ver en detalle en la próxima clase. Y COBIT, aunque suena más “de altos mandos”, tiene muchísimas aplicaciones prácticas que nos sirven incluso si solo estamos gestionando un equipo pequeño.</a:t>
            </a: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r>
              <a:rPr lang="es" sz="1300">
                <a:solidFill>
                  <a:srgbClr val="111111"/>
                </a:solidFill>
              </a:rPr>
              <a:t>Así que hoy vamos a recorrer estos dos marcos.</a:t>
            </a: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r>
              <a:rPr lang="es" sz="1300">
                <a:solidFill>
                  <a:srgbClr val="111111"/>
                </a:solidFill>
              </a:rPr>
              <a:t>Les voy a contar qué son, cómo surgieron, en qué situaciones los usaríamos, qué beneficios tienen, y —como siempre— cómo se aplicarían a un caso real.</a:t>
            </a: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r>
              <a:rPr lang="es" sz="1300">
                <a:solidFill>
                  <a:srgbClr val="111111"/>
                </a:solidFill>
              </a:rPr>
              <a:t>Vamos a empezar por FitSM, que probablemente muchos de ustedes nunca hayan escuchado. Y eso está bien. Porque justamente es un estándar que no se hizo para ser famoso, sino para ser útil.</a:t>
            </a:r>
            <a:endParaRPr sz="1300">
              <a:solidFill>
                <a:srgbClr val="111111"/>
              </a:solidFill>
            </a:endParaRPr>
          </a:p>
          <a:p>
            <a:pPr marL="279400" lvl="0" indent="0" algn="l" rtl="0">
              <a:lnSpc>
                <a:spcPct val="115000"/>
              </a:lnSpc>
              <a:spcBef>
                <a:spcPts val="0"/>
              </a:spcBef>
              <a:spcAft>
                <a:spcPts val="0"/>
              </a:spcAft>
              <a:buClr>
                <a:schemeClr val="dk1"/>
              </a:buClr>
              <a:buSzPts val="1100"/>
              <a:buFont typeface="Arial"/>
              <a:buNone/>
            </a:pPr>
            <a:endParaRPr sz="1300">
              <a:solidFill>
                <a:srgbClr val="111111"/>
              </a:solidFill>
            </a:endParaRPr>
          </a:p>
          <a:p>
            <a:pPr marL="279400" lvl="0" indent="0" algn="l" rtl="0">
              <a:lnSpc>
                <a:spcPct val="115000"/>
              </a:lnSpc>
              <a:spcBef>
                <a:spcPts val="0"/>
              </a:spcBef>
              <a:spcAft>
                <a:spcPts val="0"/>
              </a:spcAft>
              <a:buSzPts val="1100"/>
              <a:buNone/>
            </a:pPr>
            <a:r>
              <a:rPr lang="es" sz="1300">
                <a:solidFill>
                  <a:srgbClr val="111111"/>
                </a:solidFill>
              </a:rPr>
              <a:t>Arranquemos.</a:t>
            </a:r>
            <a:endParaRPr/>
          </a:p>
        </p:txBody>
      </p:sp>
      <p:sp>
        <p:nvSpPr>
          <p:cNvPr id="64" name="Google Shape;64;g34c3ac5b9b1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4c3ac5b9b1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100"/>
              <a:buNone/>
            </a:pPr>
            <a:endParaRPr/>
          </a:p>
        </p:txBody>
      </p:sp>
      <p:sp>
        <p:nvSpPr>
          <p:cNvPr id="72" name="Google Shape;72;g34c3ac5b9b1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4c3ac5b9b1_0_1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100"/>
              <a:buNone/>
            </a:pPr>
            <a:endParaRPr/>
          </a:p>
        </p:txBody>
      </p:sp>
      <p:sp>
        <p:nvSpPr>
          <p:cNvPr id="81" name="Google Shape;81;g34c3ac5b9b1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4c3ac5b9b1_0_1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100"/>
              <a:buNone/>
            </a:pPr>
            <a:endParaRPr/>
          </a:p>
        </p:txBody>
      </p:sp>
      <p:sp>
        <p:nvSpPr>
          <p:cNvPr id="90" name="Google Shape;90;g34c3ac5b9b1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4d1f6cbf1c6165bc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100"/>
              <a:buNone/>
            </a:pPr>
            <a:endParaRPr/>
          </a:p>
        </p:txBody>
      </p:sp>
      <p:sp>
        <p:nvSpPr>
          <p:cNvPr id="99" name="Google Shape;99;g4d1f6cbf1c6165bc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4c3ac5b9b1_0_1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100"/>
              <a:buNone/>
            </a:pPr>
            <a:endParaRPr/>
          </a:p>
        </p:txBody>
      </p:sp>
      <p:sp>
        <p:nvSpPr>
          <p:cNvPr id="108" name="Google Shape;108;g34c3ac5b9b1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4c3ac5b9b1_0_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100"/>
              <a:buNone/>
            </a:pPr>
            <a:endParaRPr/>
          </a:p>
        </p:txBody>
      </p:sp>
      <p:sp>
        <p:nvSpPr>
          <p:cNvPr id="118" name="Google Shape;118;g34c3ac5b9b1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4c3ac5b9b1_0_1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381000" marR="381000" lvl="0" indent="0" algn="l" rtl="0">
              <a:lnSpc>
                <a:spcPct val="115000"/>
              </a:lnSpc>
              <a:spcBef>
                <a:spcPts val="1200"/>
              </a:spcBef>
              <a:spcAft>
                <a:spcPts val="1200"/>
              </a:spcAft>
              <a:buSzPts val="1100"/>
              <a:buNone/>
            </a:pPr>
            <a:endParaRPr/>
          </a:p>
        </p:txBody>
      </p:sp>
      <p:sp>
        <p:nvSpPr>
          <p:cNvPr id="128" name="Google Shape;128;g34c3ac5b9b1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4c3ac5b9b1_0_1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381000" marR="381000" lvl="0" indent="0" algn="l" rtl="0">
              <a:lnSpc>
                <a:spcPct val="115000"/>
              </a:lnSpc>
              <a:spcBef>
                <a:spcPts val="1200"/>
              </a:spcBef>
              <a:spcAft>
                <a:spcPts val="1200"/>
              </a:spcAft>
              <a:buSzPts val="1100"/>
              <a:buNone/>
            </a:pPr>
            <a:endParaRPr/>
          </a:p>
        </p:txBody>
      </p:sp>
      <p:sp>
        <p:nvSpPr>
          <p:cNvPr id="138" name="Google Shape;138;g34c3ac5b9b1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43a527ea73f92cc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381000" marR="381000" lvl="0" indent="0" algn="l" rtl="0">
              <a:lnSpc>
                <a:spcPct val="115000"/>
              </a:lnSpc>
              <a:spcBef>
                <a:spcPts val="1200"/>
              </a:spcBef>
              <a:spcAft>
                <a:spcPts val="1200"/>
              </a:spcAft>
              <a:buSzPts val="1100"/>
              <a:buNone/>
            </a:pPr>
            <a:endParaRPr/>
          </a:p>
        </p:txBody>
      </p:sp>
      <p:sp>
        <p:nvSpPr>
          <p:cNvPr id="148" name="Google Shape;148;g43a527ea73f92cc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43a527ea73f92cc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381000" marR="381000" lvl="0" indent="0" algn="l" rtl="0">
              <a:lnSpc>
                <a:spcPct val="115000"/>
              </a:lnSpc>
              <a:spcBef>
                <a:spcPts val="1200"/>
              </a:spcBef>
              <a:spcAft>
                <a:spcPts val="1200"/>
              </a:spcAft>
              <a:buSzPts val="1100"/>
              <a:buNone/>
            </a:pPr>
            <a:endParaRPr/>
          </a:p>
        </p:txBody>
      </p:sp>
      <p:sp>
        <p:nvSpPr>
          <p:cNvPr id="158" name="Google Shape;158;g43a527ea73f92cc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43a527ea73f92cc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381000" marR="381000" lvl="0" indent="0" algn="l" rtl="0">
              <a:lnSpc>
                <a:spcPct val="115000"/>
              </a:lnSpc>
              <a:spcBef>
                <a:spcPts val="1200"/>
              </a:spcBef>
              <a:spcAft>
                <a:spcPts val="1200"/>
              </a:spcAft>
              <a:buSzPts val="1100"/>
              <a:buNone/>
            </a:pPr>
            <a:endParaRPr/>
          </a:p>
        </p:txBody>
      </p:sp>
      <p:sp>
        <p:nvSpPr>
          <p:cNvPr id="168" name="Google Shape;168;g43a527ea73f92cc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43a527ea73f92cc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381000" marR="381000" lvl="0" indent="0" algn="l" rtl="0">
              <a:lnSpc>
                <a:spcPct val="115000"/>
              </a:lnSpc>
              <a:spcBef>
                <a:spcPts val="1200"/>
              </a:spcBef>
              <a:spcAft>
                <a:spcPts val="1200"/>
              </a:spcAft>
              <a:buSzPts val="1100"/>
              <a:buNone/>
            </a:pPr>
            <a:endParaRPr/>
          </a:p>
        </p:txBody>
      </p:sp>
      <p:sp>
        <p:nvSpPr>
          <p:cNvPr id="178" name="Google Shape;178;g43a527ea73f92cc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43a527ea73f92cc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381000" marR="381000" lvl="0" indent="0" algn="l" rtl="0">
              <a:lnSpc>
                <a:spcPct val="115000"/>
              </a:lnSpc>
              <a:spcBef>
                <a:spcPts val="1200"/>
              </a:spcBef>
              <a:spcAft>
                <a:spcPts val="1200"/>
              </a:spcAft>
              <a:buSzPts val="1100"/>
              <a:buNone/>
            </a:pPr>
            <a:endParaRPr/>
          </a:p>
        </p:txBody>
      </p:sp>
      <p:sp>
        <p:nvSpPr>
          <p:cNvPr id="188" name="Google Shape;188;g43a527ea73f92cc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7806a8654f9c97e5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381000" marR="381000" lvl="0" indent="0" algn="l" rtl="0">
              <a:lnSpc>
                <a:spcPct val="115000"/>
              </a:lnSpc>
              <a:spcBef>
                <a:spcPts val="1200"/>
              </a:spcBef>
              <a:spcAft>
                <a:spcPts val="1200"/>
              </a:spcAft>
              <a:buSzPts val="1100"/>
              <a:buNone/>
            </a:pPr>
            <a:endParaRPr/>
          </a:p>
        </p:txBody>
      </p:sp>
      <p:sp>
        <p:nvSpPr>
          <p:cNvPr id="198" name="Google Shape;198;g7806a8654f9c97e5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4.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p:nvPr/>
        </p:nvSpPr>
        <p:spPr>
          <a:xfrm>
            <a:off x="883825" y="1085950"/>
            <a:ext cx="6279900" cy="13968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SzPts val="1100"/>
              <a:buFont typeface="Arial"/>
              <a:buNone/>
            </a:pPr>
            <a:r>
              <a:rPr lang="es" sz="2600" b="1" dirty="0">
                <a:solidFill>
                  <a:schemeClr val="dk1"/>
                </a:solidFill>
              </a:rPr>
              <a:t>Gestión de Servicios de Información</a:t>
            </a:r>
            <a:endParaRPr sz="2600" b="1" dirty="0">
              <a:solidFill>
                <a:schemeClr val="dk1"/>
              </a:solidFill>
            </a:endParaRPr>
          </a:p>
          <a:p>
            <a:pPr marL="0" lvl="0" indent="0" algn="l" rtl="0">
              <a:spcBef>
                <a:spcPts val="0"/>
              </a:spcBef>
              <a:spcAft>
                <a:spcPts val="0"/>
              </a:spcAft>
              <a:buClr>
                <a:schemeClr val="dk1"/>
              </a:buClr>
              <a:buSzPts val="1100"/>
              <a:buFont typeface="Arial"/>
              <a:buNone/>
            </a:pPr>
            <a:r>
              <a:rPr lang="es" sz="1100" dirty="0">
                <a:solidFill>
                  <a:schemeClr val="dk1"/>
                </a:solidFill>
              </a:rPr>
              <a:t> Licenciatura en Ciberdefensa – Universidad de la Defensa Nacional</a:t>
            </a:r>
            <a:endParaRPr sz="1100" dirty="0">
              <a:solidFill>
                <a:schemeClr val="dk1"/>
              </a:solidFill>
            </a:endParaRPr>
          </a:p>
          <a:p>
            <a:pPr marL="0" lvl="0" indent="0" algn="l" rtl="0">
              <a:spcBef>
                <a:spcPts val="0"/>
              </a:spcBef>
              <a:spcAft>
                <a:spcPts val="0"/>
              </a:spcAft>
              <a:buClr>
                <a:schemeClr val="dk1"/>
              </a:buClr>
              <a:buSzPts val="1100"/>
              <a:buFont typeface="Arial"/>
              <a:buNone/>
            </a:pPr>
            <a:endParaRPr sz="1100" b="1" dirty="0">
              <a:solidFill>
                <a:schemeClr val="dk1"/>
              </a:solidFill>
            </a:endParaRPr>
          </a:p>
          <a:p>
            <a:pPr marL="0" lvl="0" indent="0" algn="l" rtl="0">
              <a:spcBef>
                <a:spcPts val="0"/>
              </a:spcBef>
              <a:spcAft>
                <a:spcPts val="0"/>
              </a:spcAft>
              <a:buClr>
                <a:schemeClr val="dk1"/>
              </a:buClr>
              <a:buSzPts val="1100"/>
              <a:buFont typeface="Arial"/>
              <a:buNone/>
            </a:pPr>
            <a:endParaRPr sz="1100" b="1" dirty="0">
              <a:solidFill>
                <a:schemeClr val="dk1"/>
              </a:solidFill>
            </a:endParaRPr>
          </a:p>
          <a:p>
            <a:pPr marL="0" lvl="0" indent="0" algn="l" rtl="0">
              <a:spcBef>
                <a:spcPts val="0"/>
              </a:spcBef>
              <a:spcAft>
                <a:spcPts val="0"/>
              </a:spcAft>
              <a:buClr>
                <a:schemeClr val="dk1"/>
              </a:buClr>
              <a:buSzPts val="1100"/>
              <a:buFont typeface="Arial"/>
              <a:buNone/>
            </a:pPr>
            <a:r>
              <a:rPr lang="es" sz="1300" dirty="0">
                <a:solidFill>
                  <a:schemeClr val="dk1"/>
                </a:solidFill>
              </a:rPr>
              <a:t> Docentes: Alejandro Fioretti - Flavio Alfano</a:t>
            </a:r>
            <a:endParaRPr sz="1300" dirty="0">
              <a:solidFill>
                <a:schemeClr val="dk1"/>
              </a:solidFill>
            </a:endParaRPr>
          </a:p>
          <a:p>
            <a:pPr marL="0" marR="0" lvl="0" indent="0" algn="l" rtl="0">
              <a:lnSpc>
                <a:spcPct val="100000"/>
              </a:lnSpc>
              <a:spcBef>
                <a:spcPts val="0"/>
              </a:spcBef>
              <a:spcAft>
                <a:spcPts val="0"/>
              </a:spcAft>
              <a:buClr>
                <a:srgbClr val="000000"/>
              </a:buClr>
              <a:buSzPts val="4500"/>
              <a:buFont typeface="Arial"/>
              <a:buNone/>
            </a:pPr>
            <a:r>
              <a:rPr lang="es" sz="1300" dirty="0">
                <a:solidFill>
                  <a:schemeClr val="dk1"/>
                </a:solidFill>
              </a:rPr>
              <a:t> Clase </a:t>
            </a:r>
            <a:r>
              <a:rPr lang="es" sz="1300" dirty="0" smtClean="0">
                <a:solidFill>
                  <a:schemeClr val="dk1"/>
                </a:solidFill>
              </a:rPr>
              <a:t>2: </a:t>
            </a:r>
            <a:r>
              <a:rPr lang="es" sz="1300" dirty="0">
                <a:solidFill>
                  <a:schemeClr val="dk1"/>
                </a:solidFill>
              </a:rPr>
              <a:t>Fundamentos y principios de las metodologías de gestión (Parte 2)</a:t>
            </a:r>
            <a:endParaRPr sz="4700" b="1" dirty="0">
              <a:solidFill>
                <a:srgbClr val="3A3838"/>
              </a:solidFill>
            </a:endParaRPr>
          </a:p>
        </p:txBody>
      </p:sp>
      <p:pic>
        <p:nvPicPr>
          <p:cNvPr id="61" name="Google Shape;61;p14"/>
          <p:cNvPicPr preferRelativeResize="0"/>
          <p:nvPr/>
        </p:nvPicPr>
        <p:blipFill rotWithShape="1">
          <a:blip r:embed="rId4">
            <a:alphaModFix/>
          </a:blip>
          <a:srcRect/>
          <a:stretch/>
        </p:blipFill>
        <p:spPr>
          <a:xfrm>
            <a:off x="7163714" y="4451106"/>
            <a:ext cx="1623849" cy="46335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p:nvPr/>
        </p:nvSpPr>
        <p:spPr>
          <a:xfrm>
            <a:off x="622948" y="810200"/>
            <a:ext cx="4023000" cy="2769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b="1">
                <a:solidFill>
                  <a:schemeClr val="dk2"/>
                </a:solidFill>
              </a:rPr>
              <a:t>Objetivos de la clase</a:t>
            </a:r>
            <a:endParaRPr sz="1400" b="1" i="0" u="none" strike="noStrike" cap="none">
              <a:solidFill>
                <a:schemeClr val="dk2"/>
              </a:solidFill>
              <a:latin typeface="Arial"/>
              <a:ea typeface="Arial"/>
              <a:cs typeface="Arial"/>
              <a:sym typeface="Arial"/>
            </a:endParaRPr>
          </a:p>
        </p:txBody>
      </p:sp>
      <p:sp>
        <p:nvSpPr>
          <p:cNvPr id="67" name="Google Shape;67;p15"/>
          <p:cNvSpPr/>
          <p:nvPr/>
        </p:nvSpPr>
        <p:spPr>
          <a:xfrm>
            <a:off x="614600" y="1281700"/>
            <a:ext cx="7968300" cy="2250600"/>
          </a:xfrm>
          <a:prstGeom prst="rect">
            <a:avLst/>
          </a:prstGeom>
          <a:noFill/>
          <a:ln>
            <a:noFill/>
          </a:ln>
        </p:spPr>
        <p:txBody>
          <a:bodyPr spcFirstLastPara="1" wrap="square" lIns="68575" tIns="34275" rIns="68575" bIns="34275" anchor="t" anchorCtr="0">
            <a:noAutofit/>
          </a:bodyPr>
          <a:lstStyle/>
          <a:p>
            <a:pPr marL="0" lvl="0" indent="0" algn="just" rtl="0">
              <a:lnSpc>
                <a:spcPct val="150000"/>
              </a:lnSpc>
              <a:spcBef>
                <a:spcPts val="0"/>
              </a:spcBef>
              <a:spcAft>
                <a:spcPts val="0"/>
              </a:spcAft>
              <a:buNone/>
            </a:pPr>
            <a:r>
              <a:rPr lang="es" sz="1200">
                <a:solidFill>
                  <a:schemeClr val="dk2"/>
                </a:solidFill>
              </a:rPr>
              <a:t>❖ Comprender los marcos FitSM y COBIT como herramientas de gestión.</a:t>
            </a:r>
            <a:endParaRPr sz="1200">
              <a:solidFill>
                <a:schemeClr val="dk2"/>
              </a:solidFill>
            </a:endParaRPr>
          </a:p>
          <a:p>
            <a:pPr marL="0" lvl="0" indent="0" algn="just" rtl="0">
              <a:lnSpc>
                <a:spcPct val="150000"/>
              </a:lnSpc>
              <a:spcBef>
                <a:spcPts val="0"/>
              </a:spcBef>
              <a:spcAft>
                <a:spcPts val="0"/>
              </a:spcAft>
              <a:buNone/>
            </a:pPr>
            <a:r>
              <a:rPr lang="es" sz="1200">
                <a:solidFill>
                  <a:schemeClr val="dk2"/>
                </a:solidFill>
              </a:rPr>
              <a:t>❖ Analizar sus diferencias, alcances y puntos en común.</a:t>
            </a:r>
            <a:endParaRPr sz="1200">
              <a:solidFill>
                <a:schemeClr val="dk2"/>
              </a:solidFill>
            </a:endParaRPr>
          </a:p>
          <a:p>
            <a:pPr marL="0" lvl="0" indent="0" algn="just" rtl="0">
              <a:lnSpc>
                <a:spcPct val="150000"/>
              </a:lnSpc>
              <a:spcBef>
                <a:spcPts val="0"/>
              </a:spcBef>
              <a:spcAft>
                <a:spcPts val="0"/>
              </a:spcAft>
              <a:buNone/>
            </a:pPr>
            <a:r>
              <a:rPr lang="es" sz="1200">
                <a:solidFill>
                  <a:schemeClr val="dk2"/>
                </a:solidFill>
              </a:rPr>
              <a:t>❖ Aplicar ejemplos prácticos que muestren cuándo y cómo utilizar cada uno.</a:t>
            </a:r>
            <a:endParaRPr sz="1200">
              <a:solidFill>
                <a:schemeClr val="dk2"/>
              </a:solidFill>
            </a:endParaRPr>
          </a:p>
          <a:p>
            <a:pPr marL="0" lvl="0" indent="0" algn="just" rtl="0">
              <a:lnSpc>
                <a:spcPct val="150000"/>
              </a:lnSpc>
              <a:spcBef>
                <a:spcPts val="0"/>
              </a:spcBef>
              <a:spcAft>
                <a:spcPts val="0"/>
              </a:spcAft>
              <a:buNone/>
            </a:pPr>
            <a:r>
              <a:rPr lang="es" sz="1200">
                <a:solidFill>
                  <a:schemeClr val="dk2"/>
                </a:solidFill>
              </a:rPr>
              <a:t>❖ Relacionar estos marcos con contextos reales de TI y ciberdefensa.</a:t>
            </a:r>
            <a:endParaRPr sz="1200">
              <a:solidFill>
                <a:schemeClr val="dk2"/>
              </a:solidFill>
            </a:endParaRPr>
          </a:p>
          <a:p>
            <a:pPr marL="0" lvl="0" indent="0" algn="just" rtl="0">
              <a:lnSpc>
                <a:spcPct val="150000"/>
              </a:lnSpc>
              <a:spcBef>
                <a:spcPts val="0"/>
              </a:spcBef>
              <a:spcAft>
                <a:spcPts val="0"/>
              </a:spcAft>
              <a:buNone/>
            </a:pPr>
            <a:endParaRPr sz="1200">
              <a:solidFill>
                <a:schemeClr val="dk2"/>
              </a:solidFill>
            </a:endParaRPr>
          </a:p>
        </p:txBody>
      </p:sp>
      <p:sp>
        <p:nvSpPr>
          <p:cNvPr id="68" name="Google Shape;68;p15"/>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pic>
        <p:nvPicPr>
          <p:cNvPr id="69" name="Google Shape;69;p15"/>
          <p:cNvPicPr preferRelativeResize="0"/>
          <p:nvPr/>
        </p:nvPicPr>
        <p:blipFill rotWithShape="1">
          <a:blip r:embed="rId3">
            <a:alphaModFix/>
          </a:blip>
          <a:srcRect/>
          <a:stretch/>
        </p:blipFill>
        <p:spPr>
          <a:xfrm>
            <a:off x="7163714" y="4451106"/>
            <a:ext cx="1623849" cy="46335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6"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sp>
        <p:nvSpPr>
          <p:cNvPr id="75" name="Google Shape;75;p16"/>
          <p:cNvSpPr/>
          <p:nvPr/>
        </p:nvSpPr>
        <p:spPr>
          <a:xfrm>
            <a:off x="622948" y="810196"/>
            <a:ext cx="4255500" cy="4635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b="1">
                <a:solidFill>
                  <a:schemeClr val="dk2"/>
                </a:solidFill>
              </a:rPr>
              <a:t>¿Por Qué comenzamos con FitSM y COBIT?</a:t>
            </a:r>
            <a:endParaRPr sz="1400" b="1" i="0" u="none" strike="noStrike" cap="none">
              <a:solidFill>
                <a:schemeClr val="dk2"/>
              </a:solidFill>
              <a:latin typeface="Arial"/>
              <a:ea typeface="Arial"/>
              <a:cs typeface="Arial"/>
              <a:sym typeface="Arial"/>
            </a:endParaRPr>
          </a:p>
        </p:txBody>
      </p:sp>
      <p:sp>
        <p:nvSpPr>
          <p:cNvPr id="76" name="Google Shape;76;p16"/>
          <p:cNvSpPr/>
          <p:nvPr/>
        </p:nvSpPr>
        <p:spPr>
          <a:xfrm>
            <a:off x="610525" y="1281700"/>
            <a:ext cx="7898400" cy="22506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None/>
            </a:pPr>
            <a:r>
              <a:rPr lang="es" sz="1200">
                <a:solidFill>
                  <a:schemeClr val="dk2"/>
                </a:solidFill>
              </a:rPr>
              <a:t>❖ Representan dos planos complementarios:</a:t>
            </a:r>
            <a:endParaRPr sz="1200">
              <a:solidFill>
                <a:schemeClr val="dk2"/>
              </a:solidFill>
            </a:endParaRPr>
          </a:p>
          <a:p>
            <a:pPr marL="0" lvl="0" indent="0" algn="just" rtl="0">
              <a:lnSpc>
                <a:spcPct val="200000"/>
              </a:lnSpc>
              <a:spcBef>
                <a:spcPts val="0"/>
              </a:spcBef>
              <a:spcAft>
                <a:spcPts val="0"/>
              </a:spcAft>
              <a:buNone/>
            </a:pPr>
            <a:r>
              <a:rPr lang="es" sz="1200">
                <a:solidFill>
                  <a:schemeClr val="dk2"/>
                </a:solidFill>
              </a:rPr>
              <a:t>       ➢ FitSM: gestión operativa.</a:t>
            </a:r>
            <a:endParaRPr sz="1200">
              <a:solidFill>
                <a:schemeClr val="dk2"/>
              </a:solidFill>
            </a:endParaRPr>
          </a:p>
          <a:p>
            <a:pPr marL="0" lvl="0" indent="0" algn="just" rtl="0">
              <a:lnSpc>
                <a:spcPct val="200000"/>
              </a:lnSpc>
              <a:spcBef>
                <a:spcPts val="0"/>
              </a:spcBef>
              <a:spcAft>
                <a:spcPts val="0"/>
              </a:spcAft>
              <a:buNone/>
            </a:pPr>
            <a:r>
              <a:rPr lang="es" sz="1200">
                <a:solidFill>
                  <a:schemeClr val="dk2"/>
                </a:solidFill>
              </a:rPr>
              <a:t>       ➢ COBIT: gobierno estratégico.</a:t>
            </a:r>
            <a:endParaRPr sz="1200">
              <a:solidFill>
                <a:schemeClr val="dk2"/>
              </a:solidFill>
            </a:endParaRPr>
          </a:p>
          <a:p>
            <a:pPr marL="0" lvl="0" indent="0" algn="just" rtl="0">
              <a:lnSpc>
                <a:spcPct val="200000"/>
              </a:lnSpc>
              <a:spcBef>
                <a:spcPts val="0"/>
              </a:spcBef>
              <a:spcAft>
                <a:spcPts val="0"/>
              </a:spcAft>
              <a:buNone/>
            </a:pPr>
            <a:endParaRPr sz="1200">
              <a:solidFill>
                <a:schemeClr val="dk2"/>
              </a:solidFill>
            </a:endParaRPr>
          </a:p>
          <a:p>
            <a:pPr marL="0" lvl="0" indent="0" algn="just" rtl="0">
              <a:lnSpc>
                <a:spcPct val="200000"/>
              </a:lnSpc>
              <a:spcBef>
                <a:spcPts val="0"/>
              </a:spcBef>
              <a:spcAft>
                <a:spcPts val="0"/>
              </a:spcAft>
              <a:buNone/>
            </a:pPr>
            <a:r>
              <a:rPr lang="es" sz="1200">
                <a:solidFill>
                  <a:schemeClr val="dk2"/>
                </a:solidFill>
              </a:rPr>
              <a:t>❖ Ambos son accesibles, prácticos y ampliamente aplicables.</a:t>
            </a:r>
            <a:endParaRPr sz="1200">
              <a:solidFill>
                <a:schemeClr val="dk2"/>
              </a:solidFill>
            </a:endParaRPr>
          </a:p>
          <a:p>
            <a:pPr marL="0" lvl="0" indent="0" algn="just" rtl="0">
              <a:lnSpc>
                <a:spcPct val="200000"/>
              </a:lnSpc>
              <a:spcBef>
                <a:spcPts val="0"/>
              </a:spcBef>
              <a:spcAft>
                <a:spcPts val="0"/>
              </a:spcAft>
              <a:buNone/>
            </a:pPr>
            <a:r>
              <a:rPr lang="es" sz="1200">
                <a:solidFill>
                  <a:schemeClr val="dk2"/>
                </a:solidFill>
              </a:rPr>
              <a:t>❖ Permiten establecer una base sólida para luego profundizar en marcos más complejos como ITIL o ISO.</a:t>
            </a:r>
            <a:endParaRPr sz="1200">
              <a:solidFill>
                <a:schemeClr val="dk2"/>
              </a:solidFill>
            </a:endParaRPr>
          </a:p>
          <a:p>
            <a:pPr marL="0" lvl="0" indent="0" algn="just" rtl="0">
              <a:lnSpc>
                <a:spcPct val="200000"/>
              </a:lnSpc>
              <a:spcBef>
                <a:spcPts val="0"/>
              </a:spcBef>
              <a:spcAft>
                <a:spcPts val="0"/>
              </a:spcAft>
              <a:buNone/>
            </a:pPr>
            <a:r>
              <a:rPr lang="es" sz="1200">
                <a:solidFill>
                  <a:schemeClr val="dk2"/>
                </a:solidFill>
              </a:rPr>
              <a:t>❖ FitSM puede actuar como paso previo hacia certificaciones formales.</a:t>
            </a:r>
            <a:endParaRPr sz="1200">
              <a:solidFill>
                <a:schemeClr val="dk2"/>
              </a:solidFill>
            </a:endParaRPr>
          </a:p>
        </p:txBody>
      </p:sp>
      <p:pic>
        <p:nvPicPr>
          <p:cNvPr id="77" name="Google Shape;77;p16"/>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78" name="Google Shape;78;p16"/>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83" name="Google Shape;83;p17"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sp>
        <p:nvSpPr>
          <p:cNvPr id="84" name="Google Shape;84;p17"/>
          <p:cNvSpPr/>
          <p:nvPr/>
        </p:nvSpPr>
        <p:spPr>
          <a:xfrm>
            <a:off x="622951" y="810200"/>
            <a:ext cx="6425400" cy="2769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Clr>
                <a:schemeClr val="dk1"/>
              </a:buClr>
              <a:buSzPts val="1100"/>
              <a:buFont typeface="Arial"/>
              <a:buNone/>
            </a:pPr>
            <a:r>
              <a:rPr lang="es" b="1">
                <a:solidFill>
                  <a:schemeClr val="dk2"/>
                </a:solidFill>
              </a:rPr>
              <a:t>¿Qué es  FitSM?</a:t>
            </a:r>
            <a:endParaRPr sz="1500" b="1" i="0" u="none" strike="noStrike" cap="none">
              <a:solidFill>
                <a:schemeClr val="dk2"/>
              </a:solidFill>
              <a:latin typeface="Arial"/>
              <a:ea typeface="Arial"/>
              <a:cs typeface="Arial"/>
              <a:sym typeface="Arial"/>
            </a:endParaRPr>
          </a:p>
        </p:txBody>
      </p:sp>
      <p:pic>
        <p:nvPicPr>
          <p:cNvPr id="85" name="Google Shape;85;p17"/>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86" name="Google Shape;86;p17"/>
          <p:cNvSpPr txBox="1"/>
          <p:nvPr/>
        </p:nvSpPr>
        <p:spPr>
          <a:xfrm>
            <a:off x="614600" y="1276775"/>
            <a:ext cx="8254200" cy="2012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s" sz="1200" i="1">
                <a:solidFill>
                  <a:schemeClr val="dk2"/>
                </a:solidFill>
              </a:rPr>
              <a:t>❖ Marco ligero de gestión de servicios de TI.</a:t>
            </a:r>
            <a:endParaRPr sz="1200" i="1">
              <a:solidFill>
                <a:schemeClr val="dk2"/>
              </a:solidFill>
            </a:endParaRPr>
          </a:p>
          <a:p>
            <a:pPr marL="0" lvl="0" indent="0" algn="l" rtl="0">
              <a:lnSpc>
                <a:spcPct val="115000"/>
              </a:lnSpc>
              <a:spcBef>
                <a:spcPts val="1200"/>
              </a:spcBef>
              <a:spcAft>
                <a:spcPts val="0"/>
              </a:spcAft>
              <a:buClr>
                <a:schemeClr val="dk1"/>
              </a:buClr>
              <a:buSzPts val="1100"/>
              <a:buFont typeface="Arial"/>
              <a:buNone/>
            </a:pPr>
            <a:r>
              <a:rPr lang="es" sz="1200" i="1">
                <a:solidFill>
                  <a:schemeClr val="dk2"/>
                </a:solidFill>
              </a:rPr>
              <a:t>❖ Desarrollado con apoyo de la Comisión Europea.</a:t>
            </a:r>
            <a:endParaRPr sz="1200" i="1">
              <a:solidFill>
                <a:schemeClr val="dk2"/>
              </a:solidFill>
            </a:endParaRPr>
          </a:p>
          <a:p>
            <a:pPr marL="0" lvl="0" indent="0" algn="l" rtl="0">
              <a:lnSpc>
                <a:spcPct val="115000"/>
              </a:lnSpc>
              <a:spcBef>
                <a:spcPts val="1200"/>
              </a:spcBef>
              <a:spcAft>
                <a:spcPts val="0"/>
              </a:spcAft>
              <a:buClr>
                <a:schemeClr val="dk1"/>
              </a:buClr>
              <a:buSzPts val="1100"/>
              <a:buFont typeface="Arial"/>
              <a:buNone/>
            </a:pPr>
            <a:r>
              <a:rPr lang="es" sz="1200" i="1">
                <a:solidFill>
                  <a:schemeClr val="dk2"/>
                </a:solidFill>
              </a:rPr>
              <a:t>❖ Enfocado en la simplicidad, claridad y agilidad.</a:t>
            </a:r>
            <a:endParaRPr sz="1200" i="1">
              <a:solidFill>
                <a:schemeClr val="dk2"/>
              </a:solidFill>
            </a:endParaRPr>
          </a:p>
          <a:p>
            <a:pPr marL="0" lvl="0" indent="0" algn="l" rtl="0">
              <a:lnSpc>
                <a:spcPct val="115000"/>
              </a:lnSpc>
              <a:spcBef>
                <a:spcPts val="1200"/>
              </a:spcBef>
              <a:spcAft>
                <a:spcPts val="0"/>
              </a:spcAft>
              <a:buClr>
                <a:schemeClr val="dk1"/>
              </a:buClr>
              <a:buSzPts val="1100"/>
              <a:buFont typeface="Arial"/>
              <a:buNone/>
            </a:pPr>
            <a:r>
              <a:rPr lang="es" sz="1200" i="1">
                <a:solidFill>
                  <a:schemeClr val="dk2"/>
                </a:solidFill>
              </a:rPr>
              <a:t>❖ Ideal para organizaciones sin estructura formal o con recursos limitados.</a:t>
            </a:r>
            <a:endParaRPr sz="1200" i="1">
              <a:solidFill>
                <a:schemeClr val="dk2"/>
              </a:solidFill>
            </a:endParaRPr>
          </a:p>
          <a:p>
            <a:pPr marL="0" lvl="0" indent="0" algn="l" rtl="0">
              <a:lnSpc>
                <a:spcPct val="115000"/>
              </a:lnSpc>
              <a:spcBef>
                <a:spcPts val="1200"/>
              </a:spcBef>
              <a:spcAft>
                <a:spcPts val="1200"/>
              </a:spcAft>
              <a:buClr>
                <a:schemeClr val="dk1"/>
              </a:buClr>
              <a:buSzPts val="1100"/>
              <a:buFont typeface="Arial"/>
              <a:buNone/>
            </a:pPr>
            <a:r>
              <a:rPr lang="es" sz="1200" i="1">
                <a:solidFill>
                  <a:schemeClr val="dk2"/>
                </a:solidFill>
              </a:rPr>
              <a:t>❖ Promueve la mejora continua sin burocracia excesiva.</a:t>
            </a:r>
            <a:endParaRPr sz="1200" i="1">
              <a:solidFill>
                <a:schemeClr val="dk2"/>
              </a:solidFill>
            </a:endParaRPr>
          </a:p>
        </p:txBody>
      </p:sp>
      <p:sp>
        <p:nvSpPr>
          <p:cNvPr id="87" name="Google Shape;87;p17"/>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8"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sp>
        <p:nvSpPr>
          <p:cNvPr id="93" name="Google Shape;93;p18"/>
          <p:cNvSpPr/>
          <p:nvPr/>
        </p:nvSpPr>
        <p:spPr>
          <a:xfrm>
            <a:off x="622951" y="810200"/>
            <a:ext cx="6224400" cy="2769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Clr>
                <a:schemeClr val="dk1"/>
              </a:buClr>
              <a:buSzPts val="1100"/>
              <a:buFont typeface="Arial"/>
              <a:buNone/>
            </a:pPr>
            <a:r>
              <a:rPr lang="es" b="1">
                <a:solidFill>
                  <a:schemeClr val="dk2"/>
                </a:solidFill>
              </a:rPr>
              <a:t>Componentes y estructura de FitSM</a:t>
            </a:r>
            <a:endParaRPr sz="1500" b="1" i="0" u="none" strike="noStrike" cap="none">
              <a:solidFill>
                <a:schemeClr val="dk2"/>
              </a:solidFill>
              <a:latin typeface="Arial"/>
              <a:ea typeface="Arial"/>
              <a:cs typeface="Arial"/>
              <a:sym typeface="Arial"/>
            </a:endParaRPr>
          </a:p>
        </p:txBody>
      </p:sp>
      <p:pic>
        <p:nvPicPr>
          <p:cNvPr id="94" name="Google Shape;94;p18"/>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95" name="Google Shape;95;p18"/>
          <p:cNvSpPr txBox="1"/>
          <p:nvPr/>
        </p:nvSpPr>
        <p:spPr>
          <a:xfrm>
            <a:off x="622950" y="1257900"/>
            <a:ext cx="7917900" cy="2743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s" sz="1200">
                <a:solidFill>
                  <a:schemeClr val="dk2"/>
                </a:solidFill>
              </a:rPr>
              <a:t>❖ FitSM está compuesto por:</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Documentación estándar (requisitos, vocabulario, roles).</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Ayudas para implementación (plantillas, guías, esquemas de madurez).</a:t>
            </a:r>
            <a:endParaRPr sz="1200">
              <a:solidFill>
                <a:schemeClr val="dk2"/>
              </a:solidFill>
            </a:endParaRPr>
          </a:p>
          <a:p>
            <a:pPr marL="0" lvl="0" indent="0" algn="l" rtl="0">
              <a:lnSpc>
                <a:spcPct val="115000"/>
              </a:lnSpc>
              <a:spcBef>
                <a:spcPts val="1200"/>
              </a:spcBef>
              <a:spcAft>
                <a:spcPts val="0"/>
              </a:spcAft>
              <a:buNone/>
            </a:pP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Incluye 14 procesos (más simples que ITIL):</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Gestión de incidentes, problemas, cambios, configuración, niveles de servicio, etc.</a:t>
            </a:r>
            <a:endParaRPr sz="1200">
              <a:solidFill>
                <a:schemeClr val="dk2"/>
              </a:solidFill>
            </a:endParaRPr>
          </a:p>
          <a:p>
            <a:pPr marL="0" lvl="0" indent="0" algn="l" rtl="0">
              <a:lnSpc>
                <a:spcPct val="115000"/>
              </a:lnSpc>
              <a:spcBef>
                <a:spcPts val="1200"/>
              </a:spcBef>
              <a:spcAft>
                <a:spcPts val="1200"/>
              </a:spcAft>
              <a:buNone/>
            </a:pPr>
            <a:r>
              <a:rPr lang="es" sz="1200">
                <a:solidFill>
                  <a:schemeClr val="dk2"/>
                </a:solidFill>
              </a:rPr>
              <a:t>     ➢ Mejora continua como eje transversal.</a:t>
            </a:r>
            <a:endParaRPr sz="1200">
              <a:solidFill>
                <a:schemeClr val="dk2"/>
              </a:solidFill>
            </a:endParaRPr>
          </a:p>
        </p:txBody>
      </p:sp>
      <p:sp>
        <p:nvSpPr>
          <p:cNvPr id="96" name="Google Shape;96;p18"/>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19"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sp>
        <p:nvSpPr>
          <p:cNvPr id="102" name="Google Shape;102;p19"/>
          <p:cNvSpPr/>
          <p:nvPr/>
        </p:nvSpPr>
        <p:spPr>
          <a:xfrm>
            <a:off x="622951" y="810200"/>
            <a:ext cx="6224400" cy="2769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Clr>
                <a:schemeClr val="dk1"/>
              </a:buClr>
              <a:buSzPts val="1100"/>
              <a:buFont typeface="Arial"/>
              <a:buNone/>
            </a:pPr>
            <a:r>
              <a:rPr lang="es" b="1">
                <a:solidFill>
                  <a:schemeClr val="dk2"/>
                </a:solidFill>
              </a:rPr>
              <a:t>Componentes de FitSM</a:t>
            </a:r>
            <a:endParaRPr sz="1500" b="1" i="0" u="none" strike="noStrike" cap="none">
              <a:solidFill>
                <a:schemeClr val="dk2"/>
              </a:solidFill>
              <a:latin typeface="Arial"/>
              <a:ea typeface="Arial"/>
              <a:cs typeface="Arial"/>
              <a:sym typeface="Arial"/>
            </a:endParaRPr>
          </a:p>
        </p:txBody>
      </p:sp>
      <p:pic>
        <p:nvPicPr>
          <p:cNvPr id="103" name="Google Shape;103;p19"/>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104" name="Google Shape;104;p19"/>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pic>
        <p:nvPicPr>
          <p:cNvPr id="105" name="Google Shape;105;p19"/>
          <p:cNvPicPr preferRelativeResize="0"/>
          <p:nvPr/>
        </p:nvPicPr>
        <p:blipFill>
          <a:blip r:embed="rId5">
            <a:alphaModFix/>
          </a:blip>
          <a:stretch>
            <a:fillRect/>
          </a:stretch>
        </p:blipFill>
        <p:spPr>
          <a:xfrm>
            <a:off x="2300701" y="1239500"/>
            <a:ext cx="4964226" cy="30591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0"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pic>
        <p:nvPicPr>
          <p:cNvPr id="111" name="Google Shape;111;p20" descr="C:\Users\Idiomas\Downloads\Fadena-Negativo-FondoClaro (1).png"/>
          <p:cNvPicPr preferRelativeResize="0"/>
          <p:nvPr/>
        </p:nvPicPr>
        <p:blipFill rotWithShape="1">
          <a:blip r:embed="rId3">
            <a:alphaModFix/>
          </a:blip>
          <a:srcRect/>
          <a:stretch/>
        </p:blipFill>
        <p:spPr>
          <a:xfrm>
            <a:off x="1053413" y="3648817"/>
            <a:ext cx="2094466" cy="586452"/>
          </a:xfrm>
          <a:prstGeom prst="rect">
            <a:avLst/>
          </a:prstGeom>
          <a:noFill/>
          <a:ln>
            <a:noFill/>
          </a:ln>
        </p:spPr>
      </p:pic>
      <p:sp>
        <p:nvSpPr>
          <p:cNvPr id="112" name="Google Shape;112;p20"/>
          <p:cNvSpPr/>
          <p:nvPr/>
        </p:nvSpPr>
        <p:spPr>
          <a:xfrm>
            <a:off x="622948" y="810200"/>
            <a:ext cx="4150200" cy="2769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Clr>
                <a:schemeClr val="dk1"/>
              </a:buClr>
              <a:buSzPts val="1100"/>
              <a:buFont typeface="Arial"/>
              <a:buNone/>
            </a:pPr>
            <a:r>
              <a:rPr lang="es" b="1">
                <a:solidFill>
                  <a:schemeClr val="dk2"/>
                </a:solidFill>
              </a:rPr>
              <a:t>Roles y herramientas en FitSM</a:t>
            </a:r>
            <a:endParaRPr b="1" i="0" u="none" strike="noStrike" cap="none">
              <a:solidFill>
                <a:schemeClr val="dk2"/>
              </a:solidFill>
              <a:latin typeface="Arial"/>
              <a:ea typeface="Arial"/>
              <a:cs typeface="Arial"/>
              <a:sym typeface="Arial"/>
            </a:endParaRPr>
          </a:p>
        </p:txBody>
      </p:sp>
      <p:pic>
        <p:nvPicPr>
          <p:cNvPr id="113" name="Google Shape;113;p20"/>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114" name="Google Shape;114;p20"/>
          <p:cNvSpPr txBox="1"/>
          <p:nvPr/>
        </p:nvSpPr>
        <p:spPr>
          <a:xfrm>
            <a:off x="614600" y="1169850"/>
            <a:ext cx="7566300" cy="347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s" sz="1200">
                <a:solidFill>
                  <a:schemeClr val="dk2"/>
                </a:solidFill>
              </a:rPr>
              <a:t>❖ Roles principales en FitSM:</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Service Owner – Responsable funcional del servicio.</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Process Owner – Responsable de cada proceso.</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Service Manager – Supervisa cumplimiento transversal.</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Herramientas listas para usar:</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Catálogos de servicios</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Acuerdos de nivel de servicio (SLA)</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Modelos de madurez</a:t>
            </a:r>
            <a:endParaRPr sz="1200">
              <a:solidFill>
                <a:schemeClr val="dk2"/>
              </a:solidFill>
            </a:endParaRPr>
          </a:p>
          <a:p>
            <a:pPr marL="0" lvl="0" indent="0" algn="l" rtl="0">
              <a:lnSpc>
                <a:spcPct val="115000"/>
              </a:lnSpc>
              <a:spcBef>
                <a:spcPts val="1200"/>
              </a:spcBef>
              <a:spcAft>
                <a:spcPts val="1200"/>
              </a:spcAft>
              <a:buNone/>
            </a:pPr>
            <a:r>
              <a:rPr lang="es" sz="1200">
                <a:solidFill>
                  <a:schemeClr val="dk2"/>
                </a:solidFill>
              </a:rPr>
              <a:t>     ➢ Plantillas operativas</a:t>
            </a:r>
            <a:endParaRPr sz="1200">
              <a:solidFill>
                <a:schemeClr val="dk2"/>
              </a:solidFill>
            </a:endParaRPr>
          </a:p>
        </p:txBody>
      </p:sp>
      <p:sp>
        <p:nvSpPr>
          <p:cNvPr id="115" name="Google Shape;115;p20"/>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21"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pic>
        <p:nvPicPr>
          <p:cNvPr id="121" name="Google Shape;121;p21" descr="C:\Users\Idiomas\Downloads\Fadena-Negativo-FondoClaro (1).png"/>
          <p:cNvPicPr preferRelativeResize="0"/>
          <p:nvPr/>
        </p:nvPicPr>
        <p:blipFill rotWithShape="1">
          <a:blip r:embed="rId3">
            <a:alphaModFix/>
          </a:blip>
          <a:srcRect/>
          <a:stretch/>
        </p:blipFill>
        <p:spPr>
          <a:xfrm>
            <a:off x="1053413" y="3648817"/>
            <a:ext cx="2094466" cy="586452"/>
          </a:xfrm>
          <a:prstGeom prst="rect">
            <a:avLst/>
          </a:prstGeom>
          <a:noFill/>
          <a:ln>
            <a:noFill/>
          </a:ln>
        </p:spPr>
      </p:pic>
      <p:sp>
        <p:nvSpPr>
          <p:cNvPr id="122" name="Google Shape;122;p21"/>
          <p:cNvSpPr/>
          <p:nvPr/>
        </p:nvSpPr>
        <p:spPr>
          <a:xfrm>
            <a:off x="622950" y="810200"/>
            <a:ext cx="6087000" cy="2769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Clr>
                <a:schemeClr val="dk1"/>
              </a:buClr>
              <a:buSzPts val="1100"/>
              <a:buFont typeface="Arial"/>
              <a:buNone/>
            </a:pPr>
            <a:r>
              <a:rPr lang="es" b="1">
                <a:solidFill>
                  <a:schemeClr val="dk2"/>
                </a:solidFill>
              </a:rPr>
              <a:t>Cuándo aplicar FitSM</a:t>
            </a:r>
            <a:endParaRPr sz="1500" b="1" i="0" u="none" strike="noStrike" cap="none">
              <a:solidFill>
                <a:schemeClr val="dk2"/>
              </a:solidFill>
              <a:latin typeface="Arial"/>
              <a:ea typeface="Arial"/>
              <a:cs typeface="Arial"/>
              <a:sym typeface="Arial"/>
            </a:endParaRPr>
          </a:p>
        </p:txBody>
      </p:sp>
      <p:pic>
        <p:nvPicPr>
          <p:cNvPr id="123" name="Google Shape;123;p21"/>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124" name="Google Shape;124;p21"/>
          <p:cNvSpPr txBox="1"/>
          <p:nvPr/>
        </p:nvSpPr>
        <p:spPr>
          <a:xfrm>
            <a:off x="622950" y="1267200"/>
            <a:ext cx="7112100" cy="2012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s" sz="1200">
                <a:solidFill>
                  <a:schemeClr val="dk2"/>
                </a:solidFill>
              </a:rPr>
              <a:t>❖ Escenarios donde FitSM es especialmente útil:</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Soporte técnico sin procesos definidos.</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Migraciones sin documentación ni trazabilidad.</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Equipos reducidos que necesitan orden rápido.</a:t>
            </a:r>
            <a:endParaRPr sz="1200">
              <a:solidFill>
                <a:schemeClr val="dk2"/>
              </a:solidFill>
            </a:endParaRPr>
          </a:p>
          <a:p>
            <a:pPr marL="0" lvl="0" indent="0" algn="l" rtl="0">
              <a:lnSpc>
                <a:spcPct val="115000"/>
              </a:lnSpc>
              <a:spcBef>
                <a:spcPts val="1200"/>
              </a:spcBef>
              <a:spcAft>
                <a:spcPts val="1200"/>
              </a:spcAft>
              <a:buNone/>
            </a:pPr>
            <a:r>
              <a:rPr lang="es" sz="1200">
                <a:solidFill>
                  <a:schemeClr val="dk2"/>
                </a:solidFill>
              </a:rPr>
              <a:t>❖ También útil en entornos de defensa donde no hay un gobierno corporativo formal.</a:t>
            </a:r>
            <a:endParaRPr sz="1200">
              <a:solidFill>
                <a:schemeClr val="dk2"/>
              </a:solidFill>
            </a:endParaRPr>
          </a:p>
        </p:txBody>
      </p:sp>
      <p:sp>
        <p:nvSpPr>
          <p:cNvPr id="125" name="Google Shape;125;p21"/>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2"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pic>
        <p:nvPicPr>
          <p:cNvPr id="131" name="Google Shape;131;p22" descr="C:\Users\Idiomas\Downloads\Fadena-Negativo-FondoClaro (1).png"/>
          <p:cNvPicPr preferRelativeResize="0"/>
          <p:nvPr/>
        </p:nvPicPr>
        <p:blipFill rotWithShape="1">
          <a:blip r:embed="rId3">
            <a:alphaModFix/>
          </a:blip>
          <a:srcRect/>
          <a:stretch/>
        </p:blipFill>
        <p:spPr>
          <a:xfrm>
            <a:off x="1053413" y="3648817"/>
            <a:ext cx="2094466" cy="586452"/>
          </a:xfrm>
          <a:prstGeom prst="rect">
            <a:avLst/>
          </a:prstGeom>
          <a:noFill/>
          <a:ln>
            <a:noFill/>
          </a:ln>
        </p:spPr>
      </p:pic>
      <p:sp>
        <p:nvSpPr>
          <p:cNvPr id="132" name="Google Shape;132;p22"/>
          <p:cNvSpPr/>
          <p:nvPr/>
        </p:nvSpPr>
        <p:spPr>
          <a:xfrm>
            <a:off x="622951" y="810200"/>
            <a:ext cx="5271900" cy="2769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Clr>
                <a:schemeClr val="dk1"/>
              </a:buClr>
              <a:buSzPts val="1100"/>
              <a:buFont typeface="Arial"/>
              <a:buNone/>
            </a:pPr>
            <a:r>
              <a:rPr lang="es" sz="1300" b="1">
                <a:solidFill>
                  <a:schemeClr val="dk2"/>
                </a:solidFill>
              </a:rPr>
              <a:t>Ventajas de FitSM</a:t>
            </a:r>
            <a:endParaRPr sz="1400" b="1" i="0" u="none" strike="noStrike" cap="none">
              <a:solidFill>
                <a:schemeClr val="dk2"/>
              </a:solidFill>
              <a:latin typeface="Arial"/>
              <a:ea typeface="Arial"/>
              <a:cs typeface="Arial"/>
              <a:sym typeface="Arial"/>
            </a:endParaRPr>
          </a:p>
        </p:txBody>
      </p:sp>
      <p:pic>
        <p:nvPicPr>
          <p:cNvPr id="133" name="Google Shape;133;p22"/>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134" name="Google Shape;134;p22"/>
          <p:cNvSpPr txBox="1"/>
          <p:nvPr/>
        </p:nvSpPr>
        <p:spPr>
          <a:xfrm>
            <a:off x="614600" y="1267200"/>
            <a:ext cx="8392500" cy="2012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s" sz="1200">
                <a:solidFill>
                  <a:schemeClr val="dk2"/>
                </a:solidFill>
              </a:rPr>
              <a:t>❖ Bajo costo y rápida adopción.</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No requiere herramientas ni plataformas específicas.</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Fácil comunicación al equipo.</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Modular: se puede implementar por etapas.</a:t>
            </a:r>
            <a:endParaRPr sz="1200">
              <a:solidFill>
                <a:schemeClr val="dk2"/>
              </a:solidFill>
            </a:endParaRPr>
          </a:p>
          <a:p>
            <a:pPr marL="0" lvl="0" indent="0" algn="l" rtl="0">
              <a:lnSpc>
                <a:spcPct val="115000"/>
              </a:lnSpc>
              <a:spcBef>
                <a:spcPts val="1200"/>
              </a:spcBef>
              <a:spcAft>
                <a:spcPts val="1200"/>
              </a:spcAft>
              <a:buNone/>
            </a:pPr>
            <a:r>
              <a:rPr lang="es" sz="1200">
                <a:solidFill>
                  <a:schemeClr val="dk2"/>
                </a:solidFill>
              </a:rPr>
              <a:t>❖ Compatible con ISO/IEC 20000.</a:t>
            </a:r>
            <a:endParaRPr sz="1200">
              <a:solidFill>
                <a:schemeClr val="dk2"/>
              </a:solidFill>
            </a:endParaRPr>
          </a:p>
        </p:txBody>
      </p:sp>
      <p:sp>
        <p:nvSpPr>
          <p:cNvPr id="135" name="Google Shape;135;p22"/>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3"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pic>
        <p:nvPicPr>
          <p:cNvPr id="141" name="Google Shape;141;p23" descr="C:\Users\Idiomas\Downloads\Fadena-Negativo-FondoClaro (1).png"/>
          <p:cNvPicPr preferRelativeResize="0"/>
          <p:nvPr/>
        </p:nvPicPr>
        <p:blipFill rotWithShape="1">
          <a:blip r:embed="rId3">
            <a:alphaModFix/>
          </a:blip>
          <a:srcRect/>
          <a:stretch/>
        </p:blipFill>
        <p:spPr>
          <a:xfrm>
            <a:off x="1053413" y="3648817"/>
            <a:ext cx="2094466" cy="586452"/>
          </a:xfrm>
          <a:prstGeom prst="rect">
            <a:avLst/>
          </a:prstGeom>
          <a:noFill/>
          <a:ln>
            <a:noFill/>
          </a:ln>
        </p:spPr>
      </p:pic>
      <p:sp>
        <p:nvSpPr>
          <p:cNvPr id="142" name="Google Shape;142;p23"/>
          <p:cNvSpPr/>
          <p:nvPr/>
        </p:nvSpPr>
        <p:spPr>
          <a:xfrm>
            <a:off x="622951" y="810200"/>
            <a:ext cx="5197800" cy="2769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Clr>
                <a:schemeClr val="dk1"/>
              </a:buClr>
              <a:buSzPts val="1100"/>
              <a:buFont typeface="Arial"/>
              <a:buNone/>
            </a:pPr>
            <a:r>
              <a:rPr lang="es" b="1">
                <a:solidFill>
                  <a:schemeClr val="dk2"/>
                </a:solidFill>
              </a:rPr>
              <a:t>Introducción a COBIT</a:t>
            </a:r>
            <a:endParaRPr sz="1500" b="1" i="0" u="none" strike="noStrike" cap="none">
              <a:solidFill>
                <a:schemeClr val="dk2"/>
              </a:solidFill>
              <a:latin typeface="Arial"/>
              <a:ea typeface="Arial"/>
              <a:cs typeface="Arial"/>
              <a:sym typeface="Arial"/>
            </a:endParaRPr>
          </a:p>
        </p:txBody>
      </p:sp>
      <p:pic>
        <p:nvPicPr>
          <p:cNvPr id="143" name="Google Shape;143;p23"/>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144" name="Google Shape;144;p23"/>
          <p:cNvSpPr txBox="1"/>
          <p:nvPr/>
        </p:nvSpPr>
        <p:spPr>
          <a:xfrm>
            <a:off x="614600" y="1267200"/>
            <a:ext cx="8508900" cy="164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s" sz="1200">
                <a:solidFill>
                  <a:schemeClr val="dk2"/>
                </a:solidFill>
              </a:rPr>
              <a:t>❖ Marco de gobierno de TI desarrollado por ISACA.</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Enfocado en alinear TI con los objetivos del negocio.</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Aporta control, trazabilidad y evaluación de madurez.</a:t>
            </a:r>
            <a:endParaRPr sz="1200">
              <a:solidFill>
                <a:schemeClr val="dk2"/>
              </a:solidFill>
            </a:endParaRPr>
          </a:p>
          <a:p>
            <a:pPr marL="0" lvl="0" indent="0" algn="l" rtl="0">
              <a:lnSpc>
                <a:spcPct val="115000"/>
              </a:lnSpc>
              <a:spcBef>
                <a:spcPts val="1200"/>
              </a:spcBef>
              <a:spcAft>
                <a:spcPts val="1200"/>
              </a:spcAft>
              <a:buNone/>
            </a:pPr>
            <a:r>
              <a:rPr lang="es" sz="1200">
                <a:solidFill>
                  <a:schemeClr val="dk2"/>
                </a:solidFill>
              </a:rPr>
              <a:t>❖ Trabaja sobre la dirección estratégica, no la operación diaria.</a:t>
            </a:r>
            <a:endParaRPr sz="1200">
              <a:solidFill>
                <a:schemeClr val="dk2"/>
              </a:solidFill>
            </a:endParaRPr>
          </a:p>
        </p:txBody>
      </p:sp>
      <p:sp>
        <p:nvSpPr>
          <p:cNvPr id="145" name="Google Shape;145;p23"/>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24"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pic>
        <p:nvPicPr>
          <p:cNvPr id="151" name="Google Shape;151;p24" descr="C:\Users\Idiomas\Downloads\Fadena-Negativo-FondoClaro (1).png"/>
          <p:cNvPicPr preferRelativeResize="0"/>
          <p:nvPr/>
        </p:nvPicPr>
        <p:blipFill rotWithShape="1">
          <a:blip r:embed="rId3">
            <a:alphaModFix/>
          </a:blip>
          <a:srcRect/>
          <a:stretch/>
        </p:blipFill>
        <p:spPr>
          <a:xfrm>
            <a:off x="1053413" y="3648817"/>
            <a:ext cx="2094466" cy="586452"/>
          </a:xfrm>
          <a:prstGeom prst="rect">
            <a:avLst/>
          </a:prstGeom>
          <a:noFill/>
          <a:ln>
            <a:noFill/>
          </a:ln>
        </p:spPr>
      </p:pic>
      <p:sp>
        <p:nvSpPr>
          <p:cNvPr id="152" name="Google Shape;152;p24"/>
          <p:cNvSpPr/>
          <p:nvPr/>
        </p:nvSpPr>
        <p:spPr>
          <a:xfrm>
            <a:off x="622951" y="810200"/>
            <a:ext cx="5197800" cy="2769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Clr>
                <a:schemeClr val="dk1"/>
              </a:buClr>
              <a:buSzPts val="1100"/>
              <a:buFont typeface="Arial"/>
              <a:buNone/>
            </a:pPr>
            <a:r>
              <a:rPr lang="es" b="1">
                <a:solidFill>
                  <a:schemeClr val="dk2"/>
                </a:solidFill>
              </a:rPr>
              <a:t>Principios clave de COBIT</a:t>
            </a:r>
            <a:endParaRPr sz="1500" b="1" i="0" u="none" strike="noStrike" cap="none">
              <a:solidFill>
                <a:schemeClr val="dk2"/>
              </a:solidFill>
              <a:latin typeface="Arial"/>
              <a:ea typeface="Arial"/>
              <a:cs typeface="Arial"/>
              <a:sym typeface="Arial"/>
            </a:endParaRPr>
          </a:p>
        </p:txBody>
      </p:sp>
      <p:pic>
        <p:nvPicPr>
          <p:cNvPr id="153" name="Google Shape;153;p24"/>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154" name="Google Shape;154;p24"/>
          <p:cNvSpPr txBox="1"/>
          <p:nvPr/>
        </p:nvSpPr>
        <p:spPr>
          <a:xfrm>
            <a:off x="614600" y="1267200"/>
            <a:ext cx="8508900" cy="2012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s" sz="1200">
                <a:solidFill>
                  <a:schemeClr val="dk2"/>
                </a:solidFill>
              </a:rPr>
              <a:t>❖ Satisfacer necesidades de los stakeholders.</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Cubrir toda la organización, no solo TI.</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Integrar marcos existentes (ITIL, ISO, DevOps).</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Enfoque holístico: procesos, estructuras, cultura, habilidades.</a:t>
            </a:r>
            <a:endParaRPr sz="1200">
              <a:solidFill>
                <a:schemeClr val="dk2"/>
              </a:solidFill>
            </a:endParaRPr>
          </a:p>
          <a:p>
            <a:pPr marL="0" lvl="0" indent="0" algn="l" rtl="0">
              <a:lnSpc>
                <a:spcPct val="115000"/>
              </a:lnSpc>
              <a:spcBef>
                <a:spcPts val="1200"/>
              </a:spcBef>
              <a:spcAft>
                <a:spcPts val="1200"/>
              </a:spcAft>
              <a:buNone/>
            </a:pPr>
            <a:r>
              <a:rPr lang="es" sz="1200">
                <a:solidFill>
                  <a:schemeClr val="dk2"/>
                </a:solidFill>
              </a:rPr>
              <a:t>❖ Separación clara entre gobernanza y gestión.</a:t>
            </a:r>
            <a:endParaRPr sz="1200">
              <a:solidFill>
                <a:schemeClr val="dk2"/>
              </a:solidFill>
            </a:endParaRPr>
          </a:p>
        </p:txBody>
      </p:sp>
      <p:sp>
        <p:nvSpPr>
          <p:cNvPr id="155" name="Google Shape;155;p24"/>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25"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pic>
        <p:nvPicPr>
          <p:cNvPr id="161" name="Google Shape;161;p25" descr="C:\Users\Idiomas\Downloads\Fadena-Negativo-FondoClaro (1).png"/>
          <p:cNvPicPr preferRelativeResize="0"/>
          <p:nvPr/>
        </p:nvPicPr>
        <p:blipFill rotWithShape="1">
          <a:blip r:embed="rId3">
            <a:alphaModFix/>
          </a:blip>
          <a:srcRect/>
          <a:stretch/>
        </p:blipFill>
        <p:spPr>
          <a:xfrm>
            <a:off x="1053413" y="3648817"/>
            <a:ext cx="2094466" cy="586452"/>
          </a:xfrm>
          <a:prstGeom prst="rect">
            <a:avLst/>
          </a:prstGeom>
          <a:noFill/>
          <a:ln>
            <a:noFill/>
          </a:ln>
        </p:spPr>
      </p:pic>
      <p:sp>
        <p:nvSpPr>
          <p:cNvPr id="162" name="Google Shape;162;p25"/>
          <p:cNvSpPr/>
          <p:nvPr/>
        </p:nvSpPr>
        <p:spPr>
          <a:xfrm>
            <a:off x="622951" y="810200"/>
            <a:ext cx="5197800" cy="2769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Clr>
                <a:schemeClr val="dk1"/>
              </a:buClr>
              <a:buSzPts val="1100"/>
              <a:buFont typeface="Arial"/>
              <a:buNone/>
            </a:pPr>
            <a:r>
              <a:rPr lang="es" b="1">
                <a:solidFill>
                  <a:schemeClr val="dk2"/>
                </a:solidFill>
              </a:rPr>
              <a:t>Componentes de COBIT</a:t>
            </a:r>
            <a:endParaRPr sz="1500" b="1" i="0" u="none" strike="noStrike" cap="none">
              <a:solidFill>
                <a:schemeClr val="dk2"/>
              </a:solidFill>
              <a:latin typeface="Arial"/>
              <a:ea typeface="Arial"/>
              <a:cs typeface="Arial"/>
              <a:sym typeface="Arial"/>
            </a:endParaRPr>
          </a:p>
        </p:txBody>
      </p:sp>
      <p:pic>
        <p:nvPicPr>
          <p:cNvPr id="163" name="Google Shape;163;p25"/>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164" name="Google Shape;164;p25"/>
          <p:cNvSpPr txBox="1"/>
          <p:nvPr/>
        </p:nvSpPr>
        <p:spPr>
          <a:xfrm>
            <a:off x="614600" y="1267200"/>
            <a:ext cx="8508900" cy="164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s" sz="1200">
                <a:solidFill>
                  <a:schemeClr val="dk2"/>
                </a:solidFill>
              </a:rPr>
              <a:t>❖ Objetivos de gobierno y gestión (más de 40).</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Habilitadores (procesos, estructuras, comportamiento, información).</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Modelo de madurez: niveles de capacidad del 0 al 5.</a:t>
            </a:r>
            <a:endParaRPr sz="1200">
              <a:solidFill>
                <a:schemeClr val="dk2"/>
              </a:solidFill>
            </a:endParaRPr>
          </a:p>
          <a:p>
            <a:pPr marL="0" lvl="0" indent="0" algn="l" rtl="0">
              <a:lnSpc>
                <a:spcPct val="115000"/>
              </a:lnSpc>
              <a:spcBef>
                <a:spcPts val="1200"/>
              </a:spcBef>
              <a:spcAft>
                <a:spcPts val="1200"/>
              </a:spcAft>
              <a:buNone/>
            </a:pPr>
            <a:r>
              <a:rPr lang="es" sz="1200">
                <a:solidFill>
                  <a:schemeClr val="dk2"/>
                </a:solidFill>
              </a:rPr>
              <a:t>❖ Útil en auditorías, planes de mejora y toma de decisiones.</a:t>
            </a:r>
            <a:endParaRPr sz="1200">
              <a:solidFill>
                <a:schemeClr val="dk2"/>
              </a:solidFill>
            </a:endParaRPr>
          </a:p>
        </p:txBody>
      </p:sp>
      <p:sp>
        <p:nvSpPr>
          <p:cNvPr id="165" name="Google Shape;165;p25"/>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0" name="Google Shape;170;p26"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pic>
        <p:nvPicPr>
          <p:cNvPr id="171" name="Google Shape;171;p26" descr="C:\Users\Idiomas\Downloads\Fadena-Negativo-FondoClaro (1).png"/>
          <p:cNvPicPr preferRelativeResize="0"/>
          <p:nvPr/>
        </p:nvPicPr>
        <p:blipFill rotWithShape="1">
          <a:blip r:embed="rId3">
            <a:alphaModFix/>
          </a:blip>
          <a:srcRect/>
          <a:stretch/>
        </p:blipFill>
        <p:spPr>
          <a:xfrm>
            <a:off x="1053413" y="3648817"/>
            <a:ext cx="2094466" cy="586452"/>
          </a:xfrm>
          <a:prstGeom prst="rect">
            <a:avLst/>
          </a:prstGeom>
          <a:noFill/>
          <a:ln>
            <a:noFill/>
          </a:ln>
        </p:spPr>
      </p:pic>
      <p:sp>
        <p:nvSpPr>
          <p:cNvPr id="172" name="Google Shape;172;p26"/>
          <p:cNvSpPr/>
          <p:nvPr/>
        </p:nvSpPr>
        <p:spPr>
          <a:xfrm>
            <a:off x="622951" y="810200"/>
            <a:ext cx="5197800" cy="2769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Clr>
                <a:schemeClr val="dk1"/>
              </a:buClr>
              <a:buSzPts val="1100"/>
              <a:buFont typeface="Arial"/>
              <a:buNone/>
            </a:pPr>
            <a:r>
              <a:rPr lang="es" b="1">
                <a:solidFill>
                  <a:schemeClr val="dk2"/>
                </a:solidFill>
              </a:rPr>
              <a:t>Cuándo aplicar COBIT</a:t>
            </a:r>
            <a:endParaRPr sz="1500" b="1" i="0" u="none" strike="noStrike" cap="none">
              <a:solidFill>
                <a:schemeClr val="dk2"/>
              </a:solidFill>
              <a:latin typeface="Arial"/>
              <a:ea typeface="Arial"/>
              <a:cs typeface="Arial"/>
              <a:sym typeface="Arial"/>
            </a:endParaRPr>
          </a:p>
        </p:txBody>
      </p:sp>
      <p:pic>
        <p:nvPicPr>
          <p:cNvPr id="173" name="Google Shape;173;p26"/>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174" name="Google Shape;174;p26"/>
          <p:cNvSpPr txBox="1"/>
          <p:nvPr/>
        </p:nvSpPr>
        <p:spPr>
          <a:xfrm>
            <a:off x="614600" y="1267200"/>
            <a:ext cx="8508900" cy="1281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s" sz="1200">
                <a:solidFill>
                  <a:schemeClr val="dk2"/>
                </a:solidFill>
              </a:rPr>
              <a:t>❖ Organismos públicos o empresas grandes que requieren trazabilidad.</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Necesidad de justificar inversiones tecnológicas.</a:t>
            </a:r>
            <a:endParaRPr sz="1200">
              <a:solidFill>
                <a:schemeClr val="dk2"/>
              </a:solidFill>
            </a:endParaRPr>
          </a:p>
          <a:p>
            <a:pPr marL="0" lvl="0" indent="0" algn="l" rtl="0">
              <a:lnSpc>
                <a:spcPct val="115000"/>
              </a:lnSpc>
              <a:spcBef>
                <a:spcPts val="1200"/>
              </a:spcBef>
              <a:spcAft>
                <a:spcPts val="1200"/>
              </a:spcAft>
              <a:buNone/>
            </a:pPr>
            <a:r>
              <a:rPr lang="es" sz="1200">
                <a:solidFill>
                  <a:schemeClr val="dk2"/>
                </a:solidFill>
              </a:rPr>
              <a:t>❖ Entornos con cumplimiento normativo, riesgos y múltiples marcos coexistentes.</a:t>
            </a:r>
            <a:endParaRPr sz="1200">
              <a:solidFill>
                <a:schemeClr val="dk2"/>
              </a:solidFill>
            </a:endParaRPr>
          </a:p>
        </p:txBody>
      </p:sp>
      <p:sp>
        <p:nvSpPr>
          <p:cNvPr id="175" name="Google Shape;175;p26"/>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80" name="Google Shape;180;p27"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pic>
        <p:nvPicPr>
          <p:cNvPr id="181" name="Google Shape;181;p27" descr="C:\Users\Idiomas\Downloads\Fadena-Negativo-FondoClaro (1).png"/>
          <p:cNvPicPr preferRelativeResize="0"/>
          <p:nvPr/>
        </p:nvPicPr>
        <p:blipFill rotWithShape="1">
          <a:blip r:embed="rId3">
            <a:alphaModFix/>
          </a:blip>
          <a:srcRect/>
          <a:stretch/>
        </p:blipFill>
        <p:spPr>
          <a:xfrm>
            <a:off x="1053413" y="3648817"/>
            <a:ext cx="2094466" cy="586452"/>
          </a:xfrm>
          <a:prstGeom prst="rect">
            <a:avLst/>
          </a:prstGeom>
          <a:noFill/>
          <a:ln>
            <a:noFill/>
          </a:ln>
        </p:spPr>
      </p:pic>
      <p:sp>
        <p:nvSpPr>
          <p:cNvPr id="182" name="Google Shape;182;p27"/>
          <p:cNvSpPr/>
          <p:nvPr/>
        </p:nvSpPr>
        <p:spPr>
          <a:xfrm>
            <a:off x="622951" y="810200"/>
            <a:ext cx="5197800" cy="2769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Clr>
                <a:schemeClr val="dk1"/>
              </a:buClr>
              <a:buSzPts val="1100"/>
              <a:buFont typeface="Arial"/>
              <a:buNone/>
            </a:pPr>
            <a:r>
              <a:rPr lang="es" sz="1500" b="1">
                <a:solidFill>
                  <a:schemeClr val="dk2"/>
                </a:solidFill>
              </a:rPr>
              <a:t>Caso práctico: FitSM vs COBIT</a:t>
            </a:r>
            <a:endParaRPr sz="1500" b="1" i="0" u="none" strike="noStrike" cap="none">
              <a:solidFill>
                <a:schemeClr val="dk2"/>
              </a:solidFill>
              <a:latin typeface="Arial"/>
              <a:ea typeface="Arial"/>
              <a:cs typeface="Arial"/>
              <a:sym typeface="Arial"/>
            </a:endParaRPr>
          </a:p>
        </p:txBody>
      </p:sp>
      <p:pic>
        <p:nvPicPr>
          <p:cNvPr id="183" name="Google Shape;183;p27"/>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184" name="Google Shape;184;p27"/>
          <p:cNvSpPr txBox="1"/>
          <p:nvPr/>
        </p:nvSpPr>
        <p:spPr>
          <a:xfrm>
            <a:off x="614600" y="1267200"/>
            <a:ext cx="8508900" cy="3167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s" sz="1200">
                <a:solidFill>
                  <a:schemeClr val="dk2"/>
                </a:solidFill>
              </a:rPr>
              <a:t>Empresa de logística con 100 empleados.</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Con FitSM:</a:t>
            </a:r>
            <a:endParaRPr sz="1200">
              <a:solidFill>
                <a:schemeClr val="dk2"/>
              </a:solidFill>
            </a:endParaRPr>
          </a:p>
          <a:p>
            <a:pPr marL="457200" lvl="0" indent="-304800" algn="l" rtl="0">
              <a:lnSpc>
                <a:spcPct val="115000"/>
              </a:lnSpc>
              <a:spcBef>
                <a:spcPts val="1200"/>
              </a:spcBef>
              <a:spcAft>
                <a:spcPts val="0"/>
              </a:spcAft>
              <a:buClr>
                <a:schemeClr val="dk2"/>
              </a:buClr>
              <a:buSzPts val="1200"/>
              <a:buChar char="-"/>
            </a:pPr>
            <a:r>
              <a:rPr lang="es" sz="1200">
                <a:solidFill>
                  <a:schemeClr val="dk2"/>
                </a:solidFill>
              </a:rPr>
              <a:t>Define incidentes, roles, plantillas.</a:t>
            </a:r>
            <a:endParaRPr sz="1200">
              <a:solidFill>
                <a:schemeClr val="dk2"/>
              </a:solidFill>
            </a:endParaRPr>
          </a:p>
          <a:p>
            <a:pPr marL="457200" lvl="0" indent="-304800" algn="l" rtl="0">
              <a:lnSpc>
                <a:spcPct val="115000"/>
              </a:lnSpc>
              <a:spcBef>
                <a:spcPts val="0"/>
              </a:spcBef>
              <a:spcAft>
                <a:spcPts val="0"/>
              </a:spcAft>
              <a:buClr>
                <a:schemeClr val="dk2"/>
              </a:buClr>
              <a:buSzPts val="1200"/>
              <a:buChar char="-"/>
            </a:pPr>
            <a:r>
              <a:rPr lang="es" sz="1200">
                <a:solidFill>
                  <a:schemeClr val="dk2"/>
                </a:solidFill>
              </a:rPr>
              <a:t>Mejora la operación.</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Con COBIT:</a:t>
            </a:r>
            <a:endParaRPr sz="1200">
              <a:solidFill>
                <a:schemeClr val="dk2"/>
              </a:solidFill>
            </a:endParaRPr>
          </a:p>
          <a:p>
            <a:pPr marL="457200" lvl="0" indent="-304800" algn="l" rtl="0">
              <a:lnSpc>
                <a:spcPct val="115000"/>
              </a:lnSpc>
              <a:spcBef>
                <a:spcPts val="1200"/>
              </a:spcBef>
              <a:spcAft>
                <a:spcPts val="0"/>
              </a:spcAft>
              <a:buClr>
                <a:schemeClr val="dk2"/>
              </a:buClr>
              <a:buSzPts val="1200"/>
              <a:buChar char="-"/>
            </a:pPr>
            <a:r>
              <a:rPr lang="es" sz="1200">
                <a:solidFill>
                  <a:schemeClr val="dk2"/>
                </a:solidFill>
              </a:rPr>
              <a:t>Evalúa madurez, alinea TI con el negocio.</a:t>
            </a:r>
            <a:endParaRPr sz="1200">
              <a:solidFill>
                <a:schemeClr val="dk2"/>
              </a:solidFill>
            </a:endParaRPr>
          </a:p>
          <a:p>
            <a:pPr marL="457200" lvl="0" indent="-304800" algn="l" rtl="0">
              <a:lnSpc>
                <a:spcPct val="115000"/>
              </a:lnSpc>
              <a:spcBef>
                <a:spcPts val="0"/>
              </a:spcBef>
              <a:spcAft>
                <a:spcPts val="0"/>
              </a:spcAft>
              <a:buClr>
                <a:schemeClr val="dk2"/>
              </a:buClr>
              <a:buSzPts val="1200"/>
              <a:buChar char="-"/>
            </a:pPr>
            <a:r>
              <a:rPr lang="es" sz="1200">
                <a:solidFill>
                  <a:schemeClr val="dk2"/>
                </a:solidFill>
              </a:rPr>
              <a:t> Define políticas y controles.</a:t>
            </a:r>
            <a:endParaRPr sz="1200">
              <a:solidFill>
                <a:schemeClr val="dk2"/>
              </a:solidFill>
            </a:endParaRPr>
          </a:p>
          <a:p>
            <a:pPr marL="0" lvl="0" indent="0" algn="l" rtl="0">
              <a:lnSpc>
                <a:spcPct val="115000"/>
              </a:lnSpc>
              <a:spcBef>
                <a:spcPts val="1200"/>
              </a:spcBef>
              <a:spcAft>
                <a:spcPts val="0"/>
              </a:spcAft>
              <a:buNone/>
            </a:pPr>
            <a:endParaRPr sz="1200">
              <a:solidFill>
                <a:schemeClr val="dk2"/>
              </a:solidFill>
            </a:endParaRPr>
          </a:p>
          <a:p>
            <a:pPr marL="0" lvl="0" indent="0" algn="l" rtl="0">
              <a:lnSpc>
                <a:spcPct val="115000"/>
              </a:lnSpc>
              <a:spcBef>
                <a:spcPts val="1200"/>
              </a:spcBef>
              <a:spcAft>
                <a:spcPts val="1200"/>
              </a:spcAft>
              <a:buNone/>
            </a:pPr>
            <a:r>
              <a:rPr lang="es" sz="1200">
                <a:solidFill>
                  <a:schemeClr val="dk2"/>
                </a:solidFill>
              </a:rPr>
              <a:t>Conclusión: FitSM organiza. COBIT dirige.</a:t>
            </a:r>
            <a:endParaRPr sz="1200">
              <a:solidFill>
                <a:schemeClr val="dk2"/>
              </a:solidFill>
            </a:endParaRPr>
          </a:p>
        </p:txBody>
      </p:sp>
      <p:sp>
        <p:nvSpPr>
          <p:cNvPr id="185" name="Google Shape;185;p27"/>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p28"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pic>
        <p:nvPicPr>
          <p:cNvPr id="191" name="Google Shape;191;p28" descr="C:\Users\Idiomas\Downloads\Fadena-Negativo-FondoClaro (1).png"/>
          <p:cNvPicPr preferRelativeResize="0"/>
          <p:nvPr/>
        </p:nvPicPr>
        <p:blipFill rotWithShape="1">
          <a:blip r:embed="rId3">
            <a:alphaModFix/>
          </a:blip>
          <a:srcRect/>
          <a:stretch/>
        </p:blipFill>
        <p:spPr>
          <a:xfrm>
            <a:off x="1053413" y="3648817"/>
            <a:ext cx="2094466" cy="586452"/>
          </a:xfrm>
          <a:prstGeom prst="rect">
            <a:avLst/>
          </a:prstGeom>
          <a:noFill/>
          <a:ln>
            <a:noFill/>
          </a:ln>
        </p:spPr>
      </p:pic>
      <p:sp>
        <p:nvSpPr>
          <p:cNvPr id="192" name="Google Shape;192;p28"/>
          <p:cNvSpPr/>
          <p:nvPr/>
        </p:nvSpPr>
        <p:spPr>
          <a:xfrm>
            <a:off x="622951" y="810200"/>
            <a:ext cx="5197800" cy="2769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Clr>
                <a:schemeClr val="dk1"/>
              </a:buClr>
              <a:buSzPts val="1100"/>
              <a:buFont typeface="Arial"/>
              <a:buNone/>
            </a:pPr>
            <a:r>
              <a:rPr lang="es" b="1">
                <a:solidFill>
                  <a:schemeClr val="dk2"/>
                </a:solidFill>
              </a:rPr>
              <a:t>Reflexión final</a:t>
            </a:r>
            <a:endParaRPr sz="1500" b="1" i="0" u="none" strike="noStrike" cap="none">
              <a:solidFill>
                <a:schemeClr val="dk2"/>
              </a:solidFill>
              <a:latin typeface="Arial"/>
              <a:ea typeface="Arial"/>
              <a:cs typeface="Arial"/>
              <a:sym typeface="Arial"/>
            </a:endParaRPr>
          </a:p>
        </p:txBody>
      </p:sp>
      <p:pic>
        <p:nvPicPr>
          <p:cNvPr id="193" name="Google Shape;193;p28"/>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194" name="Google Shape;194;p28"/>
          <p:cNvSpPr txBox="1"/>
          <p:nvPr/>
        </p:nvSpPr>
        <p:spPr>
          <a:xfrm>
            <a:off x="614600" y="1267200"/>
            <a:ext cx="8508900" cy="164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s" sz="1200">
                <a:solidFill>
                  <a:schemeClr val="dk2"/>
                </a:solidFill>
              </a:rPr>
              <a:t>❖ No son excluyentes, se complementan.</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FitSM permite ordenar y controlar el día a día.</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COBIT garantiza alineación, gobierno y continuidad estratégica.</a:t>
            </a:r>
            <a:endParaRPr sz="1200">
              <a:solidFill>
                <a:schemeClr val="dk2"/>
              </a:solidFill>
            </a:endParaRPr>
          </a:p>
          <a:p>
            <a:pPr marL="0" lvl="0" indent="0" algn="l" rtl="0">
              <a:lnSpc>
                <a:spcPct val="115000"/>
              </a:lnSpc>
              <a:spcBef>
                <a:spcPts val="1200"/>
              </a:spcBef>
              <a:spcAft>
                <a:spcPts val="1200"/>
              </a:spcAft>
              <a:buNone/>
            </a:pPr>
            <a:r>
              <a:rPr lang="es" sz="1200">
                <a:solidFill>
                  <a:schemeClr val="dk2"/>
                </a:solidFill>
              </a:rPr>
              <a:t>❖ Juntos, forman una base sólida para una gestión profesional de servicios.</a:t>
            </a:r>
            <a:endParaRPr sz="1200">
              <a:solidFill>
                <a:schemeClr val="dk2"/>
              </a:solidFill>
            </a:endParaRPr>
          </a:p>
        </p:txBody>
      </p:sp>
      <p:sp>
        <p:nvSpPr>
          <p:cNvPr id="195" name="Google Shape;195;p28"/>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29" descr="C:\Users\Idiomas\Downloads\Fadena-Negativo-FondoClaro (1).png"/>
          <p:cNvPicPr preferRelativeResize="0"/>
          <p:nvPr/>
        </p:nvPicPr>
        <p:blipFill rotWithShape="1">
          <a:blip r:embed="rId3">
            <a:alphaModFix/>
          </a:blip>
          <a:srcRect/>
          <a:stretch/>
        </p:blipFill>
        <p:spPr>
          <a:xfrm>
            <a:off x="939113" y="3534517"/>
            <a:ext cx="2094466" cy="586452"/>
          </a:xfrm>
          <a:prstGeom prst="rect">
            <a:avLst/>
          </a:prstGeom>
          <a:noFill/>
          <a:ln>
            <a:noFill/>
          </a:ln>
        </p:spPr>
      </p:pic>
      <p:pic>
        <p:nvPicPr>
          <p:cNvPr id="201" name="Google Shape;201;p29" descr="C:\Users\Idiomas\Downloads\Fadena-Negativo-FondoClaro (1).png"/>
          <p:cNvPicPr preferRelativeResize="0"/>
          <p:nvPr/>
        </p:nvPicPr>
        <p:blipFill rotWithShape="1">
          <a:blip r:embed="rId3">
            <a:alphaModFix/>
          </a:blip>
          <a:srcRect/>
          <a:stretch/>
        </p:blipFill>
        <p:spPr>
          <a:xfrm>
            <a:off x="1053413" y="3648817"/>
            <a:ext cx="2094466" cy="586452"/>
          </a:xfrm>
          <a:prstGeom prst="rect">
            <a:avLst/>
          </a:prstGeom>
          <a:noFill/>
          <a:ln>
            <a:noFill/>
          </a:ln>
        </p:spPr>
      </p:pic>
      <p:sp>
        <p:nvSpPr>
          <p:cNvPr id="202" name="Google Shape;202;p29"/>
          <p:cNvSpPr/>
          <p:nvPr/>
        </p:nvSpPr>
        <p:spPr>
          <a:xfrm>
            <a:off x="622951" y="810200"/>
            <a:ext cx="5197800" cy="276900"/>
          </a:xfrm>
          <a:prstGeom prst="rect">
            <a:avLst/>
          </a:prstGeom>
          <a:noFill/>
          <a:ln>
            <a:noFill/>
          </a:ln>
        </p:spPr>
        <p:txBody>
          <a:bodyPr spcFirstLastPara="1" wrap="square" lIns="68575" tIns="34275" rIns="68575" bIns="34275" anchor="t" anchorCtr="0">
            <a:noAutofit/>
          </a:bodyPr>
          <a:lstStyle/>
          <a:p>
            <a:pPr marL="0" lvl="0" indent="0" algn="just" rtl="0">
              <a:lnSpc>
                <a:spcPct val="200000"/>
              </a:lnSpc>
              <a:spcBef>
                <a:spcPts val="0"/>
              </a:spcBef>
              <a:spcAft>
                <a:spcPts val="0"/>
              </a:spcAft>
              <a:buClr>
                <a:schemeClr val="dk1"/>
              </a:buClr>
              <a:buSzPts val="1100"/>
              <a:buFont typeface="Arial"/>
              <a:buNone/>
            </a:pPr>
            <a:r>
              <a:rPr lang="es" b="1">
                <a:solidFill>
                  <a:schemeClr val="dk2"/>
                </a:solidFill>
              </a:rPr>
              <a:t>Lo que viene</a:t>
            </a:r>
            <a:endParaRPr sz="1500" b="1" i="0" u="none" strike="noStrike" cap="none">
              <a:solidFill>
                <a:schemeClr val="dk2"/>
              </a:solidFill>
              <a:latin typeface="Arial"/>
              <a:ea typeface="Arial"/>
              <a:cs typeface="Arial"/>
              <a:sym typeface="Arial"/>
            </a:endParaRPr>
          </a:p>
        </p:txBody>
      </p:sp>
      <p:pic>
        <p:nvPicPr>
          <p:cNvPr id="203" name="Google Shape;203;p29"/>
          <p:cNvPicPr preferRelativeResize="0"/>
          <p:nvPr/>
        </p:nvPicPr>
        <p:blipFill rotWithShape="1">
          <a:blip r:embed="rId4">
            <a:alphaModFix/>
          </a:blip>
          <a:srcRect/>
          <a:stretch/>
        </p:blipFill>
        <p:spPr>
          <a:xfrm>
            <a:off x="7163714" y="4451106"/>
            <a:ext cx="1623849" cy="463355"/>
          </a:xfrm>
          <a:prstGeom prst="rect">
            <a:avLst/>
          </a:prstGeom>
          <a:noFill/>
          <a:ln>
            <a:noFill/>
          </a:ln>
        </p:spPr>
      </p:pic>
      <p:sp>
        <p:nvSpPr>
          <p:cNvPr id="204" name="Google Shape;204;p29"/>
          <p:cNvSpPr txBox="1"/>
          <p:nvPr/>
        </p:nvSpPr>
        <p:spPr>
          <a:xfrm>
            <a:off x="614600" y="1267200"/>
            <a:ext cx="8508900" cy="164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s" sz="1200">
                <a:solidFill>
                  <a:schemeClr val="dk2"/>
                </a:solidFill>
              </a:rPr>
              <a:t>❖ Veremos ITIL y ISO/IEC 20000:</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ITIL: prácticas operativas para la gestión de servicios.</a:t>
            </a:r>
            <a:endParaRPr sz="1200">
              <a:solidFill>
                <a:schemeClr val="dk2"/>
              </a:solidFill>
            </a:endParaRPr>
          </a:p>
          <a:p>
            <a:pPr marL="0" lvl="0" indent="0" algn="l" rtl="0">
              <a:lnSpc>
                <a:spcPct val="115000"/>
              </a:lnSpc>
              <a:spcBef>
                <a:spcPts val="1200"/>
              </a:spcBef>
              <a:spcAft>
                <a:spcPts val="0"/>
              </a:spcAft>
              <a:buNone/>
            </a:pPr>
            <a:r>
              <a:rPr lang="es" sz="1200">
                <a:solidFill>
                  <a:schemeClr val="dk2"/>
                </a:solidFill>
              </a:rPr>
              <a:t>     ➢ ISO 20000: norma certificable de buenas prácticas.</a:t>
            </a:r>
            <a:endParaRPr sz="1200">
              <a:solidFill>
                <a:schemeClr val="dk2"/>
              </a:solidFill>
            </a:endParaRPr>
          </a:p>
          <a:p>
            <a:pPr marL="0" lvl="0" indent="0" algn="l" rtl="0">
              <a:lnSpc>
                <a:spcPct val="115000"/>
              </a:lnSpc>
              <a:spcBef>
                <a:spcPts val="1200"/>
              </a:spcBef>
              <a:spcAft>
                <a:spcPts val="1200"/>
              </a:spcAft>
              <a:buNone/>
            </a:pPr>
            <a:r>
              <a:rPr lang="es" sz="1200">
                <a:solidFill>
                  <a:schemeClr val="dk2"/>
                </a:solidFill>
              </a:rPr>
              <a:t>❖ Seguimos construyendo una mirada integral de la gestión de servicios de información.</a:t>
            </a:r>
            <a:endParaRPr sz="1200">
              <a:solidFill>
                <a:schemeClr val="dk2"/>
              </a:solidFill>
            </a:endParaRPr>
          </a:p>
        </p:txBody>
      </p:sp>
      <p:sp>
        <p:nvSpPr>
          <p:cNvPr id="205" name="Google Shape;205;p29"/>
          <p:cNvSpPr/>
          <p:nvPr/>
        </p:nvSpPr>
        <p:spPr>
          <a:xfrm>
            <a:off x="614600" y="4669825"/>
            <a:ext cx="5741700" cy="463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a:solidFill>
                  <a:srgbClr val="3B4449"/>
                </a:solidFill>
              </a:rPr>
              <a:t>Fundamentos y principios de las metodologías de gestión </a:t>
            </a:r>
            <a:endParaRPr sz="1400" b="0" i="0" u="none" strike="noStrike" cap="none">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1368</Words>
  <Application>Microsoft Office PowerPoint</Application>
  <PresentationFormat>Presentación en pantalla (16:9)</PresentationFormat>
  <Paragraphs>134</Paragraphs>
  <Slides>16</Slides>
  <Notes>16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16</vt:i4>
      </vt:variant>
    </vt:vector>
  </HeadingPairs>
  <TitlesOfParts>
    <vt:vector size="19" baseType="lpstr">
      <vt:lpstr>Arial</vt:lpstr>
      <vt:lpstr>Calibri</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ANALIA AURORA GODOY</cp:lastModifiedBy>
  <cp:revision>1</cp:revision>
  <dcterms:modified xsi:type="dcterms:W3CDTF">2025-04-19T11:26:27Z</dcterms:modified>
</cp:coreProperties>
</file>