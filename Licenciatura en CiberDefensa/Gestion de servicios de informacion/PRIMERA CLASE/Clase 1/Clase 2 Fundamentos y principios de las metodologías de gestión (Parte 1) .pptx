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c3ac5b9b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8" name="Google Shape;58;g34c3ac5b9b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c3ac5b9b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Hola a todos, bienvenidos a esta primera clase de Gestión de Servicios de Información.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La idea hoy es que empecemos a construir juntos una base sólida para entender qué significa realmente “gestionar un servicio de información” y por qué es tan importante hacerlo bien.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“Hoy vamos a comenzar un recorrido por el mundo de la Gestión de Servicios de Información. Pero antes de entrar en conceptos técnicos, hagamos una pausa y pensemos: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 ¿qué pasa cuando un servicio deja de funcionar?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/>
              <a:t>¿Qué ocurre si no tenemos acceso al correo electrónico, a la red o al sistema de gestión de clientes? Se detiene todo.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/>
              <a:t>Porque los servicios de TI no son solo herramientas, son parte del ADN del negocio.”</a:t>
            </a:r>
            <a:endParaRPr/>
          </a:p>
        </p:txBody>
      </p:sp>
      <p:sp>
        <p:nvSpPr>
          <p:cNvPr id="64" name="Google Shape;64;g34c3ac5b9b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c3ac5b9b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hablamos a que se consume mientras se entrega hace referencia a que no hay separación entre procesos de producción y consumo como si ocurre con los productos por ejemplo.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hablamos de servicios (en contraposición a productos), nos referimos a </a:t>
            </a:r>
            <a:r>
              <a:rPr lang="es" b="1">
                <a:solidFill>
                  <a:schemeClr val="dk1"/>
                </a:solidFill>
              </a:rPr>
              <a:t>experiencias, acciones o procesos que se consumen en el momento</a:t>
            </a:r>
            <a:r>
              <a:rPr lang="es">
                <a:solidFill>
                  <a:schemeClr val="dk1"/>
                </a:solidFill>
              </a:rPr>
              <a:t>, pero que </a:t>
            </a:r>
            <a:r>
              <a:rPr lang="es" b="1">
                <a:solidFill>
                  <a:schemeClr val="dk1"/>
                </a:solidFill>
              </a:rPr>
              <a:t>no dejan una "propiedad física o legal"</a:t>
            </a:r>
            <a:r>
              <a:rPr lang="es">
                <a:solidFill>
                  <a:schemeClr val="dk1"/>
                </a:solidFill>
              </a:rPr>
              <a:t> sobre algo.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Cuando usás un servicio de TI como el </a:t>
            </a:r>
            <a:r>
              <a:rPr lang="es" b="1">
                <a:solidFill>
                  <a:schemeClr val="dk1"/>
                </a:solidFill>
              </a:rPr>
              <a:t>correo electrónico corporativo</a:t>
            </a:r>
            <a:r>
              <a:rPr lang="es">
                <a:solidFill>
                  <a:schemeClr val="dk1"/>
                </a:solidFill>
              </a:rPr>
              <a:t>, no sos dueño del servidor ni del software. Estás usando el servicio que te brinda la empresa (por ejemplo, Microsoft con Exchange Online).</a:t>
            </a:r>
            <a:br>
              <a:rPr lang="es">
                <a:solidFill>
                  <a:schemeClr val="dk1"/>
                </a:solidFill>
              </a:rPr>
            </a:br>
            <a:r>
              <a:rPr lang="es">
                <a:solidFill>
                  <a:schemeClr val="dk1"/>
                </a:solidFill>
              </a:rPr>
              <a:t>Lo mismo con </a:t>
            </a:r>
            <a:r>
              <a:rPr lang="es" b="1">
                <a:solidFill>
                  <a:schemeClr val="dk1"/>
                </a:solidFill>
              </a:rPr>
              <a:t>servicios en la nube</a:t>
            </a:r>
            <a:r>
              <a:rPr lang="es">
                <a:solidFill>
                  <a:schemeClr val="dk1"/>
                </a:solidFill>
              </a:rPr>
              <a:t> (como Google Drive o AWS): accedés a recursos, pero no los poseés.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72" name="Google Shape;72;g34c3ac5b9b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a2849f38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81" name="Google Shape;81;g34a2849f38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a2849f38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0" name="Google Shape;90;g34a2849f38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a2849f38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Cuando un servicio de TI falla, </a:t>
            </a:r>
            <a:r>
              <a:rPr lang="es" b="1">
                <a:solidFill>
                  <a:schemeClr val="dk1"/>
                </a:solidFill>
              </a:rPr>
              <a:t>el negocio se resiente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Una caída en el correo puede frenar decisiones clave.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Si el sistema de ventas no responde, hay pérdida de ingresos.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Si el sistema de fichaje no registra bien, puede haber conflictos laborales.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i="1">
                <a:solidFill>
                  <a:schemeClr val="dk1"/>
                </a:solidFill>
              </a:rPr>
              <a:t>“Por eso decimos que la </a:t>
            </a:r>
            <a:r>
              <a:rPr lang="es" b="1" i="1">
                <a:solidFill>
                  <a:schemeClr val="dk1"/>
                </a:solidFill>
              </a:rPr>
              <a:t>gestión de servicios no es opcional</a:t>
            </a:r>
            <a:r>
              <a:rPr lang="es" i="1">
                <a:solidFill>
                  <a:schemeClr val="dk1"/>
                </a:solidFill>
              </a:rPr>
              <a:t>: es la manera en que aseguramos que la tecnología no solo funcione, sino que realmente </a:t>
            </a:r>
            <a:r>
              <a:rPr lang="es" b="1" i="1">
                <a:solidFill>
                  <a:schemeClr val="dk1"/>
                </a:solidFill>
              </a:rPr>
              <a:t>acompañe y potencie los objetivos del negocio</a:t>
            </a:r>
            <a:r>
              <a:rPr lang="es" i="1">
                <a:solidFill>
                  <a:schemeClr val="dk1"/>
                </a:solidFill>
              </a:rPr>
              <a:t>.”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99" name="Google Shape;99;g34a2849f38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a2849f381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08" name="Google Shape;108;g34a2849f381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a2849f38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Objetivo:</a:t>
            </a:r>
            <a:r>
              <a:rPr lang="es">
                <a:solidFill>
                  <a:schemeClr val="dk1"/>
                </a:solidFill>
              </a:rPr>
              <a:t> Entender cómo se mide el valor de un servicio.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Sin utilidad → no cumple el propósito. y Sin garantía → no genera confianza.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¿El servicio hace </a:t>
            </a:r>
            <a:r>
              <a:rPr lang="es" b="1">
                <a:solidFill>
                  <a:schemeClr val="dk1"/>
                </a:solidFill>
              </a:rPr>
              <a:t>lo que se supone que debe hacer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 funcionalidad del servicio</a:t>
            </a:r>
            <a:r>
              <a:rPr lang="es">
                <a:solidFill>
                  <a:schemeClr val="dk1"/>
                </a:solidFill>
              </a:rPr>
              <a:t> desde la perspectiva del negocio.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El servicio tiene 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 si ayuda al cliente a lograr sus objetivos.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b="1">
                <a:solidFill>
                  <a:schemeClr val="dk1"/>
                </a:solidFill>
              </a:rPr>
              <a:t>Ejemplo de falla en utilidad:</a:t>
            </a:r>
            <a:br>
              <a:rPr lang="es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Un sistema de reservas que </a:t>
            </a:r>
            <a:r>
              <a:rPr lang="es" b="1">
                <a:solidFill>
                  <a:schemeClr val="dk1"/>
                </a:solidFill>
              </a:rPr>
              <a:t>no permite seleccionar fechas</a:t>
            </a:r>
            <a:r>
              <a:rPr lang="es">
                <a:solidFill>
                  <a:schemeClr val="dk1"/>
                </a:solidFill>
              </a:rPr>
              <a:t> correctamente → no cumple su propósito.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Garantía ("fit for use")</a:t>
            </a:r>
            <a:endParaRPr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¿El servicio está </a:t>
            </a:r>
            <a:r>
              <a:rPr lang="es" b="1">
                <a:solidFill>
                  <a:schemeClr val="dk1"/>
                </a:solidFill>
              </a:rPr>
              <a:t>disponible, seguro, confiable y con buen rendimiento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las condiciones bajo las cuales el servicio funciona</a:t>
            </a:r>
            <a:r>
              <a:rPr lang="es">
                <a:solidFill>
                  <a:schemeClr val="dk1"/>
                </a:solidFill>
              </a:rPr>
              <a:t>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Relacionado con disponibilidad, capacidad, continuidad y seguridad.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 correo electrónico corporativo que </a:t>
            </a:r>
            <a:r>
              <a:rPr lang="es" b="1">
                <a:solidFill>
                  <a:schemeClr val="dk1"/>
                </a:solidFill>
              </a:rPr>
              <a:t>funciona solo desde la oficina</a:t>
            </a:r>
            <a:r>
              <a:rPr lang="es">
                <a:solidFill>
                  <a:schemeClr val="dk1"/>
                </a:solidFill>
              </a:rPr>
              <a:t> pero no desde casa por fallas de red o VPN → hay utilidad, pero no garantiza accesibilidad.</a:t>
            </a:r>
            <a:br>
              <a:rPr lang="es">
                <a:solidFill>
                  <a:schemeClr val="dk1"/>
                </a:solidFill>
              </a:rPr>
            </a:br>
            <a:endParaRPr sz="13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servicio completo necesita </a:t>
            </a:r>
            <a:r>
              <a:rPr lang="es" b="1">
                <a:solidFill>
                  <a:schemeClr val="dk1"/>
                </a:solidFill>
              </a:rPr>
              <a:t>ambas cosas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</a:t>
            </a:r>
            <a:r>
              <a:rPr lang="es" b="1">
                <a:solidFill>
                  <a:schemeClr val="dk1"/>
                </a:solidFill>
              </a:rPr>
              <a:t>haga lo que promete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).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esté </a:t>
            </a:r>
            <a:r>
              <a:rPr lang="es" b="1">
                <a:solidFill>
                  <a:schemeClr val="dk1"/>
                </a:solidFill>
              </a:rPr>
              <a:t>disponible y funcione bien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garantía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17" name="Google Shape;117;g34a2849f38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c7548cbf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Objetivo:</a:t>
            </a:r>
            <a:r>
              <a:rPr lang="es">
                <a:solidFill>
                  <a:schemeClr val="dk1"/>
                </a:solidFill>
              </a:rPr>
              <a:t> Entender cómo se mide el valor de un servicio.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Sin utilidad → no cumple el propósito. y Sin garantía → no genera confianza.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¿El servicio hace </a:t>
            </a:r>
            <a:r>
              <a:rPr lang="es" b="1">
                <a:solidFill>
                  <a:schemeClr val="dk1"/>
                </a:solidFill>
              </a:rPr>
              <a:t>lo que se supone que debe hacer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 funcionalidad del servicio</a:t>
            </a:r>
            <a:r>
              <a:rPr lang="es">
                <a:solidFill>
                  <a:schemeClr val="dk1"/>
                </a:solidFill>
              </a:rPr>
              <a:t> desde la perspectiva del negocio.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El servicio tiene 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 si ayuda al cliente a lograr sus objetivos.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b="1">
                <a:solidFill>
                  <a:schemeClr val="dk1"/>
                </a:solidFill>
              </a:rPr>
              <a:t>Ejemplo de falla en utilidad:</a:t>
            </a:r>
            <a:br>
              <a:rPr lang="es" b="1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s">
                <a:solidFill>
                  <a:schemeClr val="dk1"/>
                </a:solidFill>
              </a:rPr>
              <a:t>Un sistema de reservas que </a:t>
            </a:r>
            <a:r>
              <a:rPr lang="es" b="1">
                <a:solidFill>
                  <a:schemeClr val="dk1"/>
                </a:solidFill>
              </a:rPr>
              <a:t>no permite seleccionar fechas</a:t>
            </a:r>
            <a:r>
              <a:rPr lang="es">
                <a:solidFill>
                  <a:schemeClr val="dk1"/>
                </a:solidFill>
              </a:rPr>
              <a:t> correctamente → no cumple su propósito.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b="1">
                <a:solidFill>
                  <a:schemeClr val="dk1"/>
                </a:solidFill>
              </a:rPr>
              <a:t>Garantía ("fit for use")</a:t>
            </a:r>
            <a:endParaRPr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¿El servicio está </a:t>
            </a:r>
            <a:r>
              <a:rPr lang="es" b="1">
                <a:solidFill>
                  <a:schemeClr val="dk1"/>
                </a:solidFill>
              </a:rPr>
              <a:t>disponible, seguro, confiable y con buen rendimiento</a:t>
            </a:r>
            <a:r>
              <a:rPr lang="es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Define </a:t>
            </a:r>
            <a:r>
              <a:rPr lang="es" b="1">
                <a:solidFill>
                  <a:schemeClr val="dk1"/>
                </a:solidFill>
              </a:rPr>
              <a:t>las condiciones bajo las cuales el servicio funciona</a:t>
            </a:r>
            <a:r>
              <a:rPr lang="es">
                <a:solidFill>
                  <a:schemeClr val="dk1"/>
                </a:solidFill>
              </a:rPr>
              <a:t>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Relacionado con disponibilidad, capacidad, continuidad y seguridad.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Un correo electrónico corporativo que </a:t>
            </a:r>
            <a:r>
              <a:rPr lang="es" b="1">
                <a:solidFill>
                  <a:schemeClr val="dk1"/>
                </a:solidFill>
              </a:rPr>
              <a:t>funciona solo desde la oficina</a:t>
            </a:r>
            <a:r>
              <a:rPr lang="es">
                <a:solidFill>
                  <a:schemeClr val="dk1"/>
                </a:solidFill>
              </a:rPr>
              <a:t> pero no desde casa por fallas de red o VPN → hay utilidad, pero no garantiza accesibilidad.</a:t>
            </a:r>
            <a:br>
              <a:rPr lang="es">
                <a:solidFill>
                  <a:schemeClr val="dk1"/>
                </a:solidFill>
              </a:rPr>
            </a:br>
            <a:endParaRPr sz="1300" b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Un servicio completo necesita </a:t>
            </a:r>
            <a:r>
              <a:rPr lang="es" b="1">
                <a:solidFill>
                  <a:schemeClr val="dk1"/>
                </a:solidFill>
              </a:rPr>
              <a:t>ambas cosas</a:t>
            </a:r>
            <a:r>
              <a:rPr lang="e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</a:t>
            </a:r>
            <a:r>
              <a:rPr lang="es" b="1">
                <a:solidFill>
                  <a:schemeClr val="dk1"/>
                </a:solidFill>
              </a:rPr>
              <a:t>haga lo que promete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utilidad</a:t>
            </a:r>
            <a:r>
              <a:rPr lang="es">
                <a:solidFill>
                  <a:schemeClr val="dk1"/>
                </a:solidFill>
              </a:rPr>
              <a:t>).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>
                <a:solidFill>
                  <a:schemeClr val="dk1"/>
                </a:solidFill>
              </a:rPr>
              <a:t>Que esté </a:t>
            </a:r>
            <a:r>
              <a:rPr lang="es" b="1">
                <a:solidFill>
                  <a:schemeClr val="dk1"/>
                </a:solidFill>
              </a:rPr>
              <a:t>disponible y funcione bien</a:t>
            </a:r>
            <a:r>
              <a:rPr lang="es">
                <a:solidFill>
                  <a:schemeClr val="dk1"/>
                </a:solidFill>
              </a:rPr>
              <a:t> (</a:t>
            </a:r>
            <a:r>
              <a:rPr lang="es" b="1">
                <a:solidFill>
                  <a:schemeClr val="dk1"/>
                </a:solidFill>
              </a:rPr>
              <a:t>garantía</a:t>
            </a:r>
            <a:r>
              <a:rPr lang="es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4c7548cbf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a2849f38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35" name="Google Shape;135;g34a2849f38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a2849f38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44" name="Google Shape;144;g34a2849f38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a2849f38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53" name="Google Shape;153;g34a2849f38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7548cbf2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antes, un banco necesitaba TI para mantener los servidores; ahora, </a:t>
            </a:r>
            <a:r>
              <a:rPr lang="es" b="1">
                <a:solidFill>
                  <a:schemeClr val="dk1"/>
                </a:solidFill>
              </a:rPr>
              <a:t>la banca digital depende 100% de servicios TI.</a:t>
            </a:r>
            <a:endParaRPr/>
          </a:p>
        </p:txBody>
      </p:sp>
      <p:sp>
        <p:nvSpPr>
          <p:cNvPr id="162" name="Google Shape;162;g34c7548cbf2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c3ac5b9b1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4c3ac5b9b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2849f38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4a2849f38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a2849f38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4a2849f38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2849f381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</a:rPr>
              <a:t>Ejemplo: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Una empresa puede tener un sistema de tickets que funciona técnicamente bien, pero si los usuarios lo perciben como complejo o poco claro, </a:t>
            </a:r>
            <a:r>
              <a:rPr lang="es" b="1">
                <a:solidFill>
                  <a:schemeClr val="dk1"/>
                </a:solidFill>
              </a:rPr>
              <a:t>el servicio falla en experiencia</a:t>
            </a:r>
            <a:endParaRPr/>
          </a:p>
        </p:txBody>
      </p:sp>
      <p:sp>
        <p:nvSpPr>
          <p:cNvPr id="198" name="Google Shape;198;g34a2849f381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a2849f38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" b="1">
                <a:solidFill>
                  <a:schemeClr val="dk1"/>
                </a:solidFill>
              </a:rPr>
              <a:t>Ejemplo: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s">
                <a:solidFill>
                  <a:schemeClr val="dk1"/>
                </a:solidFill>
              </a:rPr>
              <a:t>Una empresa puede tener un sistema de tickets que funciona técnicamente bien, pero si los usuarios lo perciben como complejo o poco claro, </a:t>
            </a:r>
            <a:r>
              <a:rPr lang="es" b="1">
                <a:solidFill>
                  <a:schemeClr val="dk1"/>
                </a:solidFill>
              </a:rPr>
              <a:t>el servicio falla en experiencia</a:t>
            </a:r>
            <a:endParaRPr/>
          </a:p>
        </p:txBody>
      </p:sp>
      <p:sp>
        <p:nvSpPr>
          <p:cNvPr id="207" name="Google Shape;207;g34a2849f38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a2849f381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16" name="Google Shape;216;g34a2849f381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4a2849f38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25" name="Google Shape;225;g34a2849f38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3a527ea73f92cc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234" name="Google Shape;234;g43a527ea73f92cc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83825" y="1085950"/>
            <a:ext cx="6982800" cy="13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 b="1">
                <a:solidFill>
                  <a:schemeClr val="dk1"/>
                </a:solidFill>
              </a:rPr>
              <a:t>Gestión de Servicios de Información (GSI)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 Licenciatura en Ciberdefensa – Universidad de la Defensa Nacional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</a:rPr>
              <a:t> Docentes: Alejandro Fioretti - Flavio Alfano</a:t>
            </a:r>
            <a:endParaRPr sz="13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1300">
                <a:solidFill>
                  <a:schemeClr val="dk1"/>
                </a:solidFill>
              </a:rPr>
              <a:t> Clase 2: Fundamentos y principios de las metodologías de gestión (Parte 1)</a:t>
            </a:r>
            <a:endParaRPr sz="4700" b="1">
              <a:solidFill>
                <a:srgbClr val="3A3838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622948" y="810200"/>
            <a:ext cx="4023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Objetivos de la clase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14600" y="1281700"/>
            <a:ext cx="79683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Comprender qué es un servicio de información y su valor para el negocio.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Entender por qué nació la gestión de servicios y qué problemas resuelve.</a:t>
            </a:r>
            <a:endParaRPr sz="1100">
              <a:solidFill>
                <a:schemeClr val="dk2"/>
              </a:solidFill>
            </a:endParaRPr>
          </a:p>
          <a:p>
            <a:pPr marL="457200" marR="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Presentar los principios base que guían la gestión efectiva de servicios.</a:t>
            </a:r>
            <a:endParaRPr sz="1100">
              <a:solidFill>
                <a:schemeClr val="dk2"/>
              </a:solidFill>
            </a:endParaRPr>
          </a:p>
          <a:p>
            <a:pPr marL="457200" lvl="0" indent="-298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es" sz="1100">
                <a:solidFill>
                  <a:schemeClr val="dk2"/>
                </a:solidFill>
              </a:rPr>
              <a:t>Mostrar cómo TI puede ser un aliado clave del negocio a través de una buena gestión de servicios.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¿Qué es un servicio en general?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GSI no se limita a tecnología. Se aplica en cualquier entorno donde exista un servicio que deba ser planificado,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entregado, medido y mejorado continuamente para aportar valor al usuario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Actividad intangible que satisface una necesidad.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 consume al mismo tiempo que se entrega.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Involucra interacción entre proveedor y consumidor.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No genera propiedad (a diferencia de un producto).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Ejemplos cotidianos: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transporte (Uber, bus)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streaming (Netflix)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Servicio de restaurante (no comprás el plato, sino la experiencia)</a:t>
            </a: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¿Qué es un servicio de TI?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Resultado entregado por un proveedor de TI para facilitar resultados de negocio.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No se limita al software o hardware: incluye soporte, mantenimiento, disponibilidad.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Se enfoca en el valor para el usuario, no solo en la tecnología.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Ejemplos de servicios de TI: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Correo corporativo (ej. Outlook Exchange)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Acceso a red e Internet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ERP (SAP, Oracle)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Service Desk / Soporte técnico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Gestión de identidades (crear usuarios, accesos)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622948" y="810196"/>
            <a:ext cx="4255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¿Características clave de un servicio?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Intangible: no se puede tocar, pero se puede experimentar (ej. conectividad).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Orientado al cliente: se mide por la satisfacción y el valor entregado.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Medible: se puede evaluar por KPIs (tiempo de respuesta, disponibilidad, etc.).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Basado en procesos: no es improvisado, sigue un flujo estandarizado.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Puede ser interno o externo: dirigido a usuarios dentro o fuera de la organización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622951" y="810200"/>
            <a:ext cx="53673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¿Relación entre servicios de TI y procesos de negocio?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Los procesos de negocio dependen de servicios de TI eficientes.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Ejemplos: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Proceso de ventas → requiere CRM, red, dispositivos.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Logística → necesita ERP y conectividad con proveedores.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Recursos Humanos → usa sistemas de nómina, gestión de talento.</a:t>
            </a:r>
            <a:endParaRPr sz="1200">
              <a:solidFill>
                <a:schemeClr val="dk2"/>
              </a:solidFill>
            </a:endParaRPr>
          </a:p>
          <a:p>
            <a:pPr marL="13716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Si el servicio de TI falla, el proceso de negocio se ve afectado.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La gestión de servicios busca alinear TI con las necesidades del negocio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622951" y="810200"/>
            <a:ext cx="53673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Ejemplos de GSI fuera del ámbito TI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Servicio de turnos en un hospital.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Gestión de citas médicas, disponibilidad de profesionales, atención al paciente y retroalimentación.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Aplicar GSI implica definir tiempos de atención, experiencia del usuario, gestión de quejas, etc.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Entrega de productos en e-commerce.</a:t>
            </a:r>
            <a:endParaRPr sz="120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Desde que el cliente compra hasta que recibe el producto: seguimiento, atención postventa, devoluciones.</a:t>
            </a:r>
            <a:endParaRPr sz="120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GSI aquí sería establecer métricas de entrega (tiempo, calidad), puntos de contacto y mejora continua.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622950" y="810200"/>
            <a:ext cx="59352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Gestion de Servicios - Valor entregado: utilidad vs garantía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Utilidad (“fit for purpose”):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¿El servicio cumple con lo que necesito?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Ejemplo: ¿El correo permite enviar y recibir con normalidad?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Garantía (“fit for use”):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¿El servicio está disponible, es confiable, seguro?</a:t>
            </a:r>
            <a:endParaRPr sz="1200">
              <a:solidFill>
                <a:schemeClr val="dk2"/>
              </a:solidFill>
            </a:endParaRPr>
          </a:p>
          <a:p>
            <a:pPr marL="137160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>
                <a:solidFill>
                  <a:schemeClr val="dk2"/>
                </a:solidFill>
              </a:rPr>
              <a:t>Ejemplo: ¿Está disponible 99.9% del tiempo? ¿Es rápido y seguro?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Ambos aspectos son necesarios para que un servicio sea valioso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614600" y="815975"/>
            <a:ext cx="82614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Gestion de Servicios - ¿Por qué nació la Gestión de Servicios de Información (GSI)?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914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TI creció rápidamente, pero sin un enfoque estructurado.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Las áreas técnicas se centraban en infraestructura, no en el usuario.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El negocio necesitaba servicios confiables, medibles y alineados a sus objetivos.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Emergió la necesidad de gestionar TI como un servicio, no como un conjunto de recursos.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622950" y="810200"/>
            <a:ext cx="6684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Evolución de GSI -  Costo a socio estratégico - TI a GSI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En los inicios, TI era un área de soporte técnico (hardware, redes, servidores, dc, cableado).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Las decisiones eran técnicas, no orientadas al negocio.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TI se veía como un centro de costos, no como generador de valor.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>
                <a:solidFill>
                  <a:schemeClr val="dk2"/>
                </a:solidFill>
              </a:rPr>
              <a:t>Con el tiempo, el negocio empezó a depender más de TI (ERP, web, movilidad, cloud).</a:t>
            </a:r>
            <a:endParaRPr sz="120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b="1">
                <a:solidFill>
                  <a:schemeClr val="dk2"/>
                </a:solidFill>
              </a:rPr>
              <a:t>Hoy, TI es un habilitador del negocio, clave en innovación, eficiencia y competitividad.</a:t>
            </a:r>
            <a:endParaRPr sz="1200" b="1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Evolución GSI - Pasamos a ver a TI como proveedor de Servicios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Enfoque antiguo: “TI sabe lo que hay que hacer” → </a:t>
            </a:r>
            <a:r>
              <a:rPr lang="es" sz="1200" b="1" dirty="0">
                <a:solidFill>
                  <a:schemeClr val="dk2"/>
                </a:solidFill>
              </a:rPr>
              <a:t>baja visibilidad para el negocio.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Enfoque moderno: “</a:t>
            </a:r>
            <a:r>
              <a:rPr lang="es" sz="1200" b="1" dirty="0">
                <a:solidFill>
                  <a:schemeClr val="dk2"/>
                </a:solidFill>
              </a:rPr>
              <a:t>TI entrega servicios que el negocio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necesita</a:t>
            </a:r>
            <a:r>
              <a:rPr lang="es" sz="1200" dirty="0">
                <a:solidFill>
                  <a:schemeClr val="dk2"/>
                </a:solidFill>
              </a:rPr>
              <a:t>”.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pasa de una lógica de “infraestructura y sistemas” → a una lógica de servicios entregados con calidad y valor.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define claramente quién es el cliente, qué necesita y qué espera.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Empezamos a escuchar de  acuerdos de nivel de servicio (SLA ”son acuardos de nivel de servicio”), métricas, catálogos de servicios.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5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Procesos Claves en GSI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incidentes (Cualquier evento fuera de lo nomar de los servicios)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cambios (cuando se desarrolla una nueva funcionalidad, cambios de procesos, etc)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problemas (cuando los incidentes son repetitivos, analicis de cuasa raiz)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Gestión de la configuración. (cada ves que un nuevo componente entra en el juego del servicio como es gestionado: quien es el dueño de ese componente, que tan critico es para el negocio, etc)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58" name="Google Shape;1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622950" y="810200"/>
            <a:ext cx="76305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¿Que problemas Resuelve?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610525" y="1281700"/>
            <a:ext cx="7898400" cy="22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Define procesos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claros y repetibles </a:t>
            </a:r>
            <a:r>
              <a:rPr lang="es" sz="1200" dirty="0">
                <a:solidFill>
                  <a:schemeClr val="dk2"/>
                </a:solidFill>
              </a:rPr>
              <a:t>para gestionar servicios. 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Introduce mediciones y métricas (SLAs “Acuerdos de medicion de servicios”, KPIs) para mejorar calidad. 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Fomenta la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mejora continua y la orientación </a:t>
            </a:r>
            <a:r>
              <a:rPr lang="es" sz="1200" dirty="0">
                <a:solidFill>
                  <a:schemeClr val="dk2"/>
                </a:solidFill>
              </a:rPr>
              <a:t>al cliente.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Mejora la comunicación entre TI y las áreas de negocio.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Permite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alinear tecnología con los objetivos estratégicos </a:t>
            </a:r>
            <a:r>
              <a:rPr lang="es" sz="1200" dirty="0">
                <a:solidFill>
                  <a:schemeClr val="dk2"/>
                </a:solidFill>
              </a:rPr>
              <a:t>de la organización..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Que son las metodologías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/>
          <p:nvPr/>
        </p:nvSpPr>
        <p:spPr>
          <a:xfrm>
            <a:off x="614600" y="1276775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Conjuntos estructurados de pasos, procesos y roles que indican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cómo hacer algo </a:t>
            </a:r>
            <a:r>
              <a:rPr lang="es" sz="1200" dirty="0">
                <a:solidFill>
                  <a:schemeClr val="dk2"/>
                </a:solidFill>
              </a:rPr>
              <a:t>para alcanzar un objetivo.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Ofrecen una guía paso a paso con actividades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responsabilidades definidas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Suelen ser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adaptables</a:t>
            </a:r>
            <a:r>
              <a:rPr lang="es" sz="1200" dirty="0">
                <a:solidFill>
                  <a:schemeClr val="dk2"/>
                </a:solidFill>
              </a:rPr>
              <a:t> según el contexto.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Ayudan 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organizar</a:t>
            </a:r>
            <a:r>
              <a:rPr lang="es" sz="1200" dirty="0">
                <a:solidFill>
                  <a:schemeClr val="dk2"/>
                </a:solidFill>
              </a:rPr>
              <a:t> el trabajo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mejorar</a:t>
            </a:r>
            <a:r>
              <a:rPr lang="es" sz="1200" dirty="0">
                <a:solidFill>
                  <a:schemeClr val="dk2"/>
                </a:solidFill>
              </a:rPr>
              <a:t> la eficiencia.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ITIL: metodología para la gestión de servicios de TI.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PMBOK o PRINCE2: metodologías de gestión de proyectos.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SCRUM: metodología ágil para desarrollo de software.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8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¿Que son las normas?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614600" y="1216163"/>
            <a:ext cx="82542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Documentos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formales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 </a:t>
            </a:r>
            <a:r>
              <a:rPr lang="es" sz="1200" dirty="0">
                <a:solidFill>
                  <a:schemeClr val="dk2"/>
                </a:solidFill>
              </a:rPr>
              <a:t>que establecen requisitos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obligatorios</a:t>
            </a:r>
            <a:r>
              <a:rPr lang="es" sz="1200" dirty="0">
                <a:solidFill>
                  <a:schemeClr val="dk2"/>
                </a:solidFill>
              </a:rPr>
              <a:t> o recomendados para garantizar calidad, seguridad o cumplimiento. (no es opcional)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Son desarrolladas por organismos oficiales o reconocidos (ISO, IEEE, etc.).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Tienen versiones controladas y aplican a certificaciones.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En muchos casos, su implementación puede ser auditada y certificada.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ISO/IEC 20000: norma internacional de gestión de servicios de TI.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 27001: norma de gestión de seguridad de la información.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ISO 9001: gestión de calidad.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9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¿Que son las buenas prácticas?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614600" y="1216163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Conjunto de recomendaciones o aprendizajes reconocidos como eficaces, derivados de la experiencia.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Son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flexibles</a:t>
            </a:r>
            <a:r>
              <a:rPr lang="es" sz="1200" dirty="0">
                <a:solidFill>
                  <a:schemeClr val="dk2"/>
                </a:solidFill>
              </a:rPr>
              <a:t>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no obligatorias</a:t>
            </a:r>
            <a:r>
              <a:rPr lang="es" sz="1200" dirty="0">
                <a:solidFill>
                  <a:schemeClr val="dk2"/>
                </a:solidFill>
              </a:rPr>
              <a:t>, pero basadas en lo que ha funcionado bien en la práctica.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Pueden ser adoptadas parcialmente y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adaptadas</a:t>
            </a:r>
            <a:r>
              <a:rPr lang="es" sz="1200" dirty="0">
                <a:solidFill>
                  <a:schemeClr val="dk2"/>
                </a:solidFill>
              </a:rPr>
              <a:t> al contexto.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A menudo, forman la base de metodologías o normas más formales.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Ejemplos: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Documentar soluciones repetitivas (base de conocimiento).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Crear canales únicos de atención al usuario.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Realizar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post-mortem</a:t>
            </a:r>
            <a:r>
              <a:rPr lang="es" sz="1200" dirty="0">
                <a:solidFill>
                  <a:schemeClr val="dk2"/>
                </a:solidFill>
              </a:rPr>
              <a:t> luego de incidentes críticos.. (¿que ocurrio?)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Gestión Centrada en el cliente y Mejora Continua en GSI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 txBox="1"/>
          <p:nvPr/>
        </p:nvSpPr>
        <p:spPr>
          <a:xfrm>
            <a:off x="614600" y="1216163"/>
            <a:ext cx="82542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La gestión de servicios no se enfoca solo en tecnología, sino en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satisfacer necesidades del cliente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El servicio debe estar diseñado desde la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experiencia del usuario </a:t>
            </a:r>
            <a:r>
              <a:rPr lang="es" sz="1200" dirty="0">
                <a:solidFill>
                  <a:schemeClr val="dk2"/>
                </a:solidFill>
              </a:rPr>
              <a:t>(UX).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Importa tanto el resultado como el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“cómo” se entrega el servicio</a:t>
            </a:r>
            <a:r>
              <a:rPr lang="es" sz="1200" dirty="0">
                <a:solidFill>
                  <a:schemeClr val="dk2"/>
                </a:solidFill>
              </a:rPr>
              <a:t>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Lo que no se mide no se puede mejorar</a:t>
            </a:r>
            <a:r>
              <a:rPr lang="es" sz="1200" dirty="0">
                <a:solidFill>
                  <a:schemeClr val="dk2"/>
                </a:solidFill>
              </a:rPr>
              <a:t>.”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Se definen indicadores clave de desempeño (KPIs “indicadores de la performans”) para monitorear calidad y eficacia.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Algunos tipos de métricas: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Técnicas: disponibilidad, tiempos de respuesta.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De percepción: encuestas de satisfacción.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De eficiencia: tiempo promedio de resolución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1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Experiencia de Usuario y Servicios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1"/>
          <p:cNvSpPr txBox="1"/>
          <p:nvPr/>
        </p:nvSpPr>
        <p:spPr>
          <a:xfrm>
            <a:off x="614600" y="1216163"/>
            <a:ext cx="8254200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marR="0" lvl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</a:pPr>
            <a:r>
              <a:rPr lang="es-ES" sz="1200" dirty="0">
                <a:solidFill>
                  <a:schemeClr val="dk2"/>
                </a:solidFill>
              </a:rPr>
              <a:t>¿C</a:t>
            </a:r>
            <a:r>
              <a:rPr lang="es" sz="1200" dirty="0">
                <a:solidFill>
                  <a:schemeClr val="dk2"/>
                </a:solidFill>
              </a:rPr>
              <a:t>omo el usuario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mide</a:t>
            </a:r>
            <a:r>
              <a:rPr lang="es" sz="1200" dirty="0">
                <a:solidFill>
                  <a:schemeClr val="dk2"/>
                </a:solidFill>
              </a:rPr>
              <a:t> el servicio?</a:t>
            </a: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Experiencia del usuario en servicios de información (UX)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UX se refiere a cómo el usuario vive e interpreta el servicio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Involucra: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Claridad y simplicidad.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Accesibilidad y disponibilidad.</a:t>
            </a:r>
            <a:endParaRPr sz="1200" dirty="0">
              <a:solidFill>
                <a:schemeClr val="dk2"/>
              </a:solidFill>
            </a:endParaRPr>
          </a:p>
          <a:p>
            <a:pPr marL="1371600" marR="0" lvl="1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s" sz="1200" dirty="0">
                <a:solidFill>
                  <a:schemeClr val="dk2"/>
                </a:solidFill>
              </a:rPr>
              <a:t>Sensación de confianza y atención.</a:t>
            </a:r>
            <a:endParaRPr sz="1200" dirty="0">
              <a:solidFill>
                <a:schemeClr val="dk2"/>
              </a:solidFill>
            </a:endParaRPr>
          </a:p>
          <a:p>
            <a:pPr marL="9144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</a:rPr>
              <a:t>Un buen servicio no solo resuelve, también se </a:t>
            </a: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percibe</a:t>
            </a:r>
            <a:r>
              <a:rPr lang="es" sz="1200" dirty="0">
                <a:solidFill>
                  <a:schemeClr val="dk2"/>
                </a:solidFill>
              </a:rPr>
              <a:t> como útil, amigable y humano.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2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 dirty="0">
                <a:solidFill>
                  <a:schemeClr val="dk2"/>
                </a:solidFill>
              </a:rPr>
              <a:t>GSI - Cultura de servicio en la organización</a:t>
            </a:r>
            <a:endParaRPr sz="15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614600" y="1216163"/>
            <a:ext cx="8254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GSI va mas alla del área de TI, es una actitud cross a toda la organización e incluye conceptos como :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Empatía con el cliente.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Comunicación clara.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Responsabilidad compartida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Mejora constante.</a:t>
            </a:r>
            <a:endParaRPr sz="1200" dirty="0">
              <a:solidFill>
                <a:schemeClr val="dk2"/>
              </a:solidFill>
            </a:endParaRPr>
          </a:p>
          <a:p>
            <a:pPr marL="1828800" marR="0" lvl="2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s" sz="1200" dirty="0">
                <a:solidFill>
                  <a:schemeClr val="dk2"/>
                </a:solidFill>
              </a:rPr>
              <a:t>Requiere liderazgo, formación y reconocimiento..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Un área de TI que capacita a usuarios no técnicos en ciberseguridad ayuda a prevenir incidentes, y refuerza su rol como socio estratégico.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/>
          <p:nvPr/>
        </p:nvSpPr>
        <p:spPr>
          <a:xfrm>
            <a:off x="622951" y="810200"/>
            <a:ext cx="6425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GSI - Avances Tecnológicos que están cambiando la Gestión de Servicios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/>
          <p:nvPr/>
        </p:nvSpPr>
        <p:spPr>
          <a:xfrm>
            <a:off x="614600" y="1216163"/>
            <a:ext cx="82542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GSI va más allá del área de TI, es una actitud cross a toda la organización e incluye conceptos como :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Automatización</a:t>
            </a:r>
            <a:r>
              <a:rPr lang="es" sz="1200" dirty="0">
                <a:solidFill>
                  <a:schemeClr val="dk2"/>
                </a:solidFill>
              </a:rPr>
              <a:t>: bots, scripts, flujos automáticos.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Autoservicio</a:t>
            </a:r>
            <a:r>
              <a:rPr lang="es" sz="1200" dirty="0">
                <a:solidFill>
                  <a:schemeClr val="dk2"/>
                </a:solidFill>
              </a:rPr>
              <a:t>: portales de usuario con FAQs, bases de conocimiento.</a:t>
            </a:r>
            <a:endParaRPr sz="1200" dirty="0">
              <a:solidFill>
                <a:schemeClr val="dk2"/>
              </a:solidFill>
            </a:endParaRPr>
          </a:p>
          <a:p>
            <a:pPr marL="457200" marR="0" lvl="0" indent="-3048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es" sz="1200" dirty="0">
                <a:solidFill>
                  <a:schemeClr val="dk2"/>
                </a:solidFill>
                <a:highlight>
                  <a:srgbClr val="FFFF00"/>
                </a:highlight>
              </a:rPr>
              <a:t>IA y analítica</a:t>
            </a:r>
            <a:r>
              <a:rPr lang="es" sz="1200" dirty="0">
                <a:solidFill>
                  <a:schemeClr val="dk2"/>
                </a:solidFill>
              </a:rPr>
              <a:t>: predicción de fallas, análisis de tickets.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chemeClr val="dk2"/>
                </a:solidFill>
              </a:rPr>
              <a:t>El reto: no perder el </a:t>
            </a:r>
            <a:r>
              <a:rPr lang="es" sz="1200" b="1" dirty="0">
                <a:solidFill>
                  <a:schemeClr val="dk2"/>
                </a:solidFill>
                <a:highlight>
                  <a:srgbClr val="FFFF00"/>
                </a:highlight>
              </a:rPr>
              <a:t>enfoque humano </a:t>
            </a:r>
            <a:r>
              <a:rPr lang="es" sz="1200" b="1" dirty="0">
                <a:solidFill>
                  <a:schemeClr val="dk2"/>
                </a:solidFill>
              </a:rPr>
              <a:t>en el camino tan importante al ofrecer y gestionar servicios.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113" y="3534517"/>
            <a:ext cx="2094466" cy="586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 descr="C:\Users\Idiomas\Downloads\Fadena-Negativo-FondoClar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413" y="3648817"/>
            <a:ext cx="2094466" cy="5864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/>
          <p:nvPr/>
        </p:nvSpPr>
        <p:spPr>
          <a:xfrm>
            <a:off x="622951" y="810200"/>
            <a:ext cx="5197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2"/>
                </a:solidFill>
              </a:rPr>
              <a:t>Cierre de la clase</a:t>
            </a:r>
            <a:endParaRPr sz="1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3714" y="4451106"/>
            <a:ext cx="1623849" cy="46335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4"/>
          <p:cNvSpPr txBox="1"/>
          <p:nvPr/>
        </p:nvSpPr>
        <p:spPr>
          <a:xfrm>
            <a:off x="614600" y="1267200"/>
            <a:ext cx="8508900" cy="143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Recapitulación de conceptos clave 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Transición a marcos concretos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 dirty="0">
                <a:solidFill>
                  <a:schemeClr val="dk2"/>
                </a:solidFill>
              </a:rPr>
              <a:t>	•	COBIT en la próxima clase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614600" y="4669825"/>
            <a:ext cx="57417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rgbClr val="3B4449"/>
                </a:solidFill>
              </a:rPr>
              <a:t>Fundamentos y principios de las metodologías de gestión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</Words>
  <Application>Microsoft Office PowerPoint</Application>
  <PresentationFormat>Presentación en pantalla (16:9)</PresentationFormat>
  <Paragraphs>232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Torres</cp:lastModifiedBy>
  <cp:revision>1</cp:revision>
  <dcterms:modified xsi:type="dcterms:W3CDTF">2025-04-15T15:01:01Z</dcterms:modified>
</cp:coreProperties>
</file>