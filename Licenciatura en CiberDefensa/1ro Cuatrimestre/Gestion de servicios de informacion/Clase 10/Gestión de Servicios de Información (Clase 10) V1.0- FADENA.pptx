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txxqpa5H6/LouaU8lKVNhP6uX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3869D0-587F-4DC2-973B-48F6A3A1DF48}" v="1" dt="2025-06-15T21:28:23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78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0eec8bb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En esta clase estaremos hablando principalmente de ITIL con Foco principalmente en lo que es la mejora continua según el modelo ITIL considerando todas sus aristas y bajando también a varios ejemplos prácticos.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" name="Google Shape;58;g360eec8bb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eec8bba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8ta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En esta clase estaremos hablado principalmente de ITIL pero desde una perspectiva mucho más práctica dando ejemplo, detallando herramientas para finalmente incluso ejemplificar flujos de las prácticas más importantes.</a:t>
            </a:r>
            <a:endParaRPr/>
          </a:p>
        </p:txBody>
      </p:sp>
      <p:sp>
        <p:nvSpPr>
          <p:cNvPr id="64" name="Google Shape;64;g360eec8bba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0eec8bba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72" name="Google Shape;72;g360eec8bba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0eec8bba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81" name="Google Shape;81;g360eec8bba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eec8bba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90" name="Google Shape;90;g360eec8bba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0eec8bba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98" name="Google Shape;98;g360eec8bba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0eec8bba6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06" name="Google Shape;106;g360eec8bba6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0eec8bba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14" name="Google Shape;114;g360eec8bba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0eec8bba6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25" name="Google Shape;125;g360eec8bba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0eec8bba6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33" name="Google Shape;133;g360eec8bba6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0eec8bba6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41" name="Google Shape;141;g360eec8bba6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0eec8bba6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48" name="Google Shape;148;g360eec8bba6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0eec8bba6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55" name="Google Shape;155;g360eec8bba6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0eec8bba6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62" name="Google Shape;162;g360eec8bba6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0eec8bba6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60eec8bba6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0eec8bba6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76" name="Google Shape;176;g360eec8bba6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0eec8bba6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84" name="Google Shape;184;g360eec8bba6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0eec8bba6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92" name="Google Shape;192;g360eec8bba6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0eec8bba6_0_0"/>
          <p:cNvSpPr txBox="1"/>
          <p:nvPr/>
        </p:nvSpPr>
        <p:spPr>
          <a:xfrm>
            <a:off x="883825" y="1085950"/>
            <a:ext cx="6982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Servicios de Información (GSI)</a:t>
            </a:r>
            <a:endParaRPr sz="2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Licenciatura en Ciberdefensa – Universidad de la Defensa Nacional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Docentes: Alejandro Fioretti - Flavio Alfano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Clase 10: Agilidad Organizacional - Liderazgo Ágil - Equipos de Alto Rendimiento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60eec8bba6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0eec8bba6_0_5"/>
          <p:cNvSpPr/>
          <p:nvPr/>
        </p:nvSpPr>
        <p:spPr>
          <a:xfrm>
            <a:off x="622948" y="8102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Objetivos de la clase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60eec8bba6_0_5"/>
          <p:cNvSpPr/>
          <p:nvPr/>
        </p:nvSpPr>
        <p:spPr>
          <a:xfrm>
            <a:off x="614600" y="1281700"/>
            <a:ext cx="79683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❖"/>
            </a:pPr>
            <a:r>
              <a:rPr lang="e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Comprender el nuevo contexto de agilidad organizacional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❖"/>
            </a:pPr>
            <a:r>
              <a:rPr lang="e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Explorar qué es el liderazgo ágil y cómo se ejerce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❖"/>
            </a:pPr>
            <a:r>
              <a:rPr lang="e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Entender cómo se construyen equipos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60eec8bba6_0_5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g360eec8bba6_0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eec8bba6_0_12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g360eec8bba6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g360eec8bba6_0_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013" y="187325"/>
            <a:ext cx="3367967" cy="43650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60eec8bba6_0_12"/>
          <p:cNvSpPr txBox="1"/>
          <p:nvPr/>
        </p:nvSpPr>
        <p:spPr>
          <a:xfrm>
            <a:off x="614600" y="2619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 la eficiencia a la adaptabilidad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60eec8bba6_0_12"/>
          <p:cNvSpPr txBox="1"/>
          <p:nvPr/>
        </p:nvSpPr>
        <p:spPr>
          <a:xfrm>
            <a:off x="538400" y="1639325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División de tareas simples</a:t>
            </a:r>
            <a:br>
              <a:rPr lang="e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 desde la gerencia</a:t>
            </a:r>
            <a:br>
              <a:rPr lang="e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Eficiencia en entornos estables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0eec8bba6_0_20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g360eec8bba6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60eec8bba6_0_20" title="image-removebg-preview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9950" y="169550"/>
            <a:ext cx="2926714" cy="43650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60eec8bba6_0_20"/>
          <p:cNvSpPr txBox="1"/>
          <p:nvPr/>
        </p:nvSpPr>
        <p:spPr>
          <a:xfrm>
            <a:off x="614600" y="257200"/>
            <a:ext cx="2374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Hacia dónde vamos: mundo VUCA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87" name="Google Shape;87;g360eec8bba6_0_20"/>
          <p:cNvSpPr txBox="1"/>
          <p:nvPr/>
        </p:nvSpPr>
        <p:spPr>
          <a:xfrm>
            <a:off x="540075" y="1543050"/>
            <a:ext cx="2697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" sz="1100">
                <a:solidFill>
                  <a:schemeClr val="dk2"/>
                </a:solidFill>
              </a:rPr>
              <a:t>Reactividad = caos</a:t>
            </a:r>
            <a:br>
              <a:rPr lang="es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" sz="1100">
                <a:solidFill>
                  <a:schemeClr val="dk2"/>
                </a:solidFill>
              </a:rPr>
              <a:t>Adaptabilidad = criterio + foco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0eec8bba6_0_28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60eec8bba6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60eec8bba6_0_28" title="image-removebg-preview (2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70563" y="1371975"/>
            <a:ext cx="5202875" cy="269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60eec8bba6_0_28"/>
          <p:cNvSpPr txBox="1"/>
          <p:nvPr/>
        </p:nvSpPr>
        <p:spPr>
          <a:xfrm>
            <a:off x="614600" y="385750"/>
            <a:ext cx="721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¿Cómo cambian los modelos de gestión según el nivel de incertidumbre?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0eec8bba6_0_35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g360eec8bba6_0_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60eec8bba6_0_35"/>
          <p:cNvSpPr txBox="1"/>
          <p:nvPr/>
        </p:nvSpPr>
        <p:spPr>
          <a:xfrm>
            <a:off x="614600" y="385750"/>
            <a:ext cx="721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De la eficiencia a la adaptabilidad: La puerta hacia la agilidad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03" name="Google Shape;103;g360eec8bba6_0_35"/>
          <p:cNvSpPr txBox="1"/>
          <p:nvPr/>
        </p:nvSpPr>
        <p:spPr>
          <a:xfrm>
            <a:off x="660825" y="909900"/>
            <a:ext cx="8049600" cy="3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" b="1">
                <a:solidFill>
                  <a:schemeClr val="dk2"/>
                </a:solidFill>
              </a:rPr>
              <a:t>¿Por qué ya no alcanza con ser eficientes?</a:t>
            </a:r>
            <a:endParaRPr sz="800" b="1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La eficiencia sirve en entornos estables y predecibles.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En entornos VUCA (Volátiles, Inciertos, Complejos, Ambiguos), ser solo eficiente te hace lento, rígido o irrelevante.</a:t>
            </a: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" b="1">
                <a:solidFill>
                  <a:schemeClr val="dk2"/>
                </a:solidFill>
              </a:rPr>
              <a:t>¿Qué necesita una organización adaptable?</a:t>
            </a:r>
            <a:endParaRPr sz="800" b="1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Leer el entorno con claridad, no solo reaccionar.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Distinguir lo urgente de lo valioso.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Prepararse para lo inesperado sin improvisar.</a:t>
            </a: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" b="1">
                <a:solidFill>
                  <a:schemeClr val="dk2"/>
                </a:solidFill>
              </a:rPr>
              <a:t>¿Qué es agilidad?</a:t>
            </a:r>
            <a:endParaRPr sz="800" b="1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Capacidad de entregar valor real en ciclos cortos y de forma sostenible.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Aprender y adaptarse continuamente, no seguir un plan ciego.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Estructuras más cercanas a redes que a pirámides.</a:t>
            </a: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" b="1">
                <a:solidFill>
                  <a:schemeClr val="dk2"/>
                </a:solidFill>
              </a:rPr>
              <a:t>Punto de llegada: agilidad organizacional</a:t>
            </a:r>
            <a:endParaRPr sz="800" b="1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Enfoque cultural y operativo para coordinar equipos en entornos cambiantes.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Se apoya en propósito compartido, transparencia, autonomía y aprendizaje constante.</a:t>
            </a:r>
            <a:endParaRPr sz="800">
              <a:solidFill>
                <a:schemeClr val="dk2"/>
              </a:solidFill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es" sz="800">
                <a:solidFill>
                  <a:schemeClr val="dk2"/>
                </a:solidFill>
              </a:rPr>
              <a:t>No es solo metodología (Scrum, Kanban): es una nueva forma de operar.</a:t>
            </a:r>
            <a:br>
              <a:rPr lang="es" sz="800">
                <a:solidFill>
                  <a:schemeClr val="dk2"/>
                </a:solidFill>
              </a:rPr>
            </a:b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0eec8bba6_0_42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g360eec8bba6_0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60eec8bba6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5848" y="942975"/>
            <a:ext cx="2372300" cy="35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60eec8bba6_0_42"/>
          <p:cNvSpPr txBox="1"/>
          <p:nvPr/>
        </p:nvSpPr>
        <p:spPr>
          <a:xfrm>
            <a:off x="614600" y="600075"/>
            <a:ext cx="215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Libro Team of Teams 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(propuesta de lectura)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0eec8bba6_0_49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60eec8bba6_0_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60eec8bba6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8734" y="1026650"/>
            <a:ext cx="3997150" cy="148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60eec8bba6_0_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9376" y="2674625"/>
            <a:ext cx="3055851" cy="157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60eec8bba6_0_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8284" y="152400"/>
            <a:ext cx="2323317" cy="2536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60eec8bba6_0_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7429" y="2771700"/>
            <a:ext cx="2105009" cy="14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60eec8bba6_0_49"/>
          <p:cNvSpPr txBox="1"/>
          <p:nvPr/>
        </p:nvSpPr>
        <p:spPr>
          <a:xfrm>
            <a:off x="666025" y="394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De la jerarquía a la red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0eec8bba6_0_59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g360eec8bba6_0_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60eec8bba6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09600"/>
            <a:ext cx="8839201" cy="38067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60eec8bba6_0_59"/>
          <p:cNvSpPr txBox="1"/>
          <p:nvPr/>
        </p:nvSpPr>
        <p:spPr>
          <a:xfrm>
            <a:off x="538400" y="291475"/>
            <a:ext cx="541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SAFe - Scaled Agile Framework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0eec8bba6_0_66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360eec8bba6_0_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60eec8bba6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6877" y="897382"/>
            <a:ext cx="5741701" cy="3348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60eec8bba6_0_66"/>
          <p:cNvSpPr txBox="1"/>
          <p:nvPr/>
        </p:nvSpPr>
        <p:spPr>
          <a:xfrm>
            <a:off x="614600" y="428625"/>
            <a:ext cx="49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Modelo Spotify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0eec8bba6_0_73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60eec8bba6_0_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60eec8bba6_0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75" y="178100"/>
            <a:ext cx="8292613" cy="414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0eec8bba6_0_79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60eec8bba6_0_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60eec8bba6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400" y="126675"/>
            <a:ext cx="7371211" cy="4146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0eec8bba6_0_85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60eec8bba6_0_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60eec8bba6_0_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1574" y="723087"/>
            <a:ext cx="5934075" cy="369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0eec8bba6_0_9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60eec8bba6_0_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60eec8bba6_0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3700" y="203825"/>
            <a:ext cx="5820032" cy="436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0eec8bba6_0_97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360eec8bba6_0_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60eec8bba6_0_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7950" y="255275"/>
            <a:ext cx="38481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0eec8bba6_0_103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60eec8bba6_0_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60eec8bba6_0_103"/>
          <p:cNvSpPr txBox="1"/>
          <p:nvPr/>
        </p:nvSpPr>
        <p:spPr>
          <a:xfrm>
            <a:off x="1448775" y="1748575"/>
            <a:ext cx="6112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chemeClr val="dk2"/>
                </a:solidFill>
              </a:rPr>
              <a:t>“It wasn’t sufficient to push information up to a central repository, or to push instructions down. Everyone needed to have the same information at the same time.”</a:t>
            </a:r>
            <a:endParaRPr sz="11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(</a:t>
            </a:r>
            <a:r>
              <a:rPr lang="es" sz="1100" i="1">
                <a:solidFill>
                  <a:schemeClr val="dk2"/>
                </a:solidFill>
              </a:rPr>
              <a:t>No bastaba con enviar información hacia arriba ni con emitir órdenes hacia abajo. Todos necesitaban tener la misma información al mismo tiempo.</a:t>
            </a:r>
            <a:r>
              <a:rPr lang="es" sz="1100">
                <a:solidFill>
                  <a:schemeClr val="dk2"/>
                </a:solidFill>
              </a:rPr>
              <a:t>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1" name="Google Shape;181;g360eec8bba6_0_103"/>
          <p:cNvSpPr txBox="1"/>
          <p:nvPr/>
        </p:nvSpPr>
        <p:spPr>
          <a:xfrm>
            <a:off x="614600" y="531525"/>
            <a:ext cx="433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Transparencia radical y propósito compartido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eec8bba6_0_110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60eec8bba6_0_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60eec8bba6_0_110"/>
          <p:cNvSpPr txBox="1"/>
          <p:nvPr/>
        </p:nvSpPr>
        <p:spPr>
          <a:xfrm>
            <a:off x="614600" y="531525"/>
            <a:ext cx="433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Equipos como red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189" name="Google Shape;189;g360eec8bba6_0_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6899" y="1184900"/>
            <a:ext cx="5546324" cy="302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0eec8bba6_0_117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3B4449"/>
                </a:solidFill>
                <a:latin typeface="Arial"/>
                <a:ea typeface="Arial"/>
                <a:cs typeface="Arial"/>
                <a:sym typeface="Arial"/>
              </a:rPr>
              <a:t>Agilidad Organizacional - Liderazgo Ágil - Equipo de Alto Rendimiento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60eec8bba6_0_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60eec8bba6_0_117"/>
          <p:cNvSpPr txBox="1"/>
          <p:nvPr/>
        </p:nvSpPr>
        <p:spPr>
          <a:xfrm>
            <a:off x="614600" y="531525"/>
            <a:ext cx="433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2"/>
                </a:solidFill>
              </a:rPr>
              <a:t>Cierre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97" name="Google Shape;197;g360eec8bba6_0_117"/>
          <p:cNvSpPr txBox="1"/>
          <p:nvPr/>
        </p:nvSpPr>
        <p:spPr>
          <a:xfrm>
            <a:off x="682200" y="1551600"/>
            <a:ext cx="5349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s" sz="1200">
                <a:solidFill>
                  <a:schemeClr val="dk2"/>
                </a:solidFill>
              </a:rPr>
              <a:t>¿Dónde vemos rigidez innecesaria?</a:t>
            </a:r>
            <a:br>
              <a:rPr lang="es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s" sz="1200">
                <a:solidFill>
                  <a:schemeClr val="dk2"/>
                </a:solidFill>
              </a:rPr>
              <a:t>¿El equipo está alineado o solo agrupado?</a:t>
            </a:r>
            <a:br>
              <a:rPr lang="es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s" sz="1200">
                <a:solidFill>
                  <a:schemeClr val="dk2"/>
                </a:solidFill>
              </a:rPr>
              <a:t>¿Podemos liderar dando contexto en vez de dar órdenes?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Presentación en pantalla (16:9)</PresentationFormat>
  <Paragraphs>68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 Torres</dc:creator>
  <cp:lastModifiedBy>Martin Torres</cp:lastModifiedBy>
  <cp:revision>1</cp:revision>
  <dcterms:modified xsi:type="dcterms:W3CDTF">2025-06-15T21:28:31Z</dcterms:modified>
</cp:coreProperties>
</file>