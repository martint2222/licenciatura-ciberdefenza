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hPe97nwXW8oQPpox+PT338xXIC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CC6A06-AD4E-4A57-A5FF-2AE696FD67BF}">
  <a:tblStyle styleId="{D3CC6A06-AD4E-4A57-A5FF-2AE696FD67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46F128E-ADB6-4936-AF3B-7605A0EC518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0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0eec8bba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En esta clase estaremos hablando principalmente de ITIL con Foco principalmente en lo que es la mejora continua según el modelo ITIL considerando todas sus aristas y bajando también a varios ejemplos prácticos.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" name="Google Shape;58;g360eec8bba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0eec8bba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64" name="Google Shape;64;g360eec8bba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22be12ad7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72" name="Google Shape;72;g3622be12ad7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22be12ad7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81" name="Google Shape;81;g3622be12ad7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22be12ad7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89" name="Google Shape;89;g3622be12ad7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22be12ad7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97" name="Google Shape;97;g3622be12ad7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22be12ad7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105" name="Google Shape;105;g3622be12ad7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22be12ad7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113" name="Google Shape;113;g3622be12ad7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22be12ad7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121" name="Google Shape;121;g3622be12ad7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22be12ad7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129" name="Google Shape;129;g3622be12ad7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22be12ad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137" name="Google Shape;137;g3622be12ad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22be12ad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146" name="Google Shape;146;g3622be12ad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22be12ad7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154" name="Google Shape;154;g3622be12ad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22be12ad7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162" name="Google Shape;162;g3622be12ad7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22be12ad7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170" name="Google Shape;170;g3622be12ad7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22be12ad7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181" name="Google Shape;181;g3622be12ad7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22be12ad7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189" name="Google Shape;189;g3622be12ad7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22be12ad7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197" name="Google Shape;197;g3622be12ad7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22be12ad7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205" name="Google Shape;205;g3622be12ad7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22be12ad7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213" name="Google Shape;213;g3622be12ad7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22be12ad7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221" name="Google Shape;221;g3622be12ad7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622be12ad7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229" name="Google Shape;229;g3622be12ad7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22be12ad7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239" name="Google Shape;239;g3622be12ad7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3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3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p3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3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0eec8bba6_0_0"/>
          <p:cNvSpPr txBox="1"/>
          <p:nvPr/>
        </p:nvSpPr>
        <p:spPr>
          <a:xfrm>
            <a:off x="883825" y="1085950"/>
            <a:ext cx="69828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 Servicios de Información (GSI)</a:t>
            </a:r>
            <a:endParaRPr sz="2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Licenciatura en Ciberdefensa – Universidad de la Defensa Nacional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Docentes: Alejandro Fioretti - Flavio Alfano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Clase 1</a:t>
            </a:r>
            <a:r>
              <a:rPr lang="es" sz="1300">
                <a:solidFill>
                  <a:schemeClr val="dk1"/>
                </a:solidFill>
              </a:rPr>
              <a:t>2</a:t>
            </a:r>
            <a:r>
              <a:rPr lang="e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s" sz="1300">
                <a:solidFill>
                  <a:schemeClr val="dk1"/>
                </a:solidFill>
              </a:rPr>
              <a:t>Gestión de Requerimientos - Gestión de Cambios - Gestión de Incidentes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g360eec8bba6_0_0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0eec8bba6_0_5"/>
          <p:cNvSpPr/>
          <p:nvPr/>
        </p:nvSpPr>
        <p:spPr>
          <a:xfrm>
            <a:off x="622948" y="810200"/>
            <a:ext cx="402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Objetivos de la clase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60eec8bba6_0_5"/>
          <p:cNvSpPr/>
          <p:nvPr/>
        </p:nvSpPr>
        <p:spPr>
          <a:xfrm>
            <a:off x="614600" y="1281700"/>
            <a:ext cx="79683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es">
                <a:solidFill>
                  <a:schemeClr val="dk2"/>
                </a:solidFill>
              </a:rPr>
              <a:t>Identificar y clasificar requerimientos según su tipo y origen.</a:t>
            </a:r>
            <a:endParaRPr>
              <a:solidFill>
                <a:schemeClr val="dk2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es">
                <a:solidFill>
                  <a:schemeClr val="dk2"/>
                </a:solidFill>
              </a:rPr>
              <a:t>Comprender el ciclo de vida del requerimiento y técnicas de priorización (MoSCoW y WSJF).</a:t>
            </a:r>
            <a:endParaRPr>
              <a:solidFill>
                <a:schemeClr val="dk2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es">
                <a:solidFill>
                  <a:schemeClr val="dk2"/>
                </a:solidFill>
              </a:rPr>
              <a:t>Entender la gestión del cambio técnico y organizacional, y aplicar el modelo ADKAR.</a:t>
            </a:r>
            <a:endParaRPr>
              <a:solidFill>
                <a:schemeClr val="dk2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es">
                <a:solidFill>
                  <a:schemeClr val="dk2"/>
                </a:solidFill>
              </a:rPr>
              <a:t>Diferenciar incidentes y problemas, sus objetivos y tiempos de respuesta.</a:t>
            </a:r>
            <a:endParaRPr>
              <a:solidFill>
                <a:schemeClr val="dk2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es">
                <a:solidFill>
                  <a:schemeClr val="dk2"/>
                </a:solidFill>
              </a:rPr>
              <a:t>Aplicar herramientas de análisis de causa raíz (Ishikawa, 5 Por Qué).</a:t>
            </a:r>
            <a:endParaRPr>
              <a:solidFill>
                <a:schemeClr val="dk2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es">
                <a:solidFill>
                  <a:schemeClr val="dk2"/>
                </a:solidFill>
              </a:rPr>
              <a:t>Conocer los flujos de gestión de incidentes y problemas según ITIL.</a:t>
            </a:r>
            <a:endParaRPr>
              <a:solidFill>
                <a:schemeClr val="dk2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es">
                <a:solidFill>
                  <a:schemeClr val="dk2"/>
                </a:solidFill>
              </a:rPr>
              <a:t>Introducir el marco MOF como enfoque integral de gestión operativa.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8" name="Google Shape;68;g360eec8bba6_0_5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g360eec8bba6_0_5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22be12ad7_0_43"/>
          <p:cNvSpPr/>
          <p:nvPr/>
        </p:nvSpPr>
        <p:spPr>
          <a:xfrm>
            <a:off x="622948" y="810200"/>
            <a:ext cx="402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Gestión de Requerimientos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g3622be12ad7_0_43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g3622be12ad7_0_4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38225" y="1181412"/>
            <a:ext cx="4717101" cy="31753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622be12ad7_0_43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622be12ad7_0_43"/>
          <p:cNvSpPr txBox="1"/>
          <p:nvPr/>
        </p:nvSpPr>
        <p:spPr>
          <a:xfrm>
            <a:off x="733425" y="1181400"/>
            <a:ext cx="3000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</a:rPr>
              <a:t>Un </a:t>
            </a:r>
            <a:r>
              <a:rPr lang="es" sz="1100" b="1">
                <a:solidFill>
                  <a:schemeClr val="dk2"/>
                </a:solidFill>
              </a:rPr>
              <a:t>requerimiento</a:t>
            </a:r>
            <a:r>
              <a:rPr lang="es" sz="1100">
                <a:solidFill>
                  <a:schemeClr val="dk2"/>
                </a:solidFill>
              </a:rPr>
              <a:t> es una necesidad documentada que expresa una condición o capacidad que debe tener un sistema, producto o servicio para cumplir con un objetivo del negocio, del usuario o con una norma establecida.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g3622be12ad7_0_51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622be12ad7_0_51"/>
          <p:cNvSpPr/>
          <p:nvPr/>
        </p:nvSpPr>
        <p:spPr>
          <a:xfrm>
            <a:off x="614601" y="544450"/>
            <a:ext cx="6166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Tipos de requerimientos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622be12ad7_0_51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6" name="Google Shape;86;g3622be12ad7_0_51"/>
          <p:cNvGraphicFramePr/>
          <p:nvPr/>
        </p:nvGraphicFramePr>
        <p:xfrm>
          <a:off x="862013" y="1493225"/>
          <a:ext cx="7419975" cy="2331720"/>
        </p:xfrm>
        <a:graphic>
          <a:graphicData uri="http://schemas.openxmlformats.org/drawingml/2006/table">
            <a:tbl>
              <a:tblPr>
                <a:noFill/>
                <a:tableStyleId>{D3CC6A06-AD4E-4A57-A5FF-2AE696FD67BF}</a:tableStyleId>
              </a:tblPr>
              <a:tblGrid>
                <a:gridCol w="102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8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>
                          <a:solidFill>
                            <a:schemeClr val="dk2"/>
                          </a:solidFill>
                        </a:rPr>
                        <a:t>Tipo de Requerimiento</a:t>
                      </a:r>
                      <a:endParaRPr sz="1000" b="1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>
                          <a:solidFill>
                            <a:schemeClr val="dk2"/>
                          </a:solidFill>
                        </a:rPr>
                        <a:t>¿Qué describe?</a:t>
                      </a:r>
                      <a:endParaRPr sz="1000" b="1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>
                          <a:solidFill>
                            <a:schemeClr val="dk2"/>
                          </a:solidFill>
                        </a:rPr>
                        <a:t>Ejemplo</a:t>
                      </a:r>
                      <a:endParaRPr sz="1000" b="1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De negocio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Objetivo o necesidad estratégica, regulatoria o de eficiencia.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“Reducir un 20% los tiempos de atención al cliente.”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Del usuario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Lo que el usuario final espera poder hacer o lograr.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“Como ciudadano, quiero sacar turno online para evitar filas.”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Funcional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Comportamiento específico del sistema ante determinadas entradas.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“El sistema debe permitir cancelar un turno hasta 24h antes.”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No funcional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Atributos de calidad como rendimiento, seguridad o usabilidad.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“La página debe cargar en menos de 3 segundos.”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Del sistema (técnico)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Condiciones necesarias para integraciones, compatibilidad o infraestructura.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“La solución debe ser compatible con navegadores Chrome 110+ y cumplir SSO.”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3622be12ad7_0_288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622be12ad7_0_288"/>
          <p:cNvSpPr/>
          <p:nvPr/>
        </p:nvSpPr>
        <p:spPr>
          <a:xfrm>
            <a:off x="614601" y="544450"/>
            <a:ext cx="6166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Técnicas según el origen del requerimiento 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622be12ad7_0_288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4" name="Google Shape;94;g3622be12ad7_0_288"/>
          <p:cNvGraphicFramePr/>
          <p:nvPr/>
        </p:nvGraphicFramePr>
        <p:xfrm>
          <a:off x="352413" y="1141525"/>
          <a:ext cx="8439175" cy="3078169"/>
        </p:xfrm>
        <a:graphic>
          <a:graphicData uri="http://schemas.openxmlformats.org/drawingml/2006/table">
            <a:tbl>
              <a:tblPr>
                <a:noFill/>
                <a:tableStyleId>{D3CC6A06-AD4E-4A57-A5FF-2AE696FD67BF}</a:tableStyleId>
              </a:tblPr>
              <a:tblGrid>
                <a:gridCol w="177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0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 b="1">
                          <a:solidFill>
                            <a:srgbClr val="434343"/>
                          </a:solidFill>
                        </a:rPr>
                        <a:t>Origen del requerimiento</a:t>
                      </a:r>
                      <a:endParaRPr sz="600" b="1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 b="1">
                          <a:solidFill>
                            <a:srgbClr val="434343"/>
                          </a:solidFill>
                        </a:rPr>
                        <a:t>Técnicas más efectivas</a:t>
                      </a:r>
                      <a:endParaRPr sz="600" b="1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 b="1">
                          <a:solidFill>
                            <a:srgbClr val="434343"/>
                          </a:solidFill>
                        </a:rPr>
                        <a:t>¿Por qué se usan?</a:t>
                      </a:r>
                      <a:endParaRPr sz="600" b="1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Problema operativo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- 5 Por Qué (cadena causal)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Ishikawa (espina de pescado)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Análisis de logs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Historias de incidentes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Ayudan a entender la causa raíz y evitar soluciones superficiales.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Oportunidad de mejora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Benchmarking (comparación con referentes)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Value Stream Mapping (mapa de flujo de valor)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Entrevistas con usuarios frecuentes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Matriz valor/esfuerzo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Permiten identificar cuellos de botella y estimar retorno de inversión.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Requerimiento legal/normativo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Análisis de impacto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Checklists (listas de verificación)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Revisión de documentos legales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Trazabilidad cruzada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Aseguran cumplimiento normativo y evitan riesgos legales.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Idea del usuario final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Entrevistas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Encuestas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Card Sorting (ordenamiento de conceptos)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Talleres de diseño centrado en el usuario (UX workshops)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Ayudan a transformar ideas en requerimientos útiles y comprensibles.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Datos y métricas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Análisis de comportamiento (Google Analytics, etc.)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Mapas de calor (heatmaps)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A/B Testing (pruebas comparativas)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Journey Mapping (mapa del recorrido del usuario)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Detectan oportunidades de mejora basadas en comportamiento real.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Retroalimentación post-implementación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Retrospectivas (evaluación posterior al lanzamiento)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Feedback con usuarios clave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Análisis de tickets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Encuestas post-lanzamiento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Permiten ajustar la solución según uso real y percepción.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Iniciativas estratégicas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Roadmaps (hojas de ruta)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Objetivos SMART (específicos, medibles, alcanzables, relevantes y temporales)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WSJF (priorización ponderada)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- Impact Mapping (mapa de impacto estratégico)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solidFill>
                            <a:srgbClr val="434343"/>
                          </a:solidFill>
                        </a:rPr>
                        <a:t>Alinean los requerimientos con objetivos institucionales de alto nivel.</a:t>
                      </a:r>
                      <a:endParaRPr sz="600">
                        <a:solidFill>
                          <a:srgbClr val="434343"/>
                        </a:solidFill>
                      </a:endParaRPr>
                    </a:p>
                  </a:txBody>
                  <a:tcPr marL="28575" marR="2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622be12ad7_0_107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622be12ad7_0_10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7800" y="1239500"/>
            <a:ext cx="5664845" cy="327792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622be12ad7_0_107"/>
          <p:cNvSpPr/>
          <p:nvPr/>
        </p:nvSpPr>
        <p:spPr>
          <a:xfrm>
            <a:off x="622951" y="810200"/>
            <a:ext cx="6166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Análisis de Requerimientos (Diagrama de Ishikawa)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622be12ad7_0_107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22be12ad7_0_61"/>
          <p:cNvSpPr/>
          <p:nvPr/>
        </p:nvSpPr>
        <p:spPr>
          <a:xfrm>
            <a:off x="622951" y="810200"/>
            <a:ext cx="6166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Análisis de Requerimientos (Diagrama de Ishikawa)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g3622be12ad7_0_61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622be12ad7_0_61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1375" y="1147775"/>
            <a:ext cx="4569001" cy="346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622be12ad7_0_61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22be12ad7_0_71"/>
          <p:cNvSpPr/>
          <p:nvPr/>
        </p:nvSpPr>
        <p:spPr>
          <a:xfrm>
            <a:off x="622951" y="810200"/>
            <a:ext cx="6166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Análisis de Requerimientos (5 Por Qué)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g3622be12ad7_0_71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622be12ad7_0_71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3552" y="1087100"/>
            <a:ext cx="5161150" cy="344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622be12ad7_0_71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3622be12ad7_0_79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622be12ad7_0_79"/>
          <p:cNvSpPr txBox="1"/>
          <p:nvPr/>
        </p:nvSpPr>
        <p:spPr>
          <a:xfrm>
            <a:off x="581000" y="400150"/>
            <a:ext cx="6283800" cy="30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chemeClr val="dk2"/>
                </a:solidFill>
              </a:rPr>
              <a:t>Caso aplicado: Turnos digitales fallidos</a:t>
            </a:r>
            <a:endParaRPr sz="1100" b="1">
              <a:solidFill>
                <a:schemeClr val="dk2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900"/>
              <a:buAutoNum type="arabicPeriod"/>
            </a:pPr>
            <a:r>
              <a:rPr lang="es" sz="900" b="1">
                <a:solidFill>
                  <a:schemeClr val="dk2"/>
                </a:solidFill>
              </a:rPr>
              <a:t>¿Por qué quieren un botón de recarga en la página de turnos?</a:t>
            </a:r>
            <a:br>
              <a:rPr lang="es" sz="900" b="1">
                <a:solidFill>
                  <a:schemeClr val="dk2"/>
                </a:solidFill>
              </a:rPr>
            </a:br>
            <a:r>
              <a:rPr lang="es" sz="900">
                <a:solidFill>
                  <a:schemeClr val="dk2"/>
                </a:solidFill>
              </a:rPr>
              <a:t> → Porque a veces, cuando la persona selecciona un turno, el sistema queda congelado o no muestra confirmación.</a:t>
            </a:r>
            <a:br>
              <a:rPr lang="es" sz="900">
                <a:solidFill>
                  <a:schemeClr val="dk2"/>
                </a:solidFill>
              </a:rPr>
            </a:br>
            <a:endParaRPr sz="900">
              <a:solidFill>
                <a:schemeClr val="dk2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AutoNum type="arabicPeriod"/>
            </a:pPr>
            <a:r>
              <a:rPr lang="es" sz="900" b="1">
                <a:solidFill>
                  <a:schemeClr val="dk2"/>
                </a:solidFill>
              </a:rPr>
              <a:t>¿Por qué el sistema queda congelado o no muestra confirmación?</a:t>
            </a:r>
            <a:br>
              <a:rPr lang="es" sz="900" b="1">
                <a:solidFill>
                  <a:schemeClr val="dk2"/>
                </a:solidFill>
              </a:rPr>
            </a:br>
            <a:r>
              <a:rPr lang="es" sz="900">
                <a:solidFill>
                  <a:schemeClr val="dk2"/>
                </a:solidFill>
              </a:rPr>
              <a:t> → Porque el backend no responde en esos casos.</a:t>
            </a:r>
            <a:br>
              <a:rPr lang="es" sz="900">
                <a:solidFill>
                  <a:schemeClr val="dk2"/>
                </a:solidFill>
              </a:rPr>
            </a:br>
            <a:endParaRPr sz="900">
              <a:solidFill>
                <a:schemeClr val="dk2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AutoNum type="arabicPeriod"/>
            </a:pPr>
            <a:r>
              <a:rPr lang="es" sz="900" b="1">
                <a:solidFill>
                  <a:schemeClr val="dk2"/>
                </a:solidFill>
              </a:rPr>
              <a:t>¿Por qué el backend no responde?</a:t>
            </a:r>
            <a:br>
              <a:rPr lang="es" sz="900" b="1">
                <a:solidFill>
                  <a:schemeClr val="dk2"/>
                </a:solidFill>
              </a:rPr>
            </a:br>
            <a:r>
              <a:rPr lang="es" sz="900">
                <a:solidFill>
                  <a:schemeClr val="dk2"/>
                </a:solidFill>
              </a:rPr>
              <a:t> → Porque se están generando dos solicitudes al mismo tiempo si el usuario abre dos pestañas o hace doble clic.</a:t>
            </a:r>
            <a:br>
              <a:rPr lang="es" sz="900">
                <a:solidFill>
                  <a:schemeClr val="dk2"/>
                </a:solidFill>
              </a:rPr>
            </a:br>
            <a:endParaRPr sz="900">
              <a:solidFill>
                <a:schemeClr val="dk2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AutoNum type="arabicPeriod"/>
            </a:pPr>
            <a:r>
              <a:rPr lang="es" sz="900" b="1">
                <a:solidFill>
                  <a:schemeClr val="dk2"/>
                </a:solidFill>
              </a:rPr>
              <a:t>¿Por qué se permiten solicitudes duplicadas?</a:t>
            </a:r>
            <a:br>
              <a:rPr lang="es" sz="900" b="1">
                <a:solidFill>
                  <a:schemeClr val="dk2"/>
                </a:solidFill>
              </a:rPr>
            </a:br>
            <a:r>
              <a:rPr lang="es" sz="900">
                <a:solidFill>
                  <a:schemeClr val="dk2"/>
                </a:solidFill>
              </a:rPr>
              <a:t> → Porque el frontend no tiene controles para evitar envíos múltiples simultáneos.</a:t>
            </a:r>
            <a:br>
              <a:rPr lang="es" sz="900">
                <a:solidFill>
                  <a:schemeClr val="dk2"/>
                </a:solidFill>
              </a:rPr>
            </a:br>
            <a:endParaRPr sz="900">
              <a:solidFill>
                <a:schemeClr val="dk2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AutoNum type="arabicPeriod"/>
            </a:pPr>
            <a:r>
              <a:rPr lang="es" sz="900" b="1">
                <a:solidFill>
                  <a:schemeClr val="dk2"/>
                </a:solidFill>
              </a:rPr>
              <a:t>¿Por qué no se implementaron esos controles?</a:t>
            </a:r>
            <a:br>
              <a:rPr lang="es" sz="900" b="1">
                <a:solidFill>
                  <a:schemeClr val="dk2"/>
                </a:solidFill>
              </a:rPr>
            </a:br>
            <a:r>
              <a:rPr lang="es" sz="900">
                <a:solidFill>
                  <a:schemeClr val="dk2"/>
                </a:solidFill>
              </a:rPr>
              <a:t> → Porque no se contemplaron en el diseño original, y nadie detectó esa necesidad en QA.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5" name="Google Shape;125;g3622be12ad7_0_79"/>
          <p:cNvSpPr txBox="1"/>
          <p:nvPr/>
        </p:nvSpPr>
        <p:spPr>
          <a:xfrm>
            <a:off x="581000" y="3386150"/>
            <a:ext cx="75543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chemeClr val="dk2"/>
                </a:solidFill>
              </a:rPr>
              <a:t>Resultado:</a:t>
            </a:r>
            <a:endParaRPr sz="10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El problema </a:t>
            </a:r>
            <a:r>
              <a:rPr lang="es" sz="800" b="1">
                <a:solidFill>
                  <a:schemeClr val="dk2"/>
                </a:solidFill>
              </a:rPr>
              <a:t>no se resuelve con un botón</a:t>
            </a:r>
            <a:r>
              <a:rPr lang="es" sz="800">
                <a:solidFill>
                  <a:schemeClr val="dk2"/>
                </a:solidFill>
              </a:rPr>
              <a:t>. El requerimiento real podría ser:</a:t>
            </a:r>
            <a:endParaRPr sz="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“Como usuario, quiero que el sistema detecte si ya envié una solicitud de turno para evitar errores o bloqueos.”</a:t>
            </a:r>
            <a:endParaRPr sz="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Y eso se transforma en requerimientos técnicos para:</a:t>
            </a:r>
            <a:endParaRPr sz="800">
              <a:solidFill>
                <a:schemeClr val="dk2"/>
              </a:solidFill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s" sz="800">
                <a:solidFill>
                  <a:schemeClr val="dk2"/>
                </a:solidFill>
              </a:rPr>
              <a:t>Evitar doble clic o múltiples envíos simultáneos.</a:t>
            </a:r>
            <a:endParaRPr sz="800">
              <a:solidFill>
                <a:schemeClr val="dk2"/>
              </a:solidFill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s" sz="800">
                <a:solidFill>
                  <a:schemeClr val="dk2"/>
                </a:solidFill>
              </a:rPr>
              <a:t>Manejar correctamente el tiempo de espera de la respuesta del backend.</a:t>
            </a:r>
            <a:endParaRPr sz="800">
              <a:solidFill>
                <a:schemeClr val="dk2"/>
              </a:solidFill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s" sz="800">
                <a:solidFill>
                  <a:schemeClr val="dk2"/>
                </a:solidFill>
              </a:rPr>
              <a:t>Mostrar un mensaje claro si ya hay una solicitud en curso.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6" name="Google Shape;126;g3622be12ad7_0_79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3622be12ad7_0_117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622be12ad7_0_117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g3622be12ad7_0_11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54974" y="1225875"/>
            <a:ext cx="4650851" cy="329155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622be12ad7_0_117"/>
          <p:cNvSpPr/>
          <p:nvPr/>
        </p:nvSpPr>
        <p:spPr>
          <a:xfrm>
            <a:off x="622951" y="810200"/>
            <a:ext cx="6166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Value Stream Mapping (Mapa de flujo de valor)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22be12ad7_0_0"/>
          <p:cNvSpPr/>
          <p:nvPr/>
        </p:nvSpPr>
        <p:spPr>
          <a:xfrm>
            <a:off x="622948" y="810200"/>
            <a:ext cx="402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Prioridades - Método MoSCoW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g3622be12ad7_0_0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622be12ad7_0_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035" y="1367437"/>
            <a:ext cx="7950564" cy="2508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622be12ad7_0_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96901" y="202817"/>
            <a:ext cx="1623851" cy="106788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622be12ad7_0_0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22be12ad7_0_10"/>
          <p:cNvSpPr/>
          <p:nvPr/>
        </p:nvSpPr>
        <p:spPr>
          <a:xfrm>
            <a:off x="622948" y="810200"/>
            <a:ext cx="402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WSJF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g3622be12ad7_0_10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622be12ad7_0_1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90800" y="1239500"/>
            <a:ext cx="4500202" cy="327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622be12ad7_0_10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22be12ad7_0_27"/>
          <p:cNvSpPr/>
          <p:nvPr/>
        </p:nvSpPr>
        <p:spPr>
          <a:xfrm>
            <a:off x="622948" y="810200"/>
            <a:ext cx="402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WSJF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g3622be12ad7_0_27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622be12ad7_0_2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6400" y="1087100"/>
            <a:ext cx="5885909" cy="327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622be12ad7_0_27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22be12ad7_0_133"/>
          <p:cNvSpPr/>
          <p:nvPr/>
        </p:nvSpPr>
        <p:spPr>
          <a:xfrm>
            <a:off x="622948" y="657800"/>
            <a:ext cx="402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Flujo de Gestión del Cambio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g3622be12ad7_0_133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26291" y="4438147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622be12ad7_0_133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g3622be12ad7_0_13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1600" y="1087100"/>
            <a:ext cx="5854691" cy="327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22be12ad7_0_150"/>
          <p:cNvSpPr/>
          <p:nvPr/>
        </p:nvSpPr>
        <p:spPr>
          <a:xfrm>
            <a:off x="622948" y="657800"/>
            <a:ext cx="402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Flujo de Gestión del Cambio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g3622be12ad7_0_150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622be12ad7_0_150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5" name="Google Shape;175;g3622be12ad7_0_150"/>
          <p:cNvGraphicFramePr/>
          <p:nvPr/>
        </p:nvGraphicFramePr>
        <p:xfrm>
          <a:off x="1706388" y="1397700"/>
          <a:ext cx="5731225" cy="1122325"/>
        </p:xfrm>
        <a:graphic>
          <a:graphicData uri="http://schemas.openxmlformats.org/drawingml/2006/table">
            <a:tbl>
              <a:tblPr>
                <a:noFill/>
                <a:tableStyleId>{246F128E-ADB6-4936-AF3B-7605A0EC5187}</a:tableStyleId>
              </a:tblPr>
              <a:tblGrid>
                <a:gridCol w="71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6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b="1">
                          <a:solidFill>
                            <a:schemeClr val="dk2"/>
                          </a:solidFill>
                        </a:rPr>
                        <a:t>Tipo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b="1">
                          <a:solidFill>
                            <a:schemeClr val="dk2"/>
                          </a:solidFill>
                        </a:rPr>
                        <a:t>Características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b="1">
                          <a:solidFill>
                            <a:schemeClr val="dk2"/>
                          </a:solidFill>
                        </a:rPr>
                        <a:t>Ejemplo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b="1">
                          <a:solidFill>
                            <a:schemeClr val="dk2"/>
                          </a:solidFill>
                        </a:rPr>
                        <a:t>Estándar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chemeClr val="dk2"/>
                          </a:solidFill>
                        </a:rPr>
                        <a:t>Frecuente, de bajo riesgo, automatizable, preaprobado.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chemeClr val="dk2"/>
                          </a:solidFill>
                        </a:rPr>
                        <a:t>Reinicio nocturno de servidores todos los sábados.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b="1">
                          <a:solidFill>
                            <a:schemeClr val="dk2"/>
                          </a:solidFill>
                        </a:rPr>
                        <a:t>Normal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chemeClr val="dk2"/>
                          </a:solidFill>
                        </a:rPr>
                        <a:t>Requiere análisis de impacto, evaluación y aprobación.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chemeClr val="dk2"/>
                          </a:solidFill>
                        </a:rPr>
                        <a:t>Migrar de versión un sistema core, modificar reglas de negocio.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b="1">
                          <a:solidFill>
                            <a:schemeClr val="dk2"/>
                          </a:solidFill>
                        </a:rPr>
                        <a:t>Urgente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chemeClr val="dk2"/>
                          </a:solidFill>
                        </a:rPr>
                        <a:t>Necesita ejecutarse rápido, riesgo aceptado, CAB de emergencia.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chemeClr val="dk2"/>
                          </a:solidFill>
                        </a:rPr>
                        <a:t>Parche crítico de seguridad ante vulnerabilidad tipo zero-day.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6" name="Google Shape;176;g3622be12ad7_0_150"/>
          <p:cNvGraphicFramePr/>
          <p:nvPr/>
        </p:nvGraphicFramePr>
        <p:xfrm>
          <a:off x="1706400" y="3096125"/>
          <a:ext cx="5731200" cy="1355000"/>
        </p:xfrm>
        <a:graphic>
          <a:graphicData uri="http://schemas.openxmlformats.org/drawingml/2006/table">
            <a:tbl>
              <a:tblPr>
                <a:noFill/>
                <a:tableStyleId>{246F128E-ADB6-4936-AF3B-7605A0EC5187}</a:tableStyleId>
              </a:tblPr>
              <a:tblGrid>
                <a:gridCol w="70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b="1">
                          <a:solidFill>
                            <a:schemeClr val="dk2"/>
                          </a:solidFill>
                        </a:rPr>
                        <a:t>Eje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b="1">
                          <a:solidFill>
                            <a:schemeClr val="dk2"/>
                          </a:solidFill>
                        </a:rPr>
                        <a:t>Pregunta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b="1">
                          <a:solidFill>
                            <a:schemeClr val="dk2"/>
                          </a:solidFill>
                        </a:rPr>
                        <a:t>Ejemplo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b="1">
                          <a:solidFill>
                            <a:schemeClr val="dk2"/>
                          </a:solidFill>
                        </a:rPr>
                        <a:t>Valor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chemeClr val="dk2"/>
                          </a:solidFill>
                        </a:rPr>
                        <a:t>¿Qué beneficio trae este cambio?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chemeClr val="dk2"/>
                          </a:solidFill>
                        </a:rPr>
                        <a:t>Reduce el tiempo de atención de 3 días a 2 horas.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b="1">
                          <a:solidFill>
                            <a:schemeClr val="dk2"/>
                          </a:solidFill>
                        </a:rPr>
                        <a:t>Urgencia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chemeClr val="dk2"/>
                          </a:solidFill>
                        </a:rPr>
                        <a:t>¿Qué pasa si no lo hacemos ahora?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chemeClr val="dk2"/>
                          </a:solidFill>
                        </a:rPr>
                        <a:t>El sistema seguirá exponiendo una brecha de seguridad.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b="1">
                          <a:solidFill>
                            <a:schemeClr val="dk2"/>
                          </a:solidFill>
                        </a:rPr>
                        <a:t>Riesgo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chemeClr val="dk2"/>
                          </a:solidFill>
                        </a:rPr>
                        <a:t>¿Qué tan probable es que falle y qué impacto tendría?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chemeClr val="dk2"/>
                          </a:solidFill>
                        </a:rPr>
                        <a:t>Puede interrumpir la facturación si no se prueba bien.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0" marB="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7" name="Google Shape;177;g3622be12ad7_0_150"/>
          <p:cNvSpPr txBox="1"/>
          <p:nvPr/>
        </p:nvSpPr>
        <p:spPr>
          <a:xfrm>
            <a:off x="622950" y="996850"/>
            <a:ext cx="4577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</a:rPr>
              <a:t>Tipos de cambios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78" name="Google Shape;178;g3622be12ad7_0_150"/>
          <p:cNvSpPr txBox="1"/>
          <p:nvPr/>
        </p:nvSpPr>
        <p:spPr>
          <a:xfrm>
            <a:off x="622950" y="2673250"/>
            <a:ext cx="4653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</a:rPr>
              <a:t>¿Cómo se prioriza un cambio?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22be12ad7_0_171"/>
          <p:cNvSpPr/>
          <p:nvPr/>
        </p:nvSpPr>
        <p:spPr>
          <a:xfrm>
            <a:off x="622951" y="657800"/>
            <a:ext cx="62607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 b="1">
                <a:solidFill>
                  <a:schemeClr val="dk2"/>
                </a:solidFill>
              </a:rPr>
              <a:t>Gestión del cambio técnico vs. cambio organizacional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g3622be12ad7_0_171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622be12ad7_0_171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g3622be12ad7_0_171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600" y="1087100"/>
            <a:ext cx="6097444" cy="343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22be12ad7_0_184"/>
          <p:cNvSpPr/>
          <p:nvPr/>
        </p:nvSpPr>
        <p:spPr>
          <a:xfrm>
            <a:off x="622951" y="657800"/>
            <a:ext cx="62607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 b="1">
                <a:solidFill>
                  <a:schemeClr val="dk2"/>
                </a:solidFill>
              </a:rPr>
              <a:t>Gestión del cambio técnico vs. cambio organizacional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g3622be12ad7_0_184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622be12ad7_0_184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g3622be12ad7_0_1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980" y="1577350"/>
            <a:ext cx="7985975" cy="205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g3622be12ad7_0_192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622be12ad7_0_192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g3622be12ad7_0_19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8375" y="1020775"/>
            <a:ext cx="4166551" cy="3430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622be12ad7_0_192"/>
          <p:cNvSpPr/>
          <p:nvPr/>
        </p:nvSpPr>
        <p:spPr>
          <a:xfrm>
            <a:off x="622948" y="657800"/>
            <a:ext cx="402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MOF (Microsoft Operations Framework)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22be12ad7_0_202"/>
          <p:cNvSpPr/>
          <p:nvPr/>
        </p:nvSpPr>
        <p:spPr>
          <a:xfrm>
            <a:off x="622948" y="657800"/>
            <a:ext cx="402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MOF (Microsoft Operations Framework)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g3622be12ad7_0_202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622be12ad7_0_202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0" name="Google Shape;210;g3622be12ad7_0_202"/>
          <p:cNvGraphicFramePr/>
          <p:nvPr/>
        </p:nvGraphicFramePr>
        <p:xfrm>
          <a:off x="717275" y="1138313"/>
          <a:ext cx="7764725" cy="2560932"/>
        </p:xfrm>
        <a:graphic>
          <a:graphicData uri="http://schemas.openxmlformats.org/drawingml/2006/table">
            <a:tbl>
              <a:tblPr>
                <a:noFill/>
                <a:tableStyleId>{D3CC6A06-AD4E-4A57-A5FF-2AE696FD67BF}</a:tableStyleId>
              </a:tblPr>
              <a:tblGrid>
                <a:gridCol w="89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700" b="1">
                          <a:solidFill>
                            <a:schemeClr val="dk2"/>
                          </a:solidFill>
                        </a:rPr>
                        <a:t>Cuadrante</a:t>
                      </a:r>
                      <a:endParaRPr sz="7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700" b="1">
                          <a:solidFill>
                            <a:schemeClr val="dk2"/>
                          </a:solidFill>
                        </a:rPr>
                        <a:t>¿Qué hace?</a:t>
                      </a:r>
                      <a:endParaRPr sz="7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700" b="1">
                          <a:solidFill>
                            <a:schemeClr val="dk2"/>
                          </a:solidFill>
                        </a:rPr>
                        <a:t>Ejemplo concreto</a:t>
                      </a:r>
                      <a:endParaRPr sz="7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700" b="1">
                          <a:solidFill>
                            <a:schemeClr val="dk2"/>
                          </a:solidFill>
                        </a:rPr>
                        <a:t>Change</a:t>
                      </a:r>
                      <a:r>
                        <a:rPr lang="es" sz="700">
                          <a:solidFill>
                            <a:schemeClr val="dk2"/>
                          </a:solidFill>
                        </a:rPr>
                        <a:t> (Cambio)</a:t>
                      </a:r>
                      <a:endParaRPr sz="7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dirty="0">
                          <a:solidFill>
                            <a:schemeClr val="dk2"/>
                          </a:solidFill>
                        </a:rPr>
                        <a:t>Planifica y gestiona los cambios. Se asegura de que todo cambio esté aprobado, justificado y controlado.</a:t>
                      </a:r>
                      <a:endParaRPr sz="1000" dirty="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Agregamos una nueva funcionalidad al sistema de turnos. Se hace un análisis de impacto y un CAB.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700" b="1">
                          <a:solidFill>
                            <a:schemeClr val="dk2"/>
                          </a:solidFill>
                        </a:rPr>
                        <a:t>Operate</a:t>
                      </a:r>
                      <a:r>
                        <a:rPr lang="es" sz="700">
                          <a:solidFill>
                            <a:schemeClr val="dk2"/>
                          </a:solidFill>
                        </a:rPr>
                        <a:t> (Operar)</a:t>
                      </a:r>
                      <a:endParaRPr sz="7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Ejecuta y monitorea los servicios en vivo. Mantiene el servicio funcionando, asegurando rendimiento, disponibilidad y continuidad.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Se vigila que el sistema de turnos esté disponible 24/7 y que responda en menos de 2 segundos.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700" b="1">
                          <a:solidFill>
                            <a:schemeClr val="dk2"/>
                          </a:solidFill>
                        </a:rPr>
                        <a:t>Support</a:t>
                      </a:r>
                      <a:r>
                        <a:rPr lang="es" sz="700">
                          <a:solidFill>
                            <a:schemeClr val="dk2"/>
                          </a:solidFill>
                        </a:rPr>
                        <a:t> (Soporte)</a:t>
                      </a:r>
                      <a:endParaRPr sz="7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Atiende incidentes y solicitudes de los usuarios. Aplica correcciones temporales o permanentes.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El sistema de turnos se cae. El equipo de soporte lo reestablece y abre un ticket de incidente.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700" b="1">
                          <a:solidFill>
                            <a:schemeClr val="dk2"/>
                          </a:solidFill>
                        </a:rPr>
                        <a:t>Optimize</a:t>
                      </a:r>
                      <a:r>
                        <a:rPr lang="es" sz="700">
                          <a:solidFill>
                            <a:schemeClr val="dk2"/>
                          </a:solidFill>
                        </a:rPr>
                        <a:t> (Optimizar)</a:t>
                      </a:r>
                      <a:endParaRPr sz="7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2"/>
                          </a:solidFill>
                        </a:rPr>
                        <a:t>Evalúa y mejora los servicios. Analiza métricas, propone mejoras e innovación.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dirty="0">
                          <a:solidFill>
                            <a:schemeClr val="dk2"/>
                          </a:solidFill>
                        </a:rPr>
                        <a:t>Se detecta que el 80% de los reclamos son por demora en la web. Se propone rediseñar el flujo de validación.</a:t>
                      </a:r>
                      <a:endParaRPr sz="1000" dirty="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22be12ad7_0_219"/>
          <p:cNvSpPr/>
          <p:nvPr/>
        </p:nvSpPr>
        <p:spPr>
          <a:xfrm>
            <a:off x="622948" y="657800"/>
            <a:ext cx="402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Gestión de Incidentes - Gestión de Problemas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g3622be12ad7_0_219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622be12ad7_0_219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g3622be12ad7_0_21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325" y="1074050"/>
            <a:ext cx="7521348" cy="282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22be12ad7_0_241"/>
          <p:cNvSpPr/>
          <p:nvPr/>
        </p:nvSpPr>
        <p:spPr>
          <a:xfrm>
            <a:off x="622948" y="657800"/>
            <a:ext cx="402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Gestión de Incidentes - Gestión de Problemas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g3622be12ad7_0_241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622be12ad7_0_241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6" name="Google Shape;226;g3622be12ad7_0_241"/>
          <p:cNvGraphicFramePr/>
          <p:nvPr/>
        </p:nvGraphicFramePr>
        <p:xfrm>
          <a:off x="683900" y="1275400"/>
          <a:ext cx="7709550" cy="2407920"/>
        </p:xfrm>
        <a:graphic>
          <a:graphicData uri="http://schemas.openxmlformats.org/drawingml/2006/table">
            <a:tbl>
              <a:tblPr>
                <a:noFill/>
                <a:tableStyleId>{D3CC6A06-AD4E-4A57-A5FF-2AE696FD67BF}</a:tableStyleId>
              </a:tblPr>
              <a:tblGrid>
                <a:gridCol w="256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9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/>
                        <a:t>Concepto</a:t>
                      </a:r>
                      <a:endParaRPr sz="1000" b="1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 dirty="0"/>
                        <a:t>Incidente</a:t>
                      </a:r>
                      <a:endParaRPr sz="1000" b="1" dirty="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/>
                        <a:t>Problema</a:t>
                      </a:r>
                      <a:endParaRPr sz="1000" b="1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¿Qué es?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Interrupción del servicio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Causa raíz (conocida o no) de uno o varios incidentes</a:t>
                      </a:r>
                      <a:endParaRPr sz="1000"/>
                    </a:p>
                  </a:txBody>
                  <a:tcPr marL="91425" marR="9142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Objetivo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Restaurar rápidamente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Prevenir recurrencia</a:t>
                      </a:r>
                      <a:endParaRPr sz="1000"/>
                    </a:p>
                  </a:txBody>
                  <a:tcPr marL="91425" marR="9142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Tiempo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Urgente, en tiempo real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Analítico, post-urgencia</a:t>
                      </a:r>
                      <a:endParaRPr sz="1000"/>
                    </a:p>
                  </a:txBody>
                  <a:tcPr marL="91425" marR="9142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Resultado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Servicio reestablecido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Mejora estructural, solución definitiva</a:t>
                      </a:r>
                      <a:endParaRPr sz="1000"/>
                    </a:p>
                  </a:txBody>
                  <a:tcPr marL="91425" marR="9142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Herramientas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dirty="0"/>
                        <a:t>Helpdesk, monitoreo</a:t>
                      </a:r>
                      <a:endParaRPr sz="1000" dirty="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Ishikawa, 5 Por qué, base de errores conocidos</a:t>
                      </a:r>
                      <a:endParaRPr sz="1000"/>
                    </a:p>
                  </a:txBody>
                  <a:tcPr marL="91425" marR="9142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Ejemplo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“No puedo imprimir”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dirty="0"/>
                        <a:t>“Driver de impresora corrupto por falta de actualización”</a:t>
                      </a:r>
                      <a:endParaRPr sz="1000" dirty="0"/>
                    </a:p>
                  </a:txBody>
                  <a:tcPr marL="91425" marR="9142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22be12ad7_0_273"/>
          <p:cNvSpPr/>
          <p:nvPr/>
        </p:nvSpPr>
        <p:spPr>
          <a:xfrm>
            <a:off x="622948" y="657800"/>
            <a:ext cx="402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Gestión de Incidentes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g3622be12ad7_0_273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622be12ad7_0_273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g3622be12ad7_0_27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5400" y="934709"/>
            <a:ext cx="5741701" cy="368699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622be12ad7_0_273"/>
          <p:cNvSpPr/>
          <p:nvPr/>
        </p:nvSpPr>
        <p:spPr>
          <a:xfrm>
            <a:off x="4937750" y="2426025"/>
            <a:ext cx="1105800" cy="351600"/>
          </a:xfrm>
          <a:prstGeom prst="rect">
            <a:avLst/>
          </a:prstGeom>
          <a:solidFill>
            <a:srgbClr val="DFE8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622be12ad7_0_273"/>
          <p:cNvSpPr/>
          <p:nvPr/>
        </p:nvSpPr>
        <p:spPr>
          <a:xfrm>
            <a:off x="2707331" y="2571750"/>
            <a:ext cx="81600" cy="111600"/>
          </a:xfrm>
          <a:prstGeom prst="rect">
            <a:avLst/>
          </a:prstGeom>
          <a:solidFill>
            <a:srgbClr val="DFE8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22be12ad7_0_265"/>
          <p:cNvSpPr/>
          <p:nvPr/>
        </p:nvSpPr>
        <p:spPr>
          <a:xfrm>
            <a:off x="622948" y="657800"/>
            <a:ext cx="402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Gestión de Problemas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g3622be12ad7_0_265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622be12ad7_0_265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s" sz="1300">
                <a:solidFill>
                  <a:srgbClr val="999999"/>
                </a:solidFill>
              </a:rPr>
              <a:t>Gestión de Requerimientos - Gestión de Cambios - Gestión de Incidentes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4" name="Google Shape;244;g3622be12ad7_0_265"/>
          <p:cNvGraphicFramePr/>
          <p:nvPr/>
        </p:nvGraphicFramePr>
        <p:xfrm>
          <a:off x="683900" y="1275400"/>
          <a:ext cx="7709550" cy="2407920"/>
        </p:xfrm>
        <a:graphic>
          <a:graphicData uri="http://schemas.openxmlformats.org/drawingml/2006/table">
            <a:tbl>
              <a:tblPr>
                <a:noFill/>
                <a:tableStyleId>{D3CC6A06-AD4E-4A57-A5FF-2AE696FD67BF}</a:tableStyleId>
              </a:tblPr>
              <a:tblGrid>
                <a:gridCol w="256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9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/>
                        <a:t>Concepto</a:t>
                      </a:r>
                      <a:endParaRPr sz="1000" b="1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/>
                        <a:t>Incidente</a:t>
                      </a:r>
                      <a:endParaRPr sz="1000" b="1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/>
                        <a:t>Problema</a:t>
                      </a:r>
                      <a:endParaRPr sz="1000" b="1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¿Qué es?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Interrupción del servicio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Causa raíz (conocida o no) de uno o varios incidentes</a:t>
                      </a:r>
                      <a:endParaRPr sz="1000"/>
                    </a:p>
                  </a:txBody>
                  <a:tcPr marL="91425" marR="9142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Objetivo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Restaurar rápidamente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Prevenir recurrencia</a:t>
                      </a:r>
                      <a:endParaRPr sz="1000"/>
                    </a:p>
                  </a:txBody>
                  <a:tcPr marL="91425" marR="9142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Tiempo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Urgente, en tiempo real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Analítico, post-urgencia</a:t>
                      </a:r>
                      <a:endParaRPr sz="1000"/>
                    </a:p>
                  </a:txBody>
                  <a:tcPr marL="91425" marR="9142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Resultado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Servicio reestablecido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Mejora estructural, solución definitiva</a:t>
                      </a:r>
                      <a:endParaRPr sz="1000"/>
                    </a:p>
                  </a:txBody>
                  <a:tcPr marL="91425" marR="9142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Herramientas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Helpdesk, monitoreo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Ishikawa, 5 Por qué, base de errores conocidos</a:t>
                      </a:r>
                      <a:endParaRPr sz="1000"/>
                    </a:p>
                  </a:txBody>
                  <a:tcPr marL="91425" marR="9142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Ejemplo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“No puedo imprimir”</a:t>
                      </a:r>
                      <a:endParaRPr sz="1000"/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“Driver de impresora corrupto por falta de actualización”</a:t>
                      </a:r>
                      <a:endParaRPr sz="1000"/>
                    </a:p>
                  </a:txBody>
                  <a:tcPr marL="91425" marR="91425" marT="19050" marB="1905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45" name="Google Shape;245;g3622be12ad7_0_26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951524"/>
            <a:ext cx="8454400" cy="32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2713</Words>
  <Application>Microsoft Office PowerPoint</Application>
  <PresentationFormat>Presentación en pantalla (16:9)</PresentationFormat>
  <Paragraphs>263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6" baseType="lpstr">
      <vt:lpstr>Arial</vt:lpstr>
      <vt:lpstr>Calibri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Analía</dc:creator>
  <cp:lastModifiedBy>ANALIA AURORA GODOY</cp:lastModifiedBy>
  <cp:revision>6</cp:revision>
  <dcterms:modified xsi:type="dcterms:W3CDTF">2025-06-18T21:53:22Z</dcterms:modified>
</cp:coreProperties>
</file>