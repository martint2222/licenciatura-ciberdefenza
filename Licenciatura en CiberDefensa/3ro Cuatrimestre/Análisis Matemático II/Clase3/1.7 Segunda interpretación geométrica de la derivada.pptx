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3" r:id="rId4"/>
    <p:sldId id="275" r:id="rId5"/>
    <p:sldId id="272" r:id="rId6"/>
    <p:sldId id="276" r:id="rId7"/>
    <p:sldId id="267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gpmKEw8gaGIoe9ACiL+1MMJmr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 snapToGrid="0">
      <p:cViewPr varScale="1">
        <p:scale>
          <a:sx n="103" d="100"/>
          <a:sy n="103" d="100"/>
        </p:scale>
        <p:origin x="89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56210f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56210f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56210f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56210f2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8D18987B-25FE-E088-2681-F7E83FB9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05C8F6FA-8CC8-D515-57A7-636AEFDA5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A3D7758C-78EE-3DD2-9432-EECB250BD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166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44E7122-48FD-6A50-2E90-33C49044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13464E42-836E-6FE7-ABF8-E11D8C40C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C0D25A3A-E1D1-012C-54E9-7CF18620B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319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5E5ADEF2-C9F2-D073-644D-B1C9913B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AA0FF9ED-7798-9CB0-31C8-F827B1FDB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448C55FB-9DDE-6744-61D0-6B21B6D62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57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356210f2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356210f2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356210f2a_0_10"/>
          <p:cNvSpPr txBox="1"/>
          <p:nvPr/>
        </p:nvSpPr>
        <p:spPr>
          <a:xfrm>
            <a:off x="1170454" y="2124826"/>
            <a:ext cx="99669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AutoNum type="arabicPeriod"/>
            </a:pPr>
            <a:r>
              <a:rPr lang="es-AR" sz="4000" b="1" dirty="0">
                <a:solidFill>
                  <a:schemeClr val="lt1"/>
                </a:solidFill>
                <a:latin typeface="Bahnschrift" panose="020B0502040204020203" pitchFamily="34" charset="0"/>
              </a:rPr>
              <a:t> CÁLCULO INTEGRAL Y TÉCNICAS DE INTEGRACIÓN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</a:pPr>
            <a:endParaRPr lang="es-AR" sz="4000" b="1" dirty="0">
              <a:solidFill>
                <a:schemeClr val="lt1"/>
              </a:solidFill>
              <a:latin typeface="Bahnschrift" panose="020B0502040204020203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</a:pPr>
            <a:r>
              <a:rPr lang="es-MX" sz="3200" dirty="0">
                <a:solidFill>
                  <a:schemeClr val="lt1"/>
                </a:solidFill>
                <a:latin typeface="Bahnschrift Light" panose="020B0502040204020203" pitchFamily="34" charset="0"/>
                <a:cs typeface="Arial" panose="020B0604020202020204" pitchFamily="34" charset="0"/>
              </a:rPr>
              <a:t>1.7 </a:t>
            </a:r>
            <a:r>
              <a:rPr lang="es-AR" sz="3200" dirty="0">
                <a:solidFill>
                  <a:schemeClr val="lt1"/>
                </a:solidFill>
                <a:latin typeface="Bahnschrift Light" panose="020B0502040204020203" pitchFamily="34" charset="0"/>
                <a:cs typeface="Arial" panose="020B0604020202020204" pitchFamily="34" charset="0"/>
              </a:rPr>
              <a:t>Segunda interpretación geométrica de la derivada</a:t>
            </a:r>
            <a:endParaRPr sz="600" dirty="0">
              <a:solidFill>
                <a:schemeClr val="lt1"/>
              </a:solidFill>
              <a:latin typeface="Bahnschrift Light" panose="020B0502040204020203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C466B2BE-C10D-63B0-230A-0CAEFC5AB164}"/>
              </a:ext>
            </a:extLst>
          </p:cNvPr>
          <p:cNvSpPr txBox="1"/>
          <p:nvPr/>
        </p:nvSpPr>
        <p:spPr>
          <a:xfrm>
            <a:off x="485481" y="496493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9B0FF0-04AD-014D-3DB2-BD0355979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431" y="2309812"/>
            <a:ext cx="7419975" cy="2238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54C08D6C-0507-CBEB-B295-5D54DA42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B450E6-5C10-1FB3-A37B-AB68D4E3815E}"/>
              </a:ext>
            </a:extLst>
          </p:cNvPr>
          <p:cNvSpPr txBox="1">
            <a:spLocks/>
          </p:cNvSpPr>
          <p:nvPr/>
        </p:nvSpPr>
        <p:spPr>
          <a:xfrm>
            <a:off x="485481" y="1687398"/>
            <a:ext cx="8715080" cy="507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lnSpc>
                <a:spcPct val="100000"/>
              </a:lnSpc>
              <a:buFontTx/>
              <a:buChar char="-"/>
            </a:pPr>
            <a:r>
              <a:rPr lang="es-AR" sz="3000" dirty="0"/>
              <a:t>Tasa de cambio instantánea: la derivada mide qué tan rápido cambia una función en un punto.</a:t>
            </a:r>
          </a:p>
          <a:p>
            <a:pPr algn="l">
              <a:lnSpc>
                <a:spcPct val="100000"/>
              </a:lnSpc>
              <a:buFontTx/>
              <a:buChar char="-"/>
            </a:pPr>
            <a:r>
              <a:rPr lang="es-AR" sz="3000" dirty="0"/>
              <a:t>Pendiente de la recta tangente: geométricamente es la pendiente de la recta tangente al gráfico en “x”.</a:t>
            </a:r>
          </a:p>
          <a:p>
            <a:pPr algn="l">
              <a:lnSpc>
                <a:spcPct val="100000"/>
              </a:lnSpc>
              <a:buFontTx/>
              <a:buChar char="-"/>
            </a:pPr>
            <a:r>
              <a:rPr lang="es-AR" sz="3000" dirty="0"/>
              <a:t>Límite de pendientes de secantes: la recta secante ente “x” y “</a:t>
            </a:r>
            <a:r>
              <a:rPr lang="es-AR" sz="3000" dirty="0" err="1"/>
              <a:t>x+h</a:t>
            </a:r>
            <a:r>
              <a:rPr lang="es-AR" sz="3000" dirty="0"/>
              <a:t>” se transforma en la tangente cuando “h” tiende a cero.</a:t>
            </a:r>
          </a:p>
          <a:p>
            <a:pPr>
              <a:lnSpc>
                <a:spcPct val="100000"/>
              </a:lnSpc>
            </a:pPr>
            <a:endParaRPr lang="es-AR" sz="3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E0683D9-CB16-F2C4-A097-022508F12BF8}"/>
              </a:ext>
            </a:extLst>
          </p:cNvPr>
          <p:cNvSpPr txBox="1"/>
          <p:nvPr/>
        </p:nvSpPr>
        <p:spPr>
          <a:xfrm>
            <a:off x="485481" y="640884"/>
            <a:ext cx="2659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Interpretaciones</a:t>
            </a:r>
          </a:p>
        </p:txBody>
      </p:sp>
    </p:spTree>
    <p:extLst>
      <p:ext uri="{BB962C8B-B14F-4D97-AF65-F5344CB8AC3E}">
        <p14:creationId xmlns:p14="http://schemas.microsoft.com/office/powerpoint/2010/main" val="362827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82E4C589-9723-001D-9B0C-16C37B31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E95622C-46C4-8897-D2DF-4ECC6F4CE3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5481" y="1098254"/>
                <a:ext cx="8229600" cy="13763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ctr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810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556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E95622C-46C4-8897-D2DF-4ECC6F4CE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81" y="1098254"/>
                <a:ext cx="8229600" cy="13763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FC43E5B3-3E1E-C9D6-7827-F40CC26D1570}"/>
              </a:ext>
            </a:extLst>
          </p:cNvPr>
          <p:cNvSpPr txBox="1"/>
          <p:nvPr/>
        </p:nvSpPr>
        <p:spPr>
          <a:xfrm>
            <a:off x="485481" y="496493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 1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93129F0-A6F7-1616-607D-BA16829DB9C5}"/>
              </a:ext>
            </a:extLst>
          </p:cNvPr>
          <p:cNvSpPr txBox="1"/>
          <p:nvPr/>
        </p:nvSpPr>
        <p:spPr>
          <a:xfrm>
            <a:off x="590748" y="2212958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CB6B7-D893-0076-8A05-06F582F5F1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5481" y="3429000"/>
                <a:ext cx="8229600" cy="2849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ctr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810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556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s-AR" dirty="0"/>
                  <a:t>En un servidor web, el número de intentos sospechosos detectados por minuto se modela mediante la función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s-AR" dirty="0"/>
              </a:p>
              <a:p>
                <a:pPr>
                  <a:lnSpc>
                    <a:spcPct val="150000"/>
                  </a:lnSpc>
                </a:pPr>
                <a:r>
                  <a:rPr lang="es-AR" dirty="0"/>
                  <a:t>Calcular la tasa instantánea de cambio de los intentos sospechosos e interpretar el resultado</a:t>
                </a:r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CB6B7-D893-0076-8A05-06F582F5F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81" y="3429000"/>
                <a:ext cx="8229600" cy="2849252"/>
              </a:xfrm>
              <a:prstGeom prst="rect">
                <a:avLst/>
              </a:prstGeom>
              <a:blipFill>
                <a:blip r:embed="rId5"/>
                <a:stretch>
                  <a:fillRect r="-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38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5418CDB2-D009-774F-6317-79CDAC6B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D900455-B441-1C3F-C4D1-24A290302434}"/>
              </a:ext>
            </a:extLst>
          </p:cNvPr>
          <p:cNvSpPr txBox="1"/>
          <p:nvPr/>
        </p:nvSpPr>
        <p:spPr>
          <a:xfrm>
            <a:off x="485481" y="496493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08843-E944-28A1-498E-127D43E06E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5481" y="1508289"/>
                <a:ext cx="8229600" cy="4769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ctr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810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556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s-AR" dirty="0"/>
                  <a:t>En un sistema informático, el riesgo de vulnerabilidad de un servidor depende del tiempo desde la última actualización en seguridad y se puede modelar como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s-AR" dirty="0"/>
              </a:p>
              <a:p>
                <a:pPr>
                  <a:lnSpc>
                    <a:spcPct val="150000"/>
                  </a:lnSpc>
                </a:pPr>
                <a:r>
                  <a:rPr lang="es-AR" dirty="0"/>
                  <a:t>Donde “t” es el tiempo (en días) desde el último parche. Calcular la tasa de cambio del riesgo utilizando la definición de derivada.  </a:t>
                </a:r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08843-E944-28A1-498E-127D43E06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81" y="1508289"/>
                <a:ext cx="8229600" cy="4769963"/>
              </a:xfrm>
              <a:prstGeom prst="rect">
                <a:avLst/>
              </a:prstGeom>
              <a:blipFill>
                <a:blip r:embed="rId4"/>
                <a:stretch>
                  <a:fillRect l="-519" r="-19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96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194</Words>
  <Application>Microsoft Macintosh PowerPoint</Application>
  <PresentationFormat>Panorámica</PresentationFormat>
  <Paragraphs>20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Bahnschrift</vt:lpstr>
      <vt:lpstr>Bahnschrift Light</vt:lpstr>
      <vt:lpstr>Calibri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Zaccaría</dc:creator>
  <cp:lastModifiedBy>Bruno Razzari Brion</cp:lastModifiedBy>
  <cp:revision>11</cp:revision>
  <dcterms:created xsi:type="dcterms:W3CDTF">2024-07-04T15:56:14Z</dcterms:created>
  <dcterms:modified xsi:type="dcterms:W3CDTF">2026-04-03T18:56:13Z</dcterms:modified>
</cp:coreProperties>
</file>