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63" r:id="rId4"/>
    <p:sldId id="272" r:id="rId5"/>
    <p:sldId id="273" r:id="rId6"/>
    <p:sldId id="274" r:id="rId7"/>
    <p:sldId id="267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gpmKEw8gaGIoe9ACiL+1MMJmr6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4"/>
  </p:normalViewPr>
  <p:slideViewPr>
    <p:cSldViewPr snapToGrid="0">
      <p:cViewPr varScale="1">
        <p:scale>
          <a:sx n="104" d="100"/>
          <a:sy n="104" d="100"/>
        </p:scale>
        <p:origin x="896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356210f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356210f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356210f2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356210f2a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356210f2a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356210f2a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E44E7122-48FD-6A50-2E90-33C490442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356210f2a_0_44:notes">
            <a:extLst>
              <a:ext uri="{FF2B5EF4-FFF2-40B4-BE49-F238E27FC236}">
                <a16:creationId xmlns:a16="http://schemas.microsoft.com/office/drawing/2014/main" id="{13464E42-836E-6FE7-ABF8-E11D8C40C1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356210f2a_0_44:notes">
            <a:extLst>
              <a:ext uri="{FF2B5EF4-FFF2-40B4-BE49-F238E27FC236}">
                <a16:creationId xmlns:a16="http://schemas.microsoft.com/office/drawing/2014/main" id="{C0D25A3A-E1D1-012C-54E9-7CF18620B6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73195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DAE0BB53-C03F-19EC-04A2-1D70A318A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356210f2a_0_44:notes">
            <a:extLst>
              <a:ext uri="{FF2B5EF4-FFF2-40B4-BE49-F238E27FC236}">
                <a16:creationId xmlns:a16="http://schemas.microsoft.com/office/drawing/2014/main" id="{87FA21D1-4346-22DA-B841-81DA79D8B4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356210f2a_0_44:notes">
            <a:extLst>
              <a:ext uri="{FF2B5EF4-FFF2-40B4-BE49-F238E27FC236}">
                <a16:creationId xmlns:a16="http://schemas.microsoft.com/office/drawing/2014/main" id="{72F7D014-A097-3BB8-314A-CBB04EDB72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39738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E51701F6-E2CD-F295-77C6-E86FC8B21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356210f2a_0_44:notes">
            <a:extLst>
              <a:ext uri="{FF2B5EF4-FFF2-40B4-BE49-F238E27FC236}">
                <a16:creationId xmlns:a16="http://schemas.microsoft.com/office/drawing/2014/main" id="{1B1FFD39-B80C-B4C8-6417-565A10C984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356210f2a_0_44:notes">
            <a:extLst>
              <a:ext uri="{FF2B5EF4-FFF2-40B4-BE49-F238E27FC236}">
                <a16:creationId xmlns:a16="http://schemas.microsoft.com/office/drawing/2014/main" id="{1FCFCA02-708C-518A-9167-2697C8AD16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1072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356210f2a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356210f2a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356210f2a_0_10"/>
          <p:cNvSpPr txBox="1"/>
          <p:nvPr/>
        </p:nvSpPr>
        <p:spPr>
          <a:xfrm>
            <a:off x="1170454" y="2124826"/>
            <a:ext cx="9966900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82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AutoNum type="arabicPeriod"/>
            </a:pPr>
            <a:r>
              <a:rPr lang="es-AR" sz="4000" b="1" dirty="0">
                <a:solidFill>
                  <a:schemeClr val="lt1"/>
                </a:solidFill>
                <a:latin typeface="Bahnschrift" panose="020B0502040204020203" pitchFamily="34" charset="0"/>
              </a:rPr>
              <a:t> CÁLCULO INTEGRAL Y TÉCNICAS DE INTEGRACIÓN 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</a:pPr>
            <a:endParaRPr lang="es-AR" sz="4000" b="1" dirty="0">
              <a:solidFill>
                <a:schemeClr val="lt1"/>
              </a:solidFill>
              <a:latin typeface="Bahnschrift" panose="020B0502040204020203" pitchFamily="34" charset="0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</a:pPr>
            <a:r>
              <a:rPr lang="es-MX" sz="3200" dirty="0">
                <a:solidFill>
                  <a:schemeClr val="lt1"/>
                </a:solidFill>
                <a:latin typeface="Bahnschrift Light" panose="020B0502040204020203" pitchFamily="34" charset="0"/>
                <a:cs typeface="Arial" panose="020B0604020202020204" pitchFamily="34" charset="0"/>
              </a:rPr>
              <a:t>1.4 </a:t>
            </a:r>
            <a:r>
              <a:rPr lang="es-AR" sz="3200" dirty="0">
                <a:solidFill>
                  <a:schemeClr val="lt1"/>
                </a:solidFill>
                <a:latin typeface="Bahnschrift Light" panose="020B0502040204020203" pitchFamily="34" charset="0"/>
                <a:cs typeface="Arial" panose="020B0604020202020204" pitchFamily="34" charset="0"/>
              </a:rPr>
              <a:t>Teorema de la Existencia</a:t>
            </a:r>
            <a:endParaRPr sz="600" dirty="0">
              <a:solidFill>
                <a:schemeClr val="lt1"/>
              </a:solidFill>
              <a:latin typeface="Bahnschrift Light" panose="020B0502040204020203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6ABE2851-A200-BCB8-2F75-0F9AC3A029F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1213" y="1461155"/>
                <a:ext cx="8229600" cy="4900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406400" algn="ctr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810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556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>
                  <a:lnSpc>
                    <a:spcPct val="200000"/>
                  </a:lnSpc>
                </a:pPr>
                <a:r>
                  <a:rPr lang="es-AR" dirty="0"/>
                  <a:t>Si una función f (x) es continua en el intervalo cerrado [a , b], entonces la integral definida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A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s-A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s-AR" dirty="0"/>
                  <a:t> existe.</a:t>
                </a:r>
              </a:p>
              <a:p>
                <a:pPr>
                  <a:lnSpc>
                    <a:spcPct val="200000"/>
                  </a:lnSpc>
                </a:pPr>
                <a:r>
                  <a:rPr lang="es-AR" dirty="0"/>
                  <a:t>Es decir que si dicha función f (x) es continua en un intervalo cerrado [a , b], entonces es integrable en dicho intervalo. </a:t>
                </a:r>
              </a:p>
              <a:p>
                <a:pPr>
                  <a:lnSpc>
                    <a:spcPct val="200000"/>
                  </a:lnSpc>
                </a:pPr>
                <a:endParaRPr lang="es-AR" dirty="0"/>
              </a:p>
              <a:p>
                <a:pPr>
                  <a:lnSpc>
                    <a:spcPct val="200000"/>
                  </a:lnSpc>
                </a:pPr>
                <a:endParaRPr lang="es-AR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6ABE2851-A200-BCB8-2F75-0F9AC3A029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213" y="1461155"/>
                <a:ext cx="8229600" cy="49003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C466B2BE-C10D-63B0-230A-0CAEFC5AB164}"/>
              </a:ext>
            </a:extLst>
          </p:cNvPr>
          <p:cNvSpPr txBox="1"/>
          <p:nvPr/>
        </p:nvSpPr>
        <p:spPr>
          <a:xfrm>
            <a:off x="485481" y="496493"/>
            <a:ext cx="16979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2">
          <a:extLst>
            <a:ext uri="{FF2B5EF4-FFF2-40B4-BE49-F238E27FC236}">
              <a16:creationId xmlns:a16="http://schemas.microsoft.com/office/drawing/2014/main" id="{82E4C589-9723-001D-9B0C-16C37B315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E95622C-46C4-8897-D2DF-4ECC6F4CE3A8}"/>
              </a:ext>
            </a:extLst>
          </p:cNvPr>
          <p:cNvSpPr txBox="1">
            <a:spLocks/>
          </p:cNvSpPr>
          <p:nvPr/>
        </p:nvSpPr>
        <p:spPr>
          <a:xfrm>
            <a:off x="485481" y="1098254"/>
            <a:ext cx="8229600" cy="137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lnSpc>
                <a:spcPct val="150000"/>
              </a:lnSpc>
            </a:pPr>
            <a:r>
              <a:rPr lang="es-AR" dirty="0"/>
              <a:t>Si un servidor recibe 200 paquetes diarios por segundo durante 10 segundos. ¿Cuántos paquetes llegaron?</a:t>
            </a:r>
          </a:p>
          <a:p>
            <a:pPr>
              <a:lnSpc>
                <a:spcPct val="150000"/>
              </a:lnSpc>
            </a:pPr>
            <a:endParaRPr lang="es-AR" dirty="0"/>
          </a:p>
          <a:p>
            <a:pPr>
              <a:lnSpc>
                <a:spcPct val="150000"/>
              </a:lnSpc>
            </a:pPr>
            <a:endParaRPr lang="es-AR" dirty="0"/>
          </a:p>
          <a:p>
            <a:pPr>
              <a:lnSpc>
                <a:spcPct val="150000"/>
              </a:lnSpc>
            </a:pPr>
            <a:endParaRPr lang="es-AR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C43E5B3-3E1E-C9D6-7827-F40CC26D1570}"/>
              </a:ext>
            </a:extLst>
          </p:cNvPr>
          <p:cNvSpPr txBox="1"/>
          <p:nvPr/>
        </p:nvSpPr>
        <p:spPr>
          <a:xfrm>
            <a:off x="485481" y="496493"/>
            <a:ext cx="1661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Ejemplo 1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93129F0-A6F7-1616-607D-BA16829DB9C5}"/>
              </a:ext>
            </a:extLst>
          </p:cNvPr>
          <p:cNvSpPr txBox="1"/>
          <p:nvPr/>
        </p:nvSpPr>
        <p:spPr>
          <a:xfrm>
            <a:off x="609601" y="2738519"/>
            <a:ext cx="1661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Ejemplo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CB6B7-D893-0076-8A05-06F582F5F13B}"/>
              </a:ext>
            </a:extLst>
          </p:cNvPr>
          <p:cNvSpPr txBox="1">
            <a:spLocks/>
          </p:cNvSpPr>
          <p:nvPr/>
        </p:nvSpPr>
        <p:spPr>
          <a:xfrm>
            <a:off x="485481" y="3429000"/>
            <a:ext cx="8229600" cy="2849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lnSpc>
                <a:spcPct val="150000"/>
              </a:lnSpc>
            </a:pPr>
            <a:r>
              <a:rPr lang="es-AR" dirty="0"/>
              <a:t>Suponga ahora que la tasa de paquetes que llegan a ese servidor es r (t) = 50 + 10.t </a:t>
            </a:r>
          </a:p>
          <a:p>
            <a:pPr>
              <a:lnSpc>
                <a:spcPct val="150000"/>
              </a:lnSpc>
            </a:pPr>
            <a:r>
              <a:rPr lang="es-AR" dirty="0"/>
              <a:t>t está en segundos</a:t>
            </a:r>
          </a:p>
          <a:p>
            <a:pPr>
              <a:lnSpc>
                <a:spcPct val="150000"/>
              </a:lnSpc>
            </a:pPr>
            <a:r>
              <a:rPr lang="es-AR" dirty="0"/>
              <a:t>¿Cuántos paquetes llegaron en los primeros 5 segundos?</a:t>
            </a:r>
          </a:p>
          <a:p>
            <a:pPr>
              <a:lnSpc>
                <a:spcPct val="150000"/>
              </a:lnSpc>
            </a:pPr>
            <a:endParaRPr lang="es-AR" dirty="0"/>
          </a:p>
          <a:p>
            <a:pPr>
              <a:lnSpc>
                <a:spcPct val="150000"/>
              </a:lnSpc>
            </a:pPr>
            <a:endParaRPr lang="es-AR" dirty="0"/>
          </a:p>
          <a:p>
            <a:pPr>
              <a:lnSpc>
                <a:spcPct val="150000"/>
              </a:lnSpc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379381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2">
          <a:extLst>
            <a:ext uri="{FF2B5EF4-FFF2-40B4-BE49-F238E27FC236}">
              <a16:creationId xmlns:a16="http://schemas.microsoft.com/office/drawing/2014/main" id="{5E5FB1C2-209F-368E-3408-3A9B9F2A3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680A440-0C6A-881B-2603-17FBC91E342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5481" y="1272619"/>
                <a:ext cx="8229600" cy="5585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406400" algn="ctr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810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556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s-AR" dirty="0"/>
                  <a:t>Imaginemos que hay un </a:t>
                </a:r>
                <a:r>
                  <a:rPr lang="es-AR" dirty="0" err="1"/>
                  <a:t>microcorte</a:t>
                </a:r>
                <a:r>
                  <a:rPr lang="es-AR" dirty="0"/>
                  <a:t> de red en un instante exacto.</a:t>
                </a:r>
              </a:p>
              <a:p>
                <a:pPr>
                  <a:lnSpc>
                    <a:spcPct val="150000"/>
                  </a:lnSpc>
                </a:pPr>
                <a:r>
                  <a:rPr lang="es-AR" dirty="0"/>
                  <a:t>r (t)=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AR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100    </m:t>
                            </m:r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s-A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≠3</m:t>
                            </m:r>
                          </m:e>
                          <m:e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0        </m:t>
                            </m:r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=3</m:t>
                            </m:r>
                          </m:e>
                        </m:eqArr>
                      </m:e>
                    </m:d>
                  </m:oMath>
                </a14:m>
                <a:endParaRPr lang="es-AR" dirty="0"/>
              </a:p>
              <a:p>
                <a:pPr>
                  <a:lnSpc>
                    <a:spcPct val="150000"/>
                  </a:lnSpc>
                </a:pPr>
                <a:r>
                  <a:rPr lang="es-AR" dirty="0"/>
                  <a:t>Hay una discontinuidad en t = 3</a:t>
                </a:r>
              </a:p>
              <a:p>
                <a:pPr>
                  <a:lnSpc>
                    <a:spcPct val="150000"/>
                  </a:lnSpc>
                </a:pPr>
                <a:r>
                  <a:rPr lang="es-AR" dirty="0"/>
                  <a:t>Ese instante no cambia el tráfico total. Un punto aislado no afecta el área total y la función sigue siendo integrable, aunque sea discontinua.</a:t>
                </a:r>
              </a:p>
              <a:p>
                <a:pPr>
                  <a:lnSpc>
                    <a:spcPct val="150000"/>
                  </a:lnSpc>
                </a:pPr>
                <a:endParaRPr lang="es-AR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680A440-0C6A-881B-2603-17FBC91E3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481" y="1272619"/>
                <a:ext cx="8229600" cy="55853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8102F243-81FC-C730-D2C2-5FF579B38C95}"/>
              </a:ext>
            </a:extLst>
          </p:cNvPr>
          <p:cNvSpPr txBox="1"/>
          <p:nvPr/>
        </p:nvSpPr>
        <p:spPr>
          <a:xfrm>
            <a:off x="485481" y="496493"/>
            <a:ext cx="36327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Caso de discontinuidad</a:t>
            </a:r>
          </a:p>
        </p:txBody>
      </p:sp>
    </p:spTree>
    <p:extLst>
      <p:ext uri="{BB962C8B-B14F-4D97-AF65-F5344CB8AC3E}">
        <p14:creationId xmlns:p14="http://schemas.microsoft.com/office/powerpoint/2010/main" val="2524769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2">
          <a:extLst>
            <a:ext uri="{FF2B5EF4-FFF2-40B4-BE49-F238E27FC236}">
              <a16:creationId xmlns:a16="http://schemas.microsoft.com/office/drawing/2014/main" id="{35CDA38A-E4FA-1AFD-557D-FB944F563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48CD546B-BFFD-67CE-BE31-DE54909EB1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5481" y="1272619"/>
                <a:ext cx="8229600" cy="5585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406400" algn="ctr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810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556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ctr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  <a:defRPr sz="16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s-AR" dirty="0"/>
                  <a:t>Consideremos una función extrema</a:t>
                </a:r>
              </a:p>
              <a:p>
                <a:pPr>
                  <a:lnSpc>
                    <a:spcPct val="150000"/>
                  </a:lnSpc>
                </a:pPr>
                <a:r>
                  <a:rPr lang="es-AR" dirty="0"/>
                  <a:t>f (x)=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AR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1           </m:t>
                            </m:r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𝑟𝑎𝑐𝑖𝑜𝑛𝑎𝑙</m:t>
                            </m:r>
                          </m:e>
                          <m:e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0        </m:t>
                            </m:r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𝑖𝑟𝑟𝑎𝑐𝑖𝑜𝑛𝑎𝑙</m:t>
                            </m:r>
                          </m:e>
                        </m:eqArr>
                      </m:e>
                    </m:d>
                  </m:oMath>
                </a14:m>
                <a:endParaRPr lang="es-AR" dirty="0"/>
              </a:p>
              <a:p>
                <a:pPr>
                  <a:lnSpc>
                    <a:spcPct val="150000"/>
                  </a:lnSpc>
                </a:pPr>
                <a:r>
                  <a:rPr lang="es-AR" dirty="0"/>
                  <a:t>Esta función cambia infinitamente en cada punto. La podemos imaginar como una red donde la tasa cambia de manera caótica a cada instante. Por esa razón no existe la integral. </a:t>
                </a:r>
              </a:p>
              <a:p>
                <a:pPr>
                  <a:lnSpc>
                    <a:spcPct val="150000"/>
                  </a:lnSpc>
                </a:pPr>
                <a:endParaRPr lang="es-AR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48CD546B-BFFD-67CE-BE31-DE54909EB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481" y="1272619"/>
                <a:ext cx="8229600" cy="5585381"/>
              </a:xfrm>
              <a:prstGeom prst="rect">
                <a:avLst/>
              </a:prstGeom>
              <a:blipFill>
                <a:blip r:embed="rId4"/>
                <a:stretch>
                  <a:fillRect r="-2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21B6B430-8A74-4D35-FBFA-11433A88758F}"/>
              </a:ext>
            </a:extLst>
          </p:cNvPr>
          <p:cNvSpPr txBox="1"/>
          <p:nvPr/>
        </p:nvSpPr>
        <p:spPr>
          <a:xfrm>
            <a:off x="485481" y="496493"/>
            <a:ext cx="5705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Caso de discontinuidad no integrable</a:t>
            </a:r>
          </a:p>
        </p:txBody>
      </p:sp>
    </p:spTree>
    <p:extLst>
      <p:ext uri="{BB962C8B-B14F-4D97-AF65-F5344CB8AC3E}">
        <p14:creationId xmlns:p14="http://schemas.microsoft.com/office/powerpoint/2010/main" val="3117822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226</Words>
  <Application>Microsoft Macintosh PowerPoint</Application>
  <PresentationFormat>Panorámica</PresentationFormat>
  <Paragraphs>24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Arial</vt:lpstr>
      <vt:lpstr>Bahnschrift</vt:lpstr>
      <vt:lpstr>Bahnschrift Light</vt:lpstr>
      <vt:lpstr>Calibri</vt:lpstr>
      <vt:lpstr>Cambria Math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Zaccaría</dc:creator>
  <cp:lastModifiedBy>Bruno Razzari Brion</cp:lastModifiedBy>
  <cp:revision>10</cp:revision>
  <dcterms:created xsi:type="dcterms:W3CDTF">2024-07-04T15:56:14Z</dcterms:created>
  <dcterms:modified xsi:type="dcterms:W3CDTF">2026-03-29T13:55:24Z</dcterms:modified>
</cp:coreProperties>
</file>