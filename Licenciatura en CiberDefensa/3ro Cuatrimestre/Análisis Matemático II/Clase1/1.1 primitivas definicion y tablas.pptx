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3" r:id="rId4"/>
    <p:sldId id="272" r:id="rId5"/>
    <p:sldId id="273" r:id="rId6"/>
    <p:sldId id="275" r:id="rId7"/>
    <p:sldId id="276" r:id="rId8"/>
    <p:sldId id="274" r:id="rId9"/>
    <p:sldId id="267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pmKEw8gaGIoe9ACiL+1MMJmr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56210f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56210f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56210f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56210f2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44E7122-48FD-6A50-2E90-33C49044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13464E42-836E-6FE7-ABF8-E11D8C40C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C0D25A3A-E1D1-012C-54E9-7CF18620B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319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DAE0BB53-C03F-19EC-04A2-1D70A318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87FA21D1-4346-22DA-B841-81DA79D8B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72F7D014-A097-3BB8-314A-CBB04EDB7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97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CD145BDE-318D-BD68-5C1D-FCECD0DB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04071D71-5938-D5F5-FEEA-68AD9F513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F9E3707B-D095-35B1-804F-8941F2BC2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925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AAD25C9B-3A0F-2D87-8CE0-19396A93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2AA0FFF3-5970-9CBD-4972-D68C9A4FE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9E05CD1B-5417-F615-E8CD-DD6B4847CC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432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03E324E1-6BFE-C7A7-A301-DBD8DB04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320B7311-B19C-D4EC-15C2-C82FDD44C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CCCDF497-319E-9AB5-DE98-CF6539503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204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356210f2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356210f2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56210f2a_0_10"/>
          <p:cNvSpPr txBox="1"/>
          <p:nvPr/>
        </p:nvSpPr>
        <p:spPr>
          <a:xfrm>
            <a:off x="1170454" y="2124826"/>
            <a:ext cx="9966900" cy="335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AutoNum type="arabicPeriod"/>
            </a:pPr>
            <a:r>
              <a:rPr lang="es-AR" sz="4000" b="1" dirty="0">
                <a:solidFill>
                  <a:schemeClr val="lt1"/>
                </a:solidFill>
                <a:latin typeface="Bahnschrift" panose="020B0502040204020203" pitchFamily="34" charset="0"/>
              </a:rPr>
              <a:t> CÁLCULO INTEGRAL Y TÉCNICAS DE INTEGRACIÓN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</a:pPr>
            <a:endParaRPr lang="es-AR" sz="4000" b="1" dirty="0">
              <a:solidFill>
                <a:schemeClr val="lt1"/>
              </a:solidFill>
              <a:latin typeface="Bahnschrift" panose="020B0502040204020203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</a:pPr>
            <a:r>
              <a:rPr lang="es-MX" sz="3200" dirty="0">
                <a:solidFill>
                  <a:schemeClr val="lt1"/>
                </a:solidFill>
                <a:latin typeface="Bahnschrift Light" panose="020B0502040204020203" pitchFamily="34" charset="0"/>
                <a:cs typeface="Arial" panose="020B0604020202020204" pitchFamily="34" charset="0"/>
              </a:rPr>
              <a:t>1.1 </a:t>
            </a:r>
            <a:r>
              <a:rPr lang="es-AR" sz="3200" dirty="0">
                <a:solidFill>
                  <a:schemeClr val="lt1"/>
                </a:solidFill>
                <a:latin typeface="Bahnschrift Light" panose="020B0502040204020203" pitchFamily="34" charset="0"/>
                <a:cs typeface="Arial" panose="020B0604020202020204" pitchFamily="34" charset="0"/>
              </a:rPr>
              <a:t>Primitivas o antiderivadas: definición y tablas fundamentales</a:t>
            </a:r>
            <a:endParaRPr sz="600" dirty="0">
              <a:solidFill>
                <a:schemeClr val="lt1"/>
              </a:solidFill>
              <a:latin typeface="Bahnschrift Light" panose="020B0502040204020203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C45C76-5D35-02F1-901A-36ABB0617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81" y="1506522"/>
            <a:ext cx="8749744" cy="140370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BE2851-A200-BCB8-2F75-0F9AC3A029F6}"/>
              </a:ext>
            </a:extLst>
          </p:cNvPr>
          <p:cNvSpPr txBox="1">
            <a:spLocks/>
          </p:cNvSpPr>
          <p:nvPr/>
        </p:nvSpPr>
        <p:spPr>
          <a:xfrm>
            <a:off x="485481" y="3195687"/>
            <a:ext cx="8229600" cy="3194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dirty="0"/>
              <a:t>En cálculo diferencial:</a:t>
            </a:r>
          </a:p>
          <a:p>
            <a:r>
              <a:rPr lang="es-AR" dirty="0"/>
              <a:t>Dada F(x) → hallamos F'(x).</a:t>
            </a:r>
          </a:p>
          <a:p>
            <a:endParaRPr lang="es-AR" dirty="0"/>
          </a:p>
          <a:p>
            <a:r>
              <a:rPr lang="es-AR" dirty="0"/>
              <a:t>Ahora planteamos el problema inverso:</a:t>
            </a:r>
          </a:p>
          <a:p>
            <a:r>
              <a:rPr lang="es-AR" dirty="0"/>
              <a:t>Dada f(x) → encontrar F(x) tal que F'(x)=f(x).</a:t>
            </a:r>
          </a:p>
          <a:p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66B2BE-C10D-63B0-230A-0CAEFC5AB164}"/>
              </a:ext>
            </a:extLst>
          </p:cNvPr>
          <p:cNvSpPr txBox="1"/>
          <p:nvPr/>
        </p:nvSpPr>
        <p:spPr>
          <a:xfrm>
            <a:off x="485481" y="496493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82E4C589-9723-001D-9B0C-16C37B31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95622C-46C4-8897-D2DF-4ECC6F4CE3A8}"/>
              </a:ext>
            </a:extLst>
          </p:cNvPr>
          <p:cNvSpPr txBox="1">
            <a:spLocks/>
          </p:cNvSpPr>
          <p:nvPr/>
        </p:nvSpPr>
        <p:spPr>
          <a:xfrm>
            <a:off x="485481" y="4232634"/>
            <a:ext cx="8229600" cy="262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dirty="0"/>
              <a:t>Si F es primitiva de f,</a:t>
            </a:r>
          </a:p>
          <a:p>
            <a:r>
              <a:rPr lang="es-AR" dirty="0"/>
              <a:t>entonces F(x)+C también lo es.</a:t>
            </a:r>
          </a:p>
          <a:p>
            <a:endParaRPr lang="es-AR" dirty="0"/>
          </a:p>
          <a:p>
            <a:r>
              <a:rPr lang="es-AR" dirty="0"/>
              <a:t>Todas las primitivas difieren en una constante.</a:t>
            </a:r>
          </a:p>
          <a:p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C43E5B3-3E1E-C9D6-7827-F40CC26D1570}"/>
              </a:ext>
            </a:extLst>
          </p:cNvPr>
          <p:cNvSpPr txBox="1"/>
          <p:nvPr/>
        </p:nvSpPr>
        <p:spPr>
          <a:xfrm>
            <a:off x="485481" y="496493"/>
            <a:ext cx="1970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unicidad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DD8626-9895-1558-DDF8-1D74845A3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1" y="1542933"/>
            <a:ext cx="7272779" cy="239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8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5E5FB1C2-209F-368E-3408-3A9B9F2A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80A440-0C6A-881B-2603-17FBC91E342C}"/>
              </a:ext>
            </a:extLst>
          </p:cNvPr>
          <p:cNvSpPr txBox="1">
            <a:spLocks/>
          </p:cNvSpPr>
          <p:nvPr/>
        </p:nvSpPr>
        <p:spPr>
          <a:xfrm>
            <a:off x="485481" y="1272619"/>
            <a:ext cx="8229600" cy="558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dirty="0"/>
              <a:t>∫ f(x) </a:t>
            </a:r>
            <a:r>
              <a:rPr lang="es-AR" dirty="0" err="1"/>
              <a:t>dx</a:t>
            </a:r>
            <a:r>
              <a:rPr lang="es-AR" dirty="0"/>
              <a:t> = F(x) + C</a:t>
            </a:r>
          </a:p>
          <a:p>
            <a:endParaRPr lang="es-AR" dirty="0"/>
          </a:p>
          <a:p>
            <a:r>
              <a:rPr lang="es-AR" dirty="0"/>
              <a:t>Esta expresión recibe el nombre de antiderivada general de f.</a:t>
            </a:r>
          </a:p>
          <a:p>
            <a:r>
              <a:rPr lang="es-AR" dirty="0"/>
              <a:t>No representa un número, sino una familia de funciones.</a:t>
            </a:r>
          </a:p>
          <a:p>
            <a:endParaRPr lang="es-AR" dirty="0"/>
          </a:p>
          <a:p>
            <a:r>
              <a:rPr lang="es-AR" dirty="0"/>
              <a:t>∫ d (F(x))  = F(x) + C</a:t>
            </a:r>
          </a:p>
          <a:p>
            <a:endParaRPr lang="es-AR" dirty="0"/>
          </a:p>
          <a:p>
            <a:r>
              <a:rPr lang="es-AR" dirty="0"/>
              <a:t>Cuando se </a:t>
            </a:r>
            <a:r>
              <a:rPr lang="es-AR" dirty="0" err="1"/>
              <a:t>antideriva</a:t>
            </a:r>
            <a:r>
              <a:rPr lang="es-AR" dirty="0"/>
              <a:t> la diferencial de una función, se obtiene esa misma función más una constante arbitraria.</a:t>
            </a:r>
          </a:p>
          <a:p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02F243-81FC-C730-D2C2-5FF579B38C95}"/>
              </a:ext>
            </a:extLst>
          </p:cNvPr>
          <p:cNvSpPr txBox="1"/>
          <p:nvPr/>
        </p:nvSpPr>
        <p:spPr>
          <a:xfrm>
            <a:off x="485481" y="496493"/>
            <a:ext cx="2932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Integral indefinida</a:t>
            </a:r>
          </a:p>
        </p:txBody>
      </p:sp>
    </p:spTree>
    <p:extLst>
      <p:ext uri="{BB962C8B-B14F-4D97-AF65-F5344CB8AC3E}">
        <p14:creationId xmlns:p14="http://schemas.microsoft.com/office/powerpoint/2010/main" val="252476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373F96C7-EAE6-4817-2208-1A003BA0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BF0F1-0488-876D-8F5A-88C6FDF52D6A}"/>
              </a:ext>
            </a:extLst>
          </p:cNvPr>
          <p:cNvSpPr txBox="1">
            <a:spLocks/>
          </p:cNvSpPr>
          <p:nvPr/>
        </p:nvSpPr>
        <p:spPr>
          <a:xfrm>
            <a:off x="485481" y="3770722"/>
            <a:ext cx="8229600" cy="308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AR" dirty="0"/>
          </a:p>
          <a:p>
            <a:r>
              <a:rPr lang="es-AR" dirty="0"/>
              <a:t>Caso especial:</a:t>
            </a:r>
          </a:p>
          <a:p>
            <a:r>
              <a:rPr lang="es-AR" dirty="0"/>
              <a:t>∫1/x </a:t>
            </a:r>
            <a:r>
              <a:rPr lang="es-AR" dirty="0" err="1"/>
              <a:t>dx</a:t>
            </a:r>
            <a:r>
              <a:rPr lang="es-AR" dirty="0"/>
              <a:t> = </a:t>
            </a:r>
            <a:r>
              <a:rPr lang="es-AR" dirty="0" err="1"/>
              <a:t>ln|x</a:t>
            </a:r>
            <a:r>
              <a:rPr lang="es-AR" dirty="0"/>
              <a:t>| + 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AFB21E8-0FB8-C64C-E203-47CF10564FD9}"/>
              </a:ext>
            </a:extLst>
          </p:cNvPr>
          <p:cNvSpPr txBox="1"/>
          <p:nvPr/>
        </p:nvSpPr>
        <p:spPr>
          <a:xfrm>
            <a:off x="485481" y="496493"/>
            <a:ext cx="2840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 de potencia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229BE5-2976-DA4F-BFE0-8CF190339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86" y="1618120"/>
            <a:ext cx="8132295" cy="181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5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5349B2FE-2410-9D75-4B8B-72D24A3B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9A5B0F0-747B-66FA-052E-E9190B9DEBEF}"/>
              </a:ext>
            </a:extLst>
          </p:cNvPr>
          <p:cNvSpPr txBox="1"/>
          <p:nvPr/>
        </p:nvSpPr>
        <p:spPr>
          <a:xfrm>
            <a:off x="485481" y="496493"/>
            <a:ext cx="2478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Exponenciales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9F5D044-ABCD-63AA-5BEB-A5556D116DE9}"/>
                  </a:ext>
                </a:extLst>
              </p:cNvPr>
              <p:cNvSpPr txBox="1"/>
              <p:nvPr/>
            </p:nvSpPr>
            <p:spPr>
              <a:xfrm>
                <a:off x="877615" y="1383009"/>
                <a:ext cx="2473434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9F5D044-ABCD-63AA-5BEB-A5556D116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15" y="1383009"/>
                <a:ext cx="2473434" cy="968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0908208-7387-15F0-745D-44871208FA5B}"/>
                  </a:ext>
                </a:extLst>
              </p:cNvPr>
              <p:cNvSpPr txBox="1"/>
              <p:nvPr/>
            </p:nvSpPr>
            <p:spPr>
              <a:xfrm>
                <a:off x="5705111" y="1383009"/>
                <a:ext cx="2641172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func>
                            <m:func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den>
                      </m:f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0908208-7387-15F0-745D-44871208F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1" y="1383009"/>
                <a:ext cx="2641172" cy="968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700BBC24-9E9A-EFDB-5E21-7184F4B3B471}"/>
              </a:ext>
            </a:extLst>
          </p:cNvPr>
          <p:cNvSpPr txBox="1"/>
          <p:nvPr/>
        </p:nvSpPr>
        <p:spPr>
          <a:xfrm>
            <a:off x="485481" y="2715032"/>
            <a:ext cx="261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Trigonométricas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9BE1B1A-5638-D255-1C62-B6323D5E5B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481" y="3349389"/>
                <a:ext cx="8229600" cy="2609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r>
                  <a:rPr lang="es-AR" dirty="0"/>
                  <a:t>∫ cos x </a:t>
                </a:r>
                <a:r>
                  <a:rPr lang="es-AR" dirty="0" err="1"/>
                  <a:t>dx</a:t>
                </a:r>
                <a:r>
                  <a:rPr lang="es-AR" dirty="0"/>
                  <a:t> = sin x + C</a:t>
                </a:r>
              </a:p>
              <a:p>
                <a:r>
                  <a:rPr lang="es-AR" dirty="0"/>
                  <a:t>∫ sin x </a:t>
                </a:r>
                <a:r>
                  <a:rPr lang="es-AR" dirty="0" err="1"/>
                  <a:t>dx</a:t>
                </a:r>
                <a:r>
                  <a:rPr lang="es-AR" dirty="0"/>
                  <a:t> = -cos x + C</a:t>
                </a:r>
              </a:p>
              <a:p>
                <a:r>
                  <a:rPr lang="es-AR" dirty="0"/>
                  <a:t>∫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dirty="0"/>
                  <a:t> x </a:t>
                </a:r>
                <a:r>
                  <a:rPr lang="es-AR" dirty="0" err="1"/>
                  <a:t>dx</a:t>
                </a:r>
                <a:r>
                  <a:rPr lang="es-AR" dirty="0"/>
                  <a:t> = tan x + C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9BE1B1A-5638-D255-1C62-B6323D5E5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1" y="3349389"/>
                <a:ext cx="8229600" cy="2609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E710203-545B-40F5-01A7-362B1EE48F46}"/>
                  </a:ext>
                </a:extLst>
              </p:cNvPr>
              <p:cNvSpPr txBox="1"/>
              <p:nvPr/>
            </p:nvSpPr>
            <p:spPr>
              <a:xfrm>
                <a:off x="3075097" y="4990627"/>
                <a:ext cx="3276603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A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</m:fName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E710203-545B-40F5-01A7-362B1EE48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097" y="4990627"/>
                <a:ext cx="3276603" cy="9687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888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B37C7369-D017-6A69-18C7-047E087D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280C03-B53F-7754-6F7B-C7BF981D99C6}"/>
              </a:ext>
            </a:extLst>
          </p:cNvPr>
          <p:cNvSpPr txBox="1">
            <a:spLocks/>
          </p:cNvSpPr>
          <p:nvPr/>
        </p:nvSpPr>
        <p:spPr>
          <a:xfrm>
            <a:off x="485481" y="1272619"/>
            <a:ext cx="8229600" cy="558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dirty="0"/>
              <a:t>∫(</a:t>
            </a:r>
            <a:r>
              <a:rPr lang="es-AR" dirty="0" err="1"/>
              <a:t>f+g</a:t>
            </a:r>
            <a:r>
              <a:rPr lang="es-AR" dirty="0"/>
              <a:t>)</a:t>
            </a:r>
            <a:r>
              <a:rPr lang="es-AR" dirty="0" err="1"/>
              <a:t>dx</a:t>
            </a:r>
            <a:r>
              <a:rPr lang="es-AR" dirty="0"/>
              <a:t> = ∫f </a:t>
            </a:r>
            <a:r>
              <a:rPr lang="es-AR" dirty="0" err="1"/>
              <a:t>dx</a:t>
            </a:r>
            <a:r>
              <a:rPr lang="es-AR" dirty="0"/>
              <a:t> + ∫g </a:t>
            </a:r>
            <a:r>
              <a:rPr lang="es-AR" dirty="0" err="1"/>
              <a:t>dx</a:t>
            </a:r>
            <a:endParaRPr lang="es-AR" dirty="0"/>
          </a:p>
          <a:p>
            <a:endParaRPr lang="es-AR" dirty="0"/>
          </a:p>
          <a:p>
            <a:r>
              <a:rPr lang="es-AR" dirty="0"/>
              <a:t>La antiderivada general de la suma de dos funciones es igual a la suma de las antiderivadas generales de las funciones </a:t>
            </a:r>
          </a:p>
          <a:p>
            <a:endParaRPr lang="es-AR" dirty="0"/>
          </a:p>
          <a:p>
            <a:r>
              <a:rPr lang="es-AR" dirty="0"/>
              <a:t>∫k f(x) </a:t>
            </a:r>
            <a:r>
              <a:rPr lang="es-AR" dirty="0" err="1"/>
              <a:t>dx</a:t>
            </a:r>
            <a:r>
              <a:rPr lang="es-AR" dirty="0"/>
              <a:t> = k ∫f </a:t>
            </a:r>
            <a:r>
              <a:rPr lang="es-AR" dirty="0" err="1"/>
              <a:t>dx</a:t>
            </a:r>
            <a:endParaRPr lang="es-AR" dirty="0"/>
          </a:p>
          <a:p>
            <a:endParaRPr lang="es-AR" dirty="0"/>
          </a:p>
          <a:p>
            <a:r>
              <a:rPr lang="es-AR" dirty="0"/>
              <a:t>La antiderivada general del producto de una constante por una función es la constante por la antiderivada general de la función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1DBB6C-47EE-E62E-EB9F-7F8564FF9995}"/>
              </a:ext>
            </a:extLst>
          </p:cNvPr>
          <p:cNvSpPr txBox="1"/>
          <p:nvPr/>
        </p:nvSpPr>
        <p:spPr>
          <a:xfrm>
            <a:off x="485481" y="496493"/>
            <a:ext cx="4047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Propiedades de linealidad</a:t>
            </a:r>
          </a:p>
        </p:txBody>
      </p:sp>
    </p:spTree>
    <p:extLst>
      <p:ext uri="{BB962C8B-B14F-4D97-AF65-F5344CB8AC3E}">
        <p14:creationId xmlns:p14="http://schemas.microsoft.com/office/powerpoint/2010/main" val="257216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294</Words>
  <Application>Microsoft Office PowerPoint</Application>
  <PresentationFormat>Panorámica</PresentationFormat>
  <Paragraphs>44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Bahnschrift</vt:lpstr>
      <vt:lpstr>Bahnschrift Light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Zaccaría</dc:creator>
  <cp:lastModifiedBy>Un tal Lucas</cp:lastModifiedBy>
  <cp:revision>8</cp:revision>
  <dcterms:created xsi:type="dcterms:W3CDTF">2024-07-04T15:56:14Z</dcterms:created>
  <dcterms:modified xsi:type="dcterms:W3CDTF">2026-03-18T18:05:20Z</dcterms:modified>
</cp:coreProperties>
</file>